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50"/>
  </p:notesMasterIdLst>
  <p:handoutMasterIdLst>
    <p:handoutMasterId r:id="rId51"/>
  </p:handoutMasterIdLst>
  <p:sldIdLst>
    <p:sldId id="258" r:id="rId2"/>
    <p:sldId id="334" r:id="rId3"/>
    <p:sldId id="310" r:id="rId4"/>
    <p:sldId id="308" r:id="rId5"/>
    <p:sldId id="309" r:id="rId6"/>
    <p:sldId id="311" r:id="rId7"/>
    <p:sldId id="312" r:id="rId8"/>
    <p:sldId id="313" r:id="rId9"/>
    <p:sldId id="317" r:id="rId10"/>
    <p:sldId id="318" r:id="rId11"/>
    <p:sldId id="314" r:id="rId12"/>
    <p:sldId id="315" r:id="rId13"/>
    <p:sldId id="316" r:id="rId14"/>
    <p:sldId id="319" r:id="rId15"/>
    <p:sldId id="320" r:id="rId16"/>
    <p:sldId id="321" r:id="rId17"/>
    <p:sldId id="322" r:id="rId18"/>
    <p:sldId id="323" r:id="rId19"/>
    <p:sldId id="324" r:id="rId20"/>
    <p:sldId id="325" r:id="rId21"/>
    <p:sldId id="326" r:id="rId22"/>
    <p:sldId id="327" r:id="rId23"/>
    <p:sldId id="328" r:id="rId24"/>
    <p:sldId id="329" r:id="rId25"/>
    <p:sldId id="330" r:id="rId26"/>
    <p:sldId id="331" r:id="rId27"/>
    <p:sldId id="335" r:id="rId28"/>
    <p:sldId id="332" r:id="rId29"/>
    <p:sldId id="333" r:id="rId30"/>
    <p:sldId id="337" r:id="rId31"/>
    <p:sldId id="336" r:id="rId32"/>
    <p:sldId id="338" r:id="rId33"/>
    <p:sldId id="342" r:id="rId34"/>
    <p:sldId id="343" r:id="rId35"/>
    <p:sldId id="341" r:id="rId36"/>
    <p:sldId id="339" r:id="rId37"/>
    <p:sldId id="344" r:id="rId38"/>
    <p:sldId id="345" r:id="rId39"/>
    <p:sldId id="346" r:id="rId40"/>
    <p:sldId id="347" r:id="rId41"/>
    <p:sldId id="348" r:id="rId42"/>
    <p:sldId id="349" r:id="rId43"/>
    <p:sldId id="350" r:id="rId44"/>
    <p:sldId id="352" r:id="rId45"/>
    <p:sldId id="353" r:id="rId46"/>
    <p:sldId id="351" r:id="rId47"/>
    <p:sldId id="354" r:id="rId48"/>
    <p:sldId id="355" r:id="rId49"/>
  </p:sldIdLst>
  <p:sldSz cx="9144000" cy="6858000" type="screen4x3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8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125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39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4161390" cy="367259"/>
          </a:xfrm>
          <a:prstGeom prst="rect">
            <a:avLst/>
          </a:prstGeom>
        </p:spPr>
        <p:txBody>
          <a:bodyPr vert="horz" lIns="94837" tIns="47418" rIns="94837" bIns="4741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7637" y="2"/>
            <a:ext cx="4161390" cy="367259"/>
          </a:xfrm>
          <a:prstGeom prst="rect">
            <a:avLst/>
          </a:prstGeom>
        </p:spPr>
        <p:txBody>
          <a:bodyPr vert="horz" lIns="94837" tIns="47418" rIns="94837" bIns="47418" rtlCol="0"/>
          <a:lstStyle>
            <a:lvl1pPr algn="r">
              <a:defRPr sz="1200"/>
            </a:lvl1pPr>
          </a:lstStyle>
          <a:p>
            <a:fld id="{085BC133-C6D8-48A3-B4EA-C942741A44E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947943"/>
            <a:ext cx="4161390" cy="367259"/>
          </a:xfrm>
          <a:prstGeom prst="rect">
            <a:avLst/>
          </a:prstGeom>
        </p:spPr>
        <p:txBody>
          <a:bodyPr vert="horz" lIns="94837" tIns="47418" rIns="94837" bIns="4741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7637" y="6947943"/>
            <a:ext cx="4161390" cy="367259"/>
          </a:xfrm>
          <a:prstGeom prst="rect">
            <a:avLst/>
          </a:prstGeom>
        </p:spPr>
        <p:txBody>
          <a:bodyPr vert="horz" lIns="94837" tIns="47418" rIns="94837" bIns="47418" rtlCol="0" anchor="b"/>
          <a:lstStyle>
            <a:lvl1pPr algn="r">
              <a:defRPr sz="1200"/>
            </a:lvl1pPr>
          </a:lstStyle>
          <a:p>
            <a:fld id="{2958B6B9-6C5B-4AC1-8EA5-52242FF98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617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7030"/>
          </a:xfrm>
          <a:prstGeom prst="rect">
            <a:avLst/>
          </a:prstGeom>
        </p:spPr>
        <p:txBody>
          <a:bodyPr vert="horz" lIns="96639" tIns="48320" rIns="96639" bIns="483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8" y="0"/>
            <a:ext cx="4160520" cy="367030"/>
          </a:xfrm>
          <a:prstGeom prst="rect">
            <a:avLst/>
          </a:prstGeom>
        </p:spPr>
        <p:txBody>
          <a:bodyPr vert="horz" lIns="96639" tIns="48320" rIns="96639" bIns="48320" rtlCol="0"/>
          <a:lstStyle>
            <a:lvl1pPr algn="r">
              <a:defRPr sz="1200"/>
            </a:lvl1pPr>
          </a:lstStyle>
          <a:p>
            <a:fld id="{B2368CC4-54C5-461B-B50D-044FC93C64E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155950" y="914400"/>
            <a:ext cx="3289300" cy="2468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9" tIns="48320" rIns="96639" bIns="483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0" y="3520442"/>
            <a:ext cx="7680960" cy="2880360"/>
          </a:xfrm>
          <a:prstGeom prst="rect">
            <a:avLst/>
          </a:prstGeom>
        </p:spPr>
        <p:txBody>
          <a:bodyPr vert="horz" lIns="96639" tIns="48320" rIns="96639" bIns="483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7029"/>
          </a:xfrm>
          <a:prstGeom prst="rect">
            <a:avLst/>
          </a:prstGeom>
        </p:spPr>
        <p:txBody>
          <a:bodyPr vert="horz" lIns="96639" tIns="48320" rIns="96639" bIns="483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8" y="6948171"/>
            <a:ext cx="4160520" cy="367029"/>
          </a:xfrm>
          <a:prstGeom prst="rect">
            <a:avLst/>
          </a:prstGeom>
        </p:spPr>
        <p:txBody>
          <a:bodyPr vert="horz" lIns="96639" tIns="48320" rIns="96639" bIns="48320" rtlCol="0" anchor="b"/>
          <a:lstStyle>
            <a:lvl1pPr algn="r">
              <a:defRPr sz="1200"/>
            </a:lvl1pPr>
          </a:lstStyle>
          <a:p>
            <a:fld id="{9ACD95F9-BF71-4FF4-A282-A7226EE08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740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899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F1650-B634-ED08-D3AC-62424D912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1F0933-5A20-3700-CB5A-3B309BD2E7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EA4D95-EB39-9B99-B33A-5DF795EC5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DD35B-71C6-792C-71EB-3E429199C5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937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54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5454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557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274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30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0583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9671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4736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1589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3499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923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8672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230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1595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2559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5018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4534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983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967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1012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5484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034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518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158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97388-4EAF-5273-6BA0-704B4A5C8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9C80AC-8B94-F55B-E7B2-315514E787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637E70-731F-9028-4DDB-108E04F0DA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C683B-6E6A-5196-7679-0058E3E69A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791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7178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1732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4AE01-4CB6-5AC7-4DC6-417328C07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350176-8495-DB06-5CC9-709E789BF8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77E596-6D83-68E8-68AC-2BF5710526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C0FB2-A475-3529-FED5-608A55A593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8464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9618C-8C1F-64E3-A567-6C5A3767A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0831E3-7E71-C66F-C34A-7B577F086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3D3866-2081-1C65-FA9D-AB85765D1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9DFF9-157C-7A36-E345-E51EA53378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4585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8A685-3530-9BD0-65D6-95AF68368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41583C-5980-DC12-67EA-D783CE1391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0B16E0-438B-E0CD-E72B-D27B07F89B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F1B26-DA49-2AC6-8659-3004CB36FF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7856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EBE1D-D918-5DA4-B146-6E7862B5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1448B3-658A-3B92-D0DB-8D653725E2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5522BE-BC66-50EE-23CD-3CA2D4395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AAB57-D25D-9927-A771-13F17FD90C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2810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BE0AB-CD6E-132A-7F31-DE8B0D46A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759417-2E8D-910A-F072-A2FB813311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C0CFCE-8DD3-7E3A-4825-26C367C53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8512E-18AC-EF58-5101-BDE383B583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83721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D4970-4C64-E409-5F92-74B68A00D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7612BF-48AB-3ECD-031D-2F3F568500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B79FD7-80DE-AF4B-0EB0-E1F94C6E3A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740B4-41DE-7235-8435-4E6260371A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44653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E56B2-BAFA-E630-F417-AC168A408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3C5198-E087-B2F1-D84B-3A7C80B48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1D3FC3-9DF2-2F71-5E6E-AEC41D1FF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9A45D-8B3F-F9EB-4F11-25F1586795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18935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9DEB5-35CB-61A2-DCC0-7C5014AE3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7478F3-DA70-0730-84AE-6880BC2FC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6631E6-A892-44B5-6A62-74EA4FF0F0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CDB06-E932-106C-9A7D-FDD6BE31AB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0690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A997D-E57A-0065-4B85-63111FC41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64835D-6D90-2B0E-EEF6-96D02F187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F361BC-1AB5-4B41-934F-B3EADD898A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3B0FB-A137-1F81-8B1E-CA0F8BD653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29847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CB498-373E-13AA-D886-17EC75EC7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188B59-FB02-C380-A83D-0E51B3E987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E33716-463B-7C13-9B8D-6FF5DC39BA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3A8D0-AD5C-8EB9-37AA-739710C59C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95616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D5C86-C7BB-973D-09A1-E529BE4E9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6EC8E0-B362-17B7-908D-8929D2B6F9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56C6BA-872D-1A90-F3D6-2E2B4DE62E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77C17-4D80-CD7E-854A-E9D55B628C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1152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CAE6F-8571-3C8A-3F45-F3B53EE7E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C0CF69-B7A2-83A6-ECFE-F7C5F7048D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B89948-2AB7-CDCD-EF74-4155BD38A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9460E-CB11-693E-E49E-E07BDA6EFB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50066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97CC5-C197-6CF3-FD8F-342FCEBA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4FA5FA-60E2-6F5C-ACEA-EEED2928D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80AEC6-4E37-495D-E223-BC734CD2AF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8B77A-E0EC-3694-763E-F95F2BB28D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64026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65762-8EC1-983D-A659-181058531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2809B5-CB1F-7796-6343-151A35EB2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51D013-227F-50DD-989D-BE1F72551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C820E-3387-3DCE-BD4D-284C1CFE29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84235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61879-88E8-0C2D-BBC5-B298CADBF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A5914D-55D2-ED92-69EF-EE4A4ABFD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BE806B-C98E-9007-C193-44ABA994FD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66F1DD-5F3C-E13E-7192-06C46979F4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73164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B00FA-EB54-5185-F4C9-D84C3EA77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B6699A-15CB-A934-F104-146905CA6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990C90-E132-BE48-5ED7-71EA13CB3F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3D173-FA54-28BC-5B28-40E666239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50658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7FE55-60FF-B010-DBF7-60FFA08A2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B222F-8C32-12E9-9FB4-05BD23B9FE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111247-1CD3-A14D-4064-B6ADC1BE9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B7F93-6631-D734-5993-B8E756F131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45743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DCE27-65AA-3FD9-18C1-00C273B2A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A27357-71BB-19D0-400D-299D43966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CB0001-4965-10B9-5D04-084A0E3E5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91AEB-5CFD-701C-8D3F-D22079EDC3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56252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D781C-05F6-8CB6-92A2-39FAF28D1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53CB13-8484-7AF4-A625-0A3CB5D0CA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01A30C-F227-9270-24C2-B456DBBEBD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51379-9D5A-5A05-0FA9-CEDC24C9DD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CD95F9-BF71-4FF4-A282-A7226EE087D3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70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271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364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3057099" y="6233263"/>
            <a:ext cx="3029802" cy="482918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sz="1050" dirty="0"/>
              <a:t>The City College of New York</a:t>
            </a:r>
          </a:p>
          <a:p>
            <a:pPr algn="ctr"/>
            <a:r>
              <a:rPr lang="en-US" sz="1050" dirty="0"/>
              <a:t>CSc</a:t>
            </a:r>
            <a:r>
              <a:rPr lang="en-US" sz="1050" baseline="0" dirty="0"/>
              <a:t> 44700</a:t>
            </a:r>
            <a:r>
              <a:rPr lang="en-US" sz="1050" dirty="0"/>
              <a:t> – Introduction to Machine Learning</a:t>
            </a:r>
          </a:p>
          <a:p>
            <a:pPr algn="ctr"/>
            <a:r>
              <a:rPr lang="en-US" sz="1050" dirty="0"/>
              <a:t>Fall 2026 – © 2026 Erik K. Grimmelmann, Ph.D.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C9A01-4B58-440A-ADC3-FF3A96652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351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7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baseline="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w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/>
          <a:lstStyle/>
          <a:p>
            <a:r>
              <a:rPr lang="en-US" dirty="0"/>
              <a:t>Minimizing a [Loss] Function: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Optimizers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863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F9107-4A6C-EC3D-020C-537FE436B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8F4E7-5AEA-2622-9EDA-FE3841652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64577"/>
          </a:xfrm>
        </p:spPr>
        <p:txBody>
          <a:bodyPr/>
          <a:lstStyle/>
          <a:p>
            <a:r>
              <a:rPr lang="en-US" dirty="0"/>
              <a:t>Popular optimization methods</a:t>
            </a:r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099283-CDA5-7942-92BD-27D2195B09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2AFFEB-3713-7BBB-EAA1-0743201AFB05}"/>
              </a:ext>
            </a:extLst>
          </p:cNvPr>
          <p:cNvSpPr txBox="1"/>
          <p:nvPr/>
        </p:nvSpPr>
        <p:spPr>
          <a:xfrm>
            <a:off x="1440180" y="1600200"/>
            <a:ext cx="473964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descent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AdaGrad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(2011)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RMSProp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(2012)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Adam (2015)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534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64577"/>
          </a:xfrm>
        </p:spPr>
        <p:txBody>
          <a:bodyPr/>
          <a:lstStyle/>
          <a:p>
            <a:r>
              <a:rPr lang="en-US" dirty="0"/>
              <a:t>Gradient descent </a:t>
            </a:r>
            <a:r>
              <a:rPr lang="en-US" sz="2000" dirty="0"/>
              <a:t>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3312" y="5520520"/>
            <a:ext cx="14603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</a:rPr>
              <a:t>Ref</a:t>
            </a:r>
            <a:r>
              <a:rPr lang="en-US" sz="1400" dirty="0"/>
              <a:t>.: Wikipedia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6" name="Object 5" descr="MATHML object">
            <a:extLst>
              <a:ext uri="{FF2B5EF4-FFF2-40B4-BE49-F238E27FC236}">
                <a16:creationId xmlns:a16="http://schemas.microsoft.com/office/drawing/2014/main" id="{537CD3C0-403C-44EB-8CE4-4A713E51B9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6664692"/>
              </p:ext>
            </p:extLst>
          </p:nvPr>
        </p:nvGraphicFramePr>
        <p:xfrm>
          <a:off x="628650" y="1461001"/>
          <a:ext cx="7708226" cy="2373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68600" imgH="1346040" progId="Equation.DSMT4">
                  <p:embed/>
                </p:oleObj>
              </mc:Choice>
              <mc:Fallback>
                <p:oleObj name="Equation" r:id="rId3" imgW="4368600" imgH="134604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537CD3C0-403C-44EB-8CE4-4A713E51B9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8650" y="1461001"/>
                        <a:ext cx="7708226" cy="23735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7382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64577"/>
          </a:xfrm>
        </p:spPr>
        <p:txBody>
          <a:bodyPr/>
          <a:lstStyle/>
          <a:p>
            <a:r>
              <a:rPr lang="en-US" dirty="0"/>
              <a:t>Gradient </a:t>
            </a:r>
            <a:r>
              <a:rPr lang="en-US" sz="2000" dirty="0"/>
              <a:t>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3312" y="5520520"/>
            <a:ext cx="14603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</a:rPr>
              <a:t>Ref</a:t>
            </a:r>
            <a:r>
              <a:rPr lang="en-US" sz="1400" dirty="0"/>
              <a:t>.: Wikipedia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6" name="Object 5" descr="MATHML object">
            <a:extLst>
              <a:ext uri="{FF2B5EF4-FFF2-40B4-BE49-F238E27FC236}">
                <a16:creationId xmlns:a16="http://schemas.microsoft.com/office/drawing/2014/main" id="{537CD3C0-403C-44EB-8CE4-4A713E51B9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5743726"/>
              </p:ext>
            </p:extLst>
          </p:nvPr>
        </p:nvGraphicFramePr>
        <p:xfrm>
          <a:off x="628650" y="1453858"/>
          <a:ext cx="6234113" cy="447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784320" imgH="2717640" progId="Equation.DSMT4">
                  <p:embed/>
                </p:oleObj>
              </mc:Choice>
              <mc:Fallback>
                <p:oleObj name="Equation" r:id="rId3" imgW="3784320" imgH="2717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8650" y="1453858"/>
                        <a:ext cx="6234113" cy="4478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6155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64577"/>
          </a:xfrm>
        </p:spPr>
        <p:txBody>
          <a:bodyPr/>
          <a:lstStyle/>
          <a:p>
            <a:r>
              <a:rPr lang="en-US" dirty="0"/>
              <a:t>Gradient </a:t>
            </a:r>
            <a:r>
              <a:rPr lang="en-US" sz="2000" dirty="0"/>
              <a:t>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3312" y="5520520"/>
            <a:ext cx="14603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</a:rPr>
              <a:t>Ref</a:t>
            </a:r>
            <a:r>
              <a:rPr lang="en-US" sz="1400" dirty="0"/>
              <a:t>.: Wikipedia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6" name="Object 5" descr="MATHML object">
            <a:extLst>
              <a:ext uri="{FF2B5EF4-FFF2-40B4-BE49-F238E27FC236}">
                <a16:creationId xmlns:a16="http://schemas.microsoft.com/office/drawing/2014/main" id="{537CD3C0-403C-44EB-8CE4-4A713E51B9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626461"/>
              </p:ext>
            </p:extLst>
          </p:nvPr>
        </p:nvGraphicFramePr>
        <p:xfrm>
          <a:off x="638175" y="1296988"/>
          <a:ext cx="7059613" cy="1474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254480" imgH="888840" progId="Equation.DSMT4">
                  <p:embed/>
                </p:oleObj>
              </mc:Choice>
              <mc:Fallback>
                <p:oleObj name="Equation" r:id="rId3" imgW="4254480" imgH="88884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537CD3C0-403C-44EB-8CE4-4A713E51B9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8175" y="1296988"/>
                        <a:ext cx="7059613" cy="1474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8246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64577"/>
          </a:xfrm>
        </p:spPr>
        <p:txBody>
          <a:bodyPr/>
          <a:lstStyle/>
          <a:p>
            <a:r>
              <a:rPr lang="en-US" dirty="0"/>
              <a:t>Gradient descent </a:t>
            </a:r>
            <a:r>
              <a:rPr lang="en-US" sz="2000" dirty="0"/>
              <a:t>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10452" y="6048573"/>
            <a:ext cx="14603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</a:rPr>
              <a:t>Ref</a:t>
            </a:r>
            <a:r>
              <a:rPr lang="en-US" sz="1400" dirty="0"/>
              <a:t>.: Wikipedia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6" name="Object 5" descr="MATHML object">
            <a:extLst>
              <a:ext uri="{FF2B5EF4-FFF2-40B4-BE49-F238E27FC236}">
                <a16:creationId xmlns:a16="http://schemas.microsoft.com/office/drawing/2014/main" id="{537CD3C0-403C-44EB-8CE4-4A713E51B9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2142635"/>
              </p:ext>
            </p:extLst>
          </p:nvPr>
        </p:nvGraphicFramePr>
        <p:xfrm>
          <a:off x="628650" y="1199198"/>
          <a:ext cx="7805738" cy="475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520880" imgH="2755800" progId="Equation.DSMT4">
                  <p:embed/>
                </p:oleObj>
              </mc:Choice>
              <mc:Fallback>
                <p:oleObj name="Equation" r:id="rId3" imgW="4520880" imgH="275580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537CD3C0-403C-44EB-8CE4-4A713E51B9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8650" y="1199198"/>
                        <a:ext cx="7805738" cy="4752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234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64577"/>
          </a:xfrm>
        </p:spPr>
        <p:txBody>
          <a:bodyPr/>
          <a:lstStyle/>
          <a:p>
            <a:r>
              <a:rPr lang="en-US" dirty="0"/>
              <a:t>Gradient descent </a:t>
            </a:r>
            <a:r>
              <a:rPr lang="en-US" sz="2000" dirty="0"/>
              <a:t>(3)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3312" y="5520520"/>
            <a:ext cx="14603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</a:rPr>
              <a:t>Ref</a:t>
            </a:r>
            <a:r>
              <a:rPr lang="en-US" sz="1400" dirty="0"/>
              <a:t>.: Wikipedia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6" name="Object 5" descr="MATHML object">
            <a:extLst>
              <a:ext uri="{FF2B5EF4-FFF2-40B4-BE49-F238E27FC236}">
                <a16:creationId xmlns:a16="http://schemas.microsoft.com/office/drawing/2014/main" id="{537CD3C0-403C-44EB-8CE4-4A713E51B9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0327921"/>
              </p:ext>
            </p:extLst>
          </p:nvPr>
        </p:nvGraphicFramePr>
        <p:xfrm>
          <a:off x="773113" y="1306720"/>
          <a:ext cx="7416800" cy="425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203360" imgH="2412720" progId="Equation.DSMT4">
                  <p:embed/>
                </p:oleObj>
              </mc:Choice>
              <mc:Fallback>
                <p:oleObj name="Equation" r:id="rId3" imgW="4203360" imgH="241272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537CD3C0-403C-44EB-8CE4-4A713E51B9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3113" y="1306720"/>
                        <a:ext cx="7416800" cy="425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4516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Example function </a:t>
            </a:r>
            <a:r>
              <a:rPr lang="en-US" sz="2000" dirty="0"/>
              <a:t>(1)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 descr="A plot of the function whose minimum we are seeking.">
            <a:extLst>
              <a:ext uri="{FF2B5EF4-FFF2-40B4-BE49-F238E27FC236}">
                <a16:creationId xmlns:a16="http://schemas.microsoft.com/office/drawing/2014/main" id="{E8F1483C-D553-57F8-D755-C53EA06353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692" y="1066452"/>
            <a:ext cx="4928616" cy="502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399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Gradient descent example </a:t>
            </a:r>
            <a:r>
              <a:rPr lang="en-US" sz="2000" dirty="0"/>
              <a:t>(1)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 descr="The trajectory obtained using gradient descent with eta = 0.1">
            <a:extLst>
              <a:ext uri="{FF2B5EF4-FFF2-40B4-BE49-F238E27FC236}">
                <a16:creationId xmlns:a16="http://schemas.microsoft.com/office/drawing/2014/main" id="{DFAB6AD8-6763-3FEA-E2E7-0348F12881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692" y="1066452"/>
            <a:ext cx="4928616" cy="502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550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Gradient descent example </a:t>
            </a:r>
            <a:r>
              <a:rPr lang="en-US" sz="2000" dirty="0"/>
              <a:t>(2)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10</a:t>
            </a:fld>
            <a:endParaRPr lang="en-US"/>
          </a:p>
        </p:txBody>
      </p:sp>
      <p:pic>
        <p:nvPicPr>
          <p:cNvPr id="4" name="Picture 3" descr="A group of graphs showing different types of graphs&#10;&#10;Description automatically generated">
            <a:extLst>
              <a:ext uri="{FF2B5EF4-FFF2-40B4-BE49-F238E27FC236}">
                <a16:creationId xmlns:a16="http://schemas.microsoft.com/office/drawing/2014/main" id="{77ACAFFD-836B-C538-75C3-A8E1447A9E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" y="1138428"/>
            <a:ext cx="9061704" cy="458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227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Gradient descent example </a:t>
            </a:r>
            <a:r>
              <a:rPr lang="en-US" sz="2000" dirty="0"/>
              <a:t>(3)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11</a:t>
            </a:fld>
            <a:endParaRPr lang="en-US"/>
          </a:p>
        </p:txBody>
      </p:sp>
      <p:pic>
        <p:nvPicPr>
          <p:cNvPr id="4" name="Picture 3" descr="The trajectory obtained using gradient descent with eta = 0.2">
            <a:extLst>
              <a:ext uri="{FF2B5EF4-FFF2-40B4-BE49-F238E27FC236}">
                <a16:creationId xmlns:a16="http://schemas.microsoft.com/office/drawing/2014/main" id="{6CCAE05C-AA0B-194C-F2DD-DC3F6BF8E7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692" y="1066452"/>
            <a:ext cx="4928616" cy="502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650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Gradient descent example </a:t>
            </a:r>
            <a:r>
              <a:rPr lang="en-US" sz="2000" dirty="0"/>
              <a:t>(4)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12</a:t>
            </a:fld>
            <a:endParaRPr lang="en-US"/>
          </a:p>
        </p:txBody>
      </p:sp>
      <p:pic>
        <p:nvPicPr>
          <p:cNvPr id="4" name="Picture 3" descr="A group of graphs showing the same size&#10;&#10;Description automatically generated with medium confidence">
            <a:extLst>
              <a:ext uri="{FF2B5EF4-FFF2-40B4-BE49-F238E27FC236}">
                <a16:creationId xmlns:a16="http://schemas.microsoft.com/office/drawing/2014/main" id="{621B831C-5782-2F7C-F399-39FC3B0F6B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" y="1138428"/>
            <a:ext cx="9107424" cy="458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032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Gradient descent example </a:t>
            </a:r>
            <a:r>
              <a:rPr lang="en-US" sz="2000" dirty="0"/>
              <a:t>(5)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13</a:t>
            </a:fld>
            <a:endParaRPr lang="en-US"/>
          </a:p>
        </p:txBody>
      </p:sp>
      <p:pic>
        <p:nvPicPr>
          <p:cNvPr id="4" name="Picture 3" descr="The trajectory obtained using gradient descent with eta = 0.3">
            <a:extLst>
              <a:ext uri="{FF2B5EF4-FFF2-40B4-BE49-F238E27FC236}">
                <a16:creationId xmlns:a16="http://schemas.microsoft.com/office/drawing/2014/main" id="{1603450A-4313-C597-49A6-E564FFCCE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692" y="1066452"/>
            <a:ext cx="4928616" cy="502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149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Gradient descent example </a:t>
            </a:r>
            <a:r>
              <a:rPr lang="en-US" sz="2000" dirty="0"/>
              <a:t>(6)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14</a:t>
            </a:fld>
            <a:endParaRPr lang="en-US"/>
          </a:p>
        </p:txBody>
      </p:sp>
      <p:pic>
        <p:nvPicPr>
          <p:cNvPr id="4" name="Picture 3" descr="A group of graphs showing different types of numbers&#10;&#10;Description automatically generated with medium confidence">
            <a:extLst>
              <a:ext uri="{FF2B5EF4-FFF2-40B4-BE49-F238E27FC236}">
                <a16:creationId xmlns:a16="http://schemas.microsoft.com/office/drawing/2014/main" id="{DA47B87B-0EF4-06C8-786C-393FF8055D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" y="1138428"/>
            <a:ext cx="9107424" cy="458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390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Gradient descent example </a:t>
            </a:r>
            <a:r>
              <a:rPr lang="en-US" sz="2000" dirty="0"/>
              <a:t>(7)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15</a:t>
            </a:fld>
            <a:endParaRPr lang="en-US"/>
          </a:p>
        </p:txBody>
      </p:sp>
      <p:pic>
        <p:nvPicPr>
          <p:cNvPr id="4" name="Picture 3" descr="The trajectory obtained using gradient descent with eta = 0.4">
            <a:extLst>
              <a:ext uri="{FF2B5EF4-FFF2-40B4-BE49-F238E27FC236}">
                <a16:creationId xmlns:a16="http://schemas.microsoft.com/office/drawing/2014/main" id="{BE561772-DEC7-407B-02EF-1907A909E1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692" y="1066452"/>
            <a:ext cx="4928616" cy="502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842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Gradient descent example </a:t>
            </a:r>
            <a:r>
              <a:rPr lang="en-US" sz="2000" dirty="0"/>
              <a:t>(8)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 descr="A group of graphs showing different types of graphs&#10;&#10;Description automatically generated with medium confidence">
            <a:extLst>
              <a:ext uri="{FF2B5EF4-FFF2-40B4-BE49-F238E27FC236}">
                <a16:creationId xmlns:a16="http://schemas.microsoft.com/office/drawing/2014/main" id="{F65CA8EA-190F-9574-E6BB-52AA77A82C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" y="1138428"/>
            <a:ext cx="9061704" cy="458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627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Gradient descent example </a:t>
            </a:r>
            <a:r>
              <a:rPr lang="en-US" sz="2000" dirty="0"/>
              <a:t>(9)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17</a:t>
            </a:fld>
            <a:endParaRPr lang="en-US"/>
          </a:p>
        </p:txBody>
      </p:sp>
      <p:pic>
        <p:nvPicPr>
          <p:cNvPr id="8" name="Picture 7" descr="The trajectory obtained using gradient descent with eta = 0.49">
            <a:extLst>
              <a:ext uri="{FF2B5EF4-FFF2-40B4-BE49-F238E27FC236}">
                <a16:creationId xmlns:a16="http://schemas.microsoft.com/office/drawing/2014/main" id="{E046D433-5802-52E3-97EE-BB6CD5200A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692" y="1066452"/>
            <a:ext cx="4928616" cy="502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970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Gradient descent example </a:t>
            </a:r>
            <a:r>
              <a:rPr lang="en-US" sz="2000" dirty="0"/>
              <a:t>(10)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18</a:t>
            </a:fld>
            <a:endParaRPr lang="en-US"/>
          </a:p>
        </p:txBody>
      </p:sp>
      <p:pic>
        <p:nvPicPr>
          <p:cNvPr id="4" name="Picture 3" descr="A group of graphs showing the different types of data&#10;&#10;Description automatically generated with medium confidence">
            <a:extLst>
              <a:ext uri="{FF2B5EF4-FFF2-40B4-BE49-F238E27FC236}">
                <a16:creationId xmlns:a16="http://schemas.microsoft.com/office/drawing/2014/main" id="{9A30B667-B3A0-AD70-1115-04CF0CD2DC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5589"/>
            <a:ext cx="9144000" cy="452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130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Gradient descent example </a:t>
            </a:r>
            <a:r>
              <a:rPr lang="en-US" sz="2000" dirty="0"/>
              <a:t>(11)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19</a:t>
            </a:fld>
            <a:endParaRPr lang="en-US"/>
          </a:p>
        </p:txBody>
      </p:sp>
      <p:pic>
        <p:nvPicPr>
          <p:cNvPr id="8" name="Picture 7" descr="The trajectory obtained using gradient descent with eta = 0.5">
            <a:extLst>
              <a:ext uri="{FF2B5EF4-FFF2-40B4-BE49-F238E27FC236}">
                <a16:creationId xmlns:a16="http://schemas.microsoft.com/office/drawing/2014/main" id="{B44542B2-8D65-3CDE-ED99-244583C40B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692" y="1066452"/>
            <a:ext cx="4928616" cy="502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Gradient descent example </a:t>
            </a:r>
            <a:r>
              <a:rPr lang="en-US" sz="2000" dirty="0"/>
              <a:t>(12)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 descr="A group of rectangular objects with numbers&#10;&#10;Description automatically generated with medium confidence">
            <a:extLst>
              <a:ext uri="{FF2B5EF4-FFF2-40B4-BE49-F238E27FC236}">
                <a16:creationId xmlns:a16="http://schemas.microsoft.com/office/drawing/2014/main" id="{0FCC1997-9C41-4817-DDCC-45E1096AC7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" y="1138428"/>
            <a:ext cx="9025128" cy="458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0730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Gradient descent example </a:t>
            </a:r>
            <a:r>
              <a:rPr lang="en-US" sz="2000" dirty="0"/>
              <a:t>(13)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21</a:t>
            </a:fld>
            <a:endParaRPr lang="en-US"/>
          </a:p>
        </p:txBody>
      </p:sp>
      <p:pic>
        <p:nvPicPr>
          <p:cNvPr id="4" name="Picture 3" descr="The trajectory obtained using gradient descent with eta = 0.51">
            <a:extLst>
              <a:ext uri="{FF2B5EF4-FFF2-40B4-BE49-F238E27FC236}">
                <a16:creationId xmlns:a16="http://schemas.microsoft.com/office/drawing/2014/main" id="{5D7D4D9F-6460-2417-FED6-98EF7226A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692" y="918972"/>
            <a:ext cx="4928616" cy="502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8605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Gradient descent example </a:t>
            </a:r>
            <a:r>
              <a:rPr lang="en-US" sz="2000" dirty="0"/>
              <a:t>(14)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22</a:t>
            </a:fld>
            <a:endParaRPr lang="en-US"/>
          </a:p>
        </p:txBody>
      </p:sp>
      <p:pic>
        <p:nvPicPr>
          <p:cNvPr id="8" name="Picture 7" descr="A group of graphs showing the value of a function&#10;&#10;Description automatically generated with medium confidence">
            <a:extLst>
              <a:ext uri="{FF2B5EF4-FFF2-40B4-BE49-F238E27FC236}">
                <a16:creationId xmlns:a16="http://schemas.microsoft.com/office/drawing/2014/main" id="{DA22CA6D-F9FF-404E-E8FE-AEE0C6AB5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5589"/>
            <a:ext cx="9144000" cy="452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358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Gradient descent example </a:t>
            </a:r>
            <a:r>
              <a:rPr lang="en-US" sz="2000" dirty="0"/>
              <a:t>(15)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23</a:t>
            </a:fld>
            <a:endParaRPr lang="en-US"/>
          </a:p>
        </p:txBody>
      </p:sp>
      <p:pic>
        <p:nvPicPr>
          <p:cNvPr id="4" name="Picture 3" descr="The trajectory obtained using gradient descent with eta = 0.6">
            <a:extLst>
              <a:ext uri="{FF2B5EF4-FFF2-40B4-BE49-F238E27FC236}">
                <a16:creationId xmlns:a16="http://schemas.microsoft.com/office/drawing/2014/main" id="{AD420AE0-8A70-9760-207E-114C9B4398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692" y="1066452"/>
            <a:ext cx="4928616" cy="502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5983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Gradient descent example </a:t>
            </a:r>
            <a:r>
              <a:rPr lang="en-US" sz="2000" dirty="0"/>
              <a:t>(16)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24</a:t>
            </a:fld>
            <a:endParaRPr lang="en-US"/>
          </a:p>
        </p:txBody>
      </p:sp>
      <p:pic>
        <p:nvPicPr>
          <p:cNvPr id="6" name="Picture 5" descr="A group of graphs showing the different types of graphs&#10;&#10;Description automatically generated with medium confidence">
            <a:extLst>
              <a:ext uri="{FF2B5EF4-FFF2-40B4-BE49-F238E27FC236}">
                <a16:creationId xmlns:a16="http://schemas.microsoft.com/office/drawing/2014/main" id="{B113E351-7A29-129A-1365-36D0891FE2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" y="1069848"/>
            <a:ext cx="9052560" cy="4718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4869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Gradient descent example </a:t>
            </a:r>
            <a:r>
              <a:rPr lang="en-US" sz="2000" dirty="0"/>
              <a:t>(17)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25</a:t>
            </a:fld>
            <a:endParaRPr lang="en-US"/>
          </a:p>
        </p:txBody>
      </p:sp>
      <p:pic>
        <p:nvPicPr>
          <p:cNvPr id="4" name="Picture 3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BEC3068B-DABB-D217-587A-D22BFBE00D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32" y="1508760"/>
            <a:ext cx="7488936" cy="384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334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64577"/>
          </a:xfrm>
        </p:spPr>
        <p:txBody>
          <a:bodyPr/>
          <a:lstStyle/>
          <a:p>
            <a:r>
              <a:rPr lang="en-US" dirty="0"/>
              <a:t>Adam optimizer </a:t>
            </a:r>
            <a:r>
              <a:rPr lang="en-US" sz="2000" dirty="0"/>
              <a:t>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13300" y="5883423"/>
            <a:ext cx="4060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Times New Roman" panose="02020603050405020304" pitchFamily="18" charset="0"/>
              </a:rPr>
              <a:t>Ref.: “Adam: A Method for Stochastic Optimization”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26</a:t>
            </a:fld>
            <a:endParaRPr lang="en-US" dirty="0"/>
          </a:p>
        </p:txBody>
      </p:sp>
      <p:graphicFrame>
        <p:nvGraphicFramePr>
          <p:cNvPr id="6" name="Object 5" descr="MATHML object">
            <a:extLst>
              <a:ext uri="{FF2B5EF4-FFF2-40B4-BE49-F238E27FC236}">
                <a16:creationId xmlns:a16="http://schemas.microsoft.com/office/drawing/2014/main" id="{537CD3C0-403C-44EB-8CE4-4A713E51B9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844814"/>
              </p:ext>
            </p:extLst>
          </p:nvPr>
        </p:nvGraphicFramePr>
        <p:xfrm>
          <a:off x="420688" y="1400810"/>
          <a:ext cx="8596312" cy="232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978080" imgH="1346040" progId="Equation.DSMT4">
                  <p:embed/>
                </p:oleObj>
              </mc:Choice>
              <mc:Fallback>
                <p:oleObj name="Equation" r:id="rId3" imgW="4978080" imgH="1346040" progId="Equation.DSMT4">
                  <p:embed/>
                  <p:pic>
                    <p:nvPicPr>
                      <p:cNvPr id="6" name="Object 5" descr="MATHML object">
                        <a:extLst>
                          <a:ext uri="{FF2B5EF4-FFF2-40B4-BE49-F238E27FC236}">
                            <a16:creationId xmlns:a16="http://schemas.microsoft.com/office/drawing/2014/main" id="{537CD3C0-403C-44EB-8CE4-4A713E51B9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0688" y="1400810"/>
                        <a:ext cx="8596312" cy="2322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959839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6D19-2F73-55AB-2A2B-DFE37D94C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251AC-38F7-D17A-346F-EC28848DA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64577"/>
          </a:xfrm>
        </p:spPr>
        <p:txBody>
          <a:bodyPr/>
          <a:lstStyle/>
          <a:p>
            <a:r>
              <a:rPr lang="en-US" dirty="0"/>
              <a:t>Adam </a:t>
            </a:r>
            <a:r>
              <a:rPr lang="en-US"/>
              <a:t>optimizer </a:t>
            </a:r>
            <a:r>
              <a:rPr lang="en-US" sz="2000"/>
              <a:t>(2)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75E508-47AF-9ED4-40CC-66EBA1568FFB}"/>
              </a:ext>
            </a:extLst>
          </p:cNvPr>
          <p:cNvSpPr txBox="1"/>
          <p:nvPr/>
        </p:nvSpPr>
        <p:spPr>
          <a:xfrm>
            <a:off x="4813300" y="5883423"/>
            <a:ext cx="4060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Times New Roman" panose="02020603050405020304" pitchFamily="18" charset="0"/>
              </a:rPr>
              <a:t>Ref.: “Adam: A Method for Stochastic Optimization”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7080A4-8DF9-626D-634B-132158B6DB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27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59B701-C86A-6D48-853C-07779F3FF729}"/>
              </a:ext>
            </a:extLst>
          </p:cNvPr>
          <p:cNvSpPr txBox="1"/>
          <p:nvPr/>
        </p:nvSpPr>
        <p:spPr>
          <a:xfrm>
            <a:off x="884121" y="1194853"/>
            <a:ext cx="6519569" cy="3582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to handle large problems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parameters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datasets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Noisy or sparse gradients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sampling of data during optimization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9312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64577"/>
          </a:xfrm>
        </p:spPr>
        <p:txBody>
          <a:bodyPr/>
          <a:lstStyle/>
          <a:p>
            <a:r>
              <a:rPr lang="en-US" dirty="0"/>
              <a:t>Adam optimizer </a:t>
            </a:r>
            <a:r>
              <a:rPr lang="en-US" sz="2000" dirty="0"/>
              <a:t>(3)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13300" y="5883423"/>
            <a:ext cx="4060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Times New Roman" panose="02020603050405020304" pitchFamily="18" charset="0"/>
              </a:rPr>
              <a:t>Ref.: “Adam: A Method for Stochastic Optimization”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28</a:t>
            </a:fld>
            <a:endParaRPr lang="en-US" dirty="0"/>
          </a:p>
        </p:txBody>
      </p:sp>
      <p:graphicFrame>
        <p:nvGraphicFramePr>
          <p:cNvPr id="6" name="Object 5" descr="MATHML object">
            <a:extLst>
              <a:ext uri="{FF2B5EF4-FFF2-40B4-BE49-F238E27FC236}">
                <a16:creationId xmlns:a16="http://schemas.microsoft.com/office/drawing/2014/main" id="{537CD3C0-403C-44EB-8CE4-4A713E51B9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1294443"/>
              </p:ext>
            </p:extLst>
          </p:nvPr>
        </p:nvGraphicFramePr>
        <p:xfrm>
          <a:off x="628650" y="1236574"/>
          <a:ext cx="7749540" cy="44816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863960" imgH="2819160" progId="Equation.DSMT4">
                  <p:embed/>
                </p:oleObj>
              </mc:Choice>
              <mc:Fallback>
                <p:oleObj name="Equation" r:id="rId3" imgW="4863960" imgH="2819160" progId="Equation.DSMT4">
                  <p:embed/>
                  <p:pic>
                    <p:nvPicPr>
                      <p:cNvPr id="6" name="Object 5" descr="MATHML object">
                        <a:extLst>
                          <a:ext uri="{FF2B5EF4-FFF2-40B4-BE49-F238E27FC236}">
                            <a16:creationId xmlns:a16="http://schemas.microsoft.com/office/drawing/2014/main" id="{537CD3C0-403C-44EB-8CE4-4A713E51B9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8650" y="1236574"/>
                        <a:ext cx="7749540" cy="44816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55652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64577"/>
          </a:xfrm>
        </p:spPr>
        <p:txBody>
          <a:bodyPr/>
          <a:lstStyle/>
          <a:p>
            <a:r>
              <a:rPr lang="en-US" dirty="0"/>
              <a:t>Adam optimizer </a:t>
            </a:r>
            <a:r>
              <a:rPr lang="en-US" sz="2000" dirty="0"/>
              <a:t>(4)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13300" y="5883423"/>
            <a:ext cx="4060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Times New Roman" panose="02020603050405020304" pitchFamily="18" charset="0"/>
              </a:rPr>
              <a:t>Ref.: “Adam: A Method for Stochastic Optimization”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29</a:t>
            </a:fld>
            <a:endParaRPr lang="en-US" dirty="0"/>
          </a:p>
        </p:txBody>
      </p:sp>
      <p:graphicFrame>
        <p:nvGraphicFramePr>
          <p:cNvPr id="6" name="Object 5" descr="MATHML object">
            <a:extLst>
              <a:ext uri="{FF2B5EF4-FFF2-40B4-BE49-F238E27FC236}">
                <a16:creationId xmlns:a16="http://schemas.microsoft.com/office/drawing/2014/main" id="{537CD3C0-403C-44EB-8CE4-4A713E51B9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0549357"/>
              </p:ext>
            </p:extLst>
          </p:nvPr>
        </p:nvGraphicFramePr>
        <p:xfrm>
          <a:off x="628650" y="1161881"/>
          <a:ext cx="7386638" cy="480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635360" imgH="3022560" progId="Equation.DSMT4">
                  <p:embed/>
                </p:oleObj>
              </mc:Choice>
              <mc:Fallback>
                <p:oleObj name="Equation" r:id="rId3" imgW="4635360" imgH="3022560" progId="Equation.DSMT4">
                  <p:embed/>
                  <p:pic>
                    <p:nvPicPr>
                      <p:cNvPr id="6" name="Object 5" descr="MATHML object">
                        <a:extLst>
                          <a:ext uri="{FF2B5EF4-FFF2-40B4-BE49-F238E27FC236}">
                            <a16:creationId xmlns:a16="http://schemas.microsoft.com/office/drawing/2014/main" id="{537CD3C0-403C-44EB-8CE4-4A713E51B9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8650" y="1161881"/>
                        <a:ext cx="7386638" cy="4805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603303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72A94-1F72-3454-6ACC-A13440017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1C42B-67ED-3258-48B7-5A813AB7E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Example function </a:t>
            </a:r>
            <a:r>
              <a:rPr lang="en-US" sz="2000" dirty="0"/>
              <a:t>(2)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EF487-087E-DF54-FB0D-7E742D26C9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30</a:t>
            </a:fld>
            <a:endParaRPr lang="en-US"/>
          </a:p>
        </p:txBody>
      </p:sp>
      <p:pic>
        <p:nvPicPr>
          <p:cNvPr id="7" name="Picture 6" descr="A plot of the function whose minimum we are seeking.">
            <a:extLst>
              <a:ext uri="{FF2B5EF4-FFF2-40B4-BE49-F238E27FC236}">
                <a16:creationId xmlns:a16="http://schemas.microsoft.com/office/drawing/2014/main" id="{47D7E42F-8B33-730C-1B70-809E3D78FE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532" y="1066452"/>
            <a:ext cx="4928616" cy="502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5046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30007-F5DD-B7FF-A915-71D846422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1E85C-40E7-DB8F-0CE1-AF58E25C9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Adam method example </a:t>
            </a:r>
            <a:r>
              <a:rPr lang="en-US" sz="2000" dirty="0"/>
              <a:t>(1)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F80521-CF04-B08C-9880-D3F399487E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31</a:t>
            </a:fld>
            <a:endParaRPr lang="en-US"/>
          </a:p>
        </p:txBody>
      </p:sp>
      <p:pic>
        <p:nvPicPr>
          <p:cNvPr id="6" name="Picture 5" descr="A graph of a diagram&#10;&#10;Description automatically generated">
            <a:extLst>
              <a:ext uri="{FF2B5EF4-FFF2-40B4-BE49-F238E27FC236}">
                <a16:creationId xmlns:a16="http://schemas.microsoft.com/office/drawing/2014/main" id="{D7ECA677-EBA1-1F91-418B-D3E02F61F5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532" y="1155192"/>
            <a:ext cx="4928616" cy="502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5191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A3AB5-D55A-47A2-682E-46A099C54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56BF4-D6D9-7A9D-5AD1-E87A9575A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Adam method example </a:t>
            </a:r>
            <a:r>
              <a:rPr lang="en-US" sz="2000" dirty="0"/>
              <a:t>(2)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C1FB58-BC0C-3F26-D9A1-526A10C155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32</a:t>
            </a:fld>
            <a:endParaRPr lang="en-US"/>
          </a:p>
        </p:txBody>
      </p:sp>
      <p:pic>
        <p:nvPicPr>
          <p:cNvPr id="4" name="Picture 3" descr="A group of graphs showing the same function&#10;&#10;Description automatically generated with medium confidence">
            <a:extLst>
              <a:ext uri="{FF2B5EF4-FFF2-40B4-BE49-F238E27FC236}">
                <a16:creationId xmlns:a16="http://schemas.microsoft.com/office/drawing/2014/main" id="{D936D2F4-2A46-5C62-55D5-842E639CFD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" y="1138428"/>
            <a:ext cx="9134856" cy="458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1589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FC1B2-998B-6CD5-E0B2-5A4651EA1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138C7-C408-AA6D-C6F7-1E5C5F3C1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Adam method example </a:t>
            </a:r>
            <a:r>
              <a:rPr lang="en-US" sz="2000" dirty="0"/>
              <a:t>(3)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43051D-64F5-86C2-975A-105A7BF4BF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33</a:t>
            </a:fld>
            <a:endParaRPr lang="en-US"/>
          </a:p>
        </p:txBody>
      </p:sp>
      <p:pic>
        <p:nvPicPr>
          <p:cNvPr id="4" name="Picture 3" descr="A graph of a diagram&#10;&#10;Description automatically generated">
            <a:extLst>
              <a:ext uri="{FF2B5EF4-FFF2-40B4-BE49-F238E27FC236}">
                <a16:creationId xmlns:a16="http://schemas.microsoft.com/office/drawing/2014/main" id="{97FAD699-8CEC-130B-DE7E-C25E037497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572" y="1066452"/>
            <a:ext cx="4928616" cy="502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8893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AE9B6-E1FA-DD42-9EF8-F03E0FD9E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906A1-9058-7135-2426-956FD7A13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Adam method example </a:t>
            </a:r>
            <a:r>
              <a:rPr lang="en-US" sz="2000" dirty="0"/>
              <a:t>(4)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2C9956-01B1-AB05-C27D-559263E526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34</a:t>
            </a:fld>
            <a:endParaRPr lang="en-US"/>
          </a:p>
        </p:txBody>
      </p:sp>
      <p:pic>
        <p:nvPicPr>
          <p:cNvPr id="6" name="Picture 5" descr="A group of graphs showing the same function&#10;&#10;Description automatically generated with medium confidence">
            <a:extLst>
              <a:ext uri="{FF2B5EF4-FFF2-40B4-BE49-F238E27FC236}">
                <a16:creationId xmlns:a16="http://schemas.microsoft.com/office/drawing/2014/main" id="{95309B5F-0C23-C3C8-0114-82792E495F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2089"/>
            <a:ext cx="9144000" cy="4553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5045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CDA1F-9612-C5AB-33AE-98BEC51D8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FB9F3-9B78-5D4C-DD86-264F1F173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Adam method example </a:t>
            </a:r>
            <a:r>
              <a:rPr lang="en-US" sz="2000" dirty="0"/>
              <a:t>(5)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B6CFB6-0406-C575-2A2C-9381A587E2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35</a:t>
            </a:fld>
            <a:endParaRPr lang="en-US"/>
          </a:p>
        </p:txBody>
      </p:sp>
      <p:pic>
        <p:nvPicPr>
          <p:cNvPr id="6" name="Picture 5" descr="A graph of a graph of a method&#10;&#10;Description automatically generated with medium confidence">
            <a:extLst>
              <a:ext uri="{FF2B5EF4-FFF2-40B4-BE49-F238E27FC236}">
                <a16:creationId xmlns:a16="http://schemas.microsoft.com/office/drawing/2014/main" id="{6B65CDC7-AA59-B8C9-E6E4-985086300A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2912" y="995172"/>
            <a:ext cx="4928616" cy="502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2773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05AE2-200C-E141-E69D-12C39E092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F18EF-90B2-75DF-4812-90A69C81C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Adam method example </a:t>
            </a:r>
            <a:r>
              <a:rPr lang="en-US" sz="2000" dirty="0"/>
              <a:t>(6)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C1D05B-DAF4-D20A-FB75-719D051362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36</a:t>
            </a:fld>
            <a:endParaRPr lang="en-US"/>
          </a:p>
        </p:txBody>
      </p:sp>
      <p:pic>
        <p:nvPicPr>
          <p:cNvPr id="8" name="Picture 7" descr="A group of graphs showing the function of a function&#10;&#10;Description automatically generated with medium confidence">
            <a:extLst>
              <a:ext uri="{FF2B5EF4-FFF2-40B4-BE49-F238E27FC236}">
                <a16:creationId xmlns:a16="http://schemas.microsoft.com/office/drawing/2014/main" id="{4A9EBD2A-4FA8-F481-711A-54ABBADAA4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" y="1138428"/>
            <a:ext cx="9134856" cy="458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1971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1A065-1BC3-83D7-CEE0-D5700E39F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677E3-30C0-451A-3D51-2312F92BD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Adam method example </a:t>
            </a:r>
            <a:r>
              <a:rPr lang="en-US" sz="2000" dirty="0"/>
              <a:t>(7)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566A72-D37E-A253-D0C5-EAF675F6D3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37</a:t>
            </a:fld>
            <a:endParaRPr lang="en-US"/>
          </a:p>
        </p:txBody>
      </p:sp>
      <p:pic>
        <p:nvPicPr>
          <p:cNvPr id="4" name="Picture 3" descr="A graph of a graph of a person&#10;&#10;Description automatically generated with medium confidence">
            <a:extLst>
              <a:ext uri="{FF2B5EF4-FFF2-40B4-BE49-F238E27FC236}">
                <a16:creationId xmlns:a16="http://schemas.microsoft.com/office/drawing/2014/main" id="{A5A776BE-FB38-EB4B-34B0-BA14F7CB1A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622" y="1066452"/>
            <a:ext cx="4928616" cy="502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1191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F25CB-06E8-C00B-167D-2BFCF835E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B0827-5B00-36E3-5458-0FCEC8C1E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Adam method example </a:t>
            </a:r>
            <a:r>
              <a:rPr lang="en-US" sz="2000" dirty="0"/>
              <a:t>(8)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798A38-75FC-BBE9-1E78-8A277BE73C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38</a:t>
            </a:fld>
            <a:endParaRPr lang="en-US"/>
          </a:p>
        </p:txBody>
      </p:sp>
      <p:pic>
        <p:nvPicPr>
          <p:cNvPr id="4" name="Picture 3" descr="A group of graphs showing the different types of data&#10;&#10;Description automatically generated with medium confidence">
            <a:extLst>
              <a:ext uri="{FF2B5EF4-FFF2-40B4-BE49-F238E27FC236}">
                <a16:creationId xmlns:a16="http://schemas.microsoft.com/office/drawing/2014/main" id="{4F31B96A-E260-5FDB-2002-C60BD05AD8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" y="1138428"/>
            <a:ext cx="9089136" cy="458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018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65C58-E7B6-C64F-92B7-EBA9485DE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240F7-B48D-D824-47B3-2EEDE61AA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Adam method example </a:t>
            </a:r>
            <a:r>
              <a:rPr lang="en-US" sz="2000" dirty="0"/>
              <a:t>(9)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CEF249-1FA1-BE2A-E2D8-AE7F0FAB6A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39</a:t>
            </a:fld>
            <a:endParaRPr lang="en-US"/>
          </a:p>
        </p:txBody>
      </p:sp>
      <p:pic>
        <p:nvPicPr>
          <p:cNvPr id="6" name="Picture 5" descr="A graph of a graph of a method&#10;&#10;Description automatically generated with medium confidence">
            <a:extLst>
              <a:ext uri="{FF2B5EF4-FFF2-40B4-BE49-F238E27FC236}">
                <a16:creationId xmlns:a16="http://schemas.microsoft.com/office/drawing/2014/main" id="{B53C28C3-A7FD-4650-74CE-2B8D1F8447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862" y="1021842"/>
            <a:ext cx="4928616" cy="502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42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CD3AE-B2DC-E846-D3EA-CF123164D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839D9-F563-05B6-2688-D9E0B753A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Adam method example </a:t>
            </a:r>
            <a:r>
              <a:rPr lang="en-US" sz="2000" dirty="0"/>
              <a:t>(10)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949E6F-F347-6D58-66E9-67455200DA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40</a:t>
            </a:fld>
            <a:endParaRPr lang="en-US"/>
          </a:p>
        </p:txBody>
      </p:sp>
      <p:pic>
        <p:nvPicPr>
          <p:cNvPr id="6" name="Picture 5" descr="A group of graphs showing different types of data&#10;&#10;Description automatically generated">
            <a:extLst>
              <a:ext uri="{FF2B5EF4-FFF2-40B4-BE49-F238E27FC236}">
                <a16:creationId xmlns:a16="http://schemas.microsoft.com/office/drawing/2014/main" id="{8EB194EA-00EB-7013-467A-9584B583E7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" y="1138428"/>
            <a:ext cx="9134856" cy="458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2709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422AE-BD5E-EB66-F8C9-A38254BF3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D2E0B-FFEC-9B6C-65E1-F186AB24F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Adam method example </a:t>
            </a:r>
            <a:r>
              <a:rPr lang="en-US" sz="2000" dirty="0"/>
              <a:t>(11)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D00E2B-1B2A-CD9C-4DBF-A9BE3CFFB2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41</a:t>
            </a:fld>
            <a:endParaRPr lang="en-US"/>
          </a:p>
        </p:txBody>
      </p:sp>
      <p:pic>
        <p:nvPicPr>
          <p:cNvPr id="4" name="Picture 3" descr="A graph of a graph of a person&#10;&#10;Description automatically generated with medium confidence">
            <a:extLst>
              <a:ext uri="{FF2B5EF4-FFF2-40B4-BE49-F238E27FC236}">
                <a16:creationId xmlns:a16="http://schemas.microsoft.com/office/drawing/2014/main" id="{BECA7B03-8DAD-BE52-98FA-6953084C7E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242" y="1066452"/>
            <a:ext cx="4928616" cy="502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3221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49034-668F-3183-F6F3-B636856B8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A719E-035F-EF9F-C192-C6B5DF2A2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Adam method example </a:t>
            </a:r>
            <a:r>
              <a:rPr lang="en-US" sz="2000" dirty="0"/>
              <a:t>(12)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EF491B-2221-0739-3879-588082B111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42</a:t>
            </a:fld>
            <a:endParaRPr lang="en-US"/>
          </a:p>
        </p:txBody>
      </p:sp>
      <p:pic>
        <p:nvPicPr>
          <p:cNvPr id="4" name="Picture 3" descr="A group of graphs showing different types of data&#10;&#10;Description automatically generated">
            <a:extLst>
              <a:ext uri="{FF2B5EF4-FFF2-40B4-BE49-F238E27FC236}">
                <a16:creationId xmlns:a16="http://schemas.microsoft.com/office/drawing/2014/main" id="{F0C83E7F-1BCF-4BCB-DF74-A92E5AFDA1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" y="1138428"/>
            <a:ext cx="9134856" cy="458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9050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A4181-D8C0-5F16-EFD6-DF820E74C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3B606-E5C9-2B9E-54B3-EA9E700CF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Adam method example </a:t>
            </a:r>
            <a:r>
              <a:rPr lang="en-US" sz="2000" dirty="0"/>
              <a:t>(13)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A30AF8-5B05-C46E-853A-E90ABFD7CD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43</a:t>
            </a:fld>
            <a:endParaRPr lang="en-US"/>
          </a:p>
        </p:txBody>
      </p:sp>
      <p:pic>
        <p:nvPicPr>
          <p:cNvPr id="6" name="Picture 5" descr="A diagram of a method&#10;&#10;Description automatically generated">
            <a:extLst>
              <a:ext uri="{FF2B5EF4-FFF2-40B4-BE49-F238E27FC236}">
                <a16:creationId xmlns:a16="http://schemas.microsoft.com/office/drawing/2014/main" id="{93F33B0C-950F-5643-1304-4C07220B47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2432" y="1066452"/>
            <a:ext cx="4928616" cy="502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7937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659F1-E569-C3B1-4135-FA65F28BD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01648-C46A-F24D-6D96-3B498CFC1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Adam method example </a:t>
            </a:r>
            <a:r>
              <a:rPr lang="en-US" sz="2000" dirty="0"/>
              <a:t>(14)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E35279-28DD-2BDE-CBF4-6092F8AC14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44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DC8E4-88D2-E3B8-9863-7F3984F717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" y="1138428"/>
            <a:ext cx="9134856" cy="458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9108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01856-AAAF-1816-4CC0-F2E5F9792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4C875-3C80-8572-CF37-7C32529E8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Adam method example </a:t>
            </a:r>
            <a:r>
              <a:rPr lang="en-US" sz="2000" dirty="0"/>
              <a:t>(15)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7572B8-7445-206E-6438-3D868F433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45</a:t>
            </a:fld>
            <a:endParaRPr lang="en-US"/>
          </a:p>
        </p:txBody>
      </p:sp>
      <p:pic>
        <p:nvPicPr>
          <p:cNvPr id="4" name="Picture 3" descr="A diagram of a method&#10;&#10;Description automatically generated">
            <a:extLst>
              <a:ext uri="{FF2B5EF4-FFF2-40B4-BE49-F238E27FC236}">
                <a16:creationId xmlns:a16="http://schemas.microsoft.com/office/drawing/2014/main" id="{CE35213D-C112-788A-40E6-49A77337D5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002" y="1018032"/>
            <a:ext cx="4928616" cy="502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2969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0361D-283D-F1F9-1C1B-DBFBE5A4F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54CA0-4D5A-4A0F-2509-632C9D826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Adam method example </a:t>
            </a:r>
            <a:r>
              <a:rPr lang="en-US" sz="2000" dirty="0"/>
              <a:t>(16)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C1B64A-6767-D0F2-5316-409537B880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46</a:t>
            </a:fld>
            <a:endParaRPr lang="en-US"/>
          </a:p>
        </p:txBody>
      </p:sp>
      <p:pic>
        <p:nvPicPr>
          <p:cNvPr id="8" name="Picture 7" descr="A group of graphs showing different types of data&#10;&#10;Description automatically generated">
            <a:extLst>
              <a:ext uri="{FF2B5EF4-FFF2-40B4-BE49-F238E27FC236}">
                <a16:creationId xmlns:a16="http://schemas.microsoft.com/office/drawing/2014/main" id="{1CDD4C97-CB58-9A6E-C497-B6C4C97218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" y="1138428"/>
            <a:ext cx="9134856" cy="458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9882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3A2BA-D9E0-BEFD-1346-05EAC6A3E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2A1E8-83D5-9E3F-8031-0FCFA25B4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Adam method example </a:t>
            </a:r>
            <a:r>
              <a:rPr lang="en-US" sz="2000" dirty="0"/>
              <a:t>(17)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E383C1-F0CF-A9FE-A9C5-FAA874273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47</a:t>
            </a:fld>
            <a:endParaRPr lang="en-US"/>
          </a:p>
        </p:txBody>
      </p:sp>
      <p:pic>
        <p:nvPicPr>
          <p:cNvPr id="4" name="Picture 3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23B18D28-6BEF-E1F1-F161-F3DDB5B80E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32" y="1508760"/>
            <a:ext cx="7488936" cy="384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6586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55F4F-38BA-F217-8110-4B369D452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1E35F-9843-E583-3E7E-79FB7D9A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7479"/>
            <a:ext cx="7886700" cy="569132"/>
          </a:xfrm>
        </p:spPr>
        <p:txBody>
          <a:bodyPr/>
          <a:lstStyle/>
          <a:p>
            <a:r>
              <a:rPr lang="en-US" dirty="0"/>
              <a:t>The key is managing the step size</a:t>
            </a:r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B8676B-CE89-6058-971E-3009DE6BAE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C9A01-4B58-440A-ADC3-FF3A96652BF1}" type="slidenum">
              <a:rPr lang="en-US" smtClean="0"/>
              <a:t>48</a:t>
            </a:fld>
            <a:endParaRPr lang="en-US"/>
          </a:p>
        </p:txBody>
      </p:sp>
      <p:graphicFrame>
        <p:nvGraphicFramePr>
          <p:cNvPr id="3" name="Object 2" descr="MATHML object">
            <a:extLst>
              <a:ext uri="{FF2B5EF4-FFF2-40B4-BE49-F238E27FC236}">
                <a16:creationId xmlns:a16="http://schemas.microsoft.com/office/drawing/2014/main" id="{9733F98A-E475-279E-7258-82E697A767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9527698"/>
              </p:ext>
            </p:extLst>
          </p:nvPr>
        </p:nvGraphicFramePr>
        <p:xfrm>
          <a:off x="628650" y="1368773"/>
          <a:ext cx="7886700" cy="4303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936960" imgH="2145960" progId="Equation.DSMT4">
                  <p:embed/>
                </p:oleObj>
              </mc:Choice>
              <mc:Fallback>
                <p:oleObj name="Equation" r:id="rId3" imgW="3936960" imgH="2145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8650" y="1368773"/>
                        <a:ext cx="7886700" cy="43030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687440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L 4.pptx" id="{64B2721A-5DC7-49C9-80C0-1FCBF9A53174}" vid="{30ECEC55-8025-4063-B582-643B68783D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6134</TotalTime>
  <Words>465</Words>
  <Application>Microsoft Office PowerPoint</Application>
  <PresentationFormat>On-screen Show (4:3)</PresentationFormat>
  <Paragraphs>162</Paragraphs>
  <Slides>48</Slides>
  <Notes>48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Calibri</vt:lpstr>
      <vt:lpstr>Times New Roman</vt:lpstr>
      <vt:lpstr>1_Office Theme</vt:lpstr>
      <vt:lpstr>Equation</vt:lpstr>
      <vt:lpstr>Minimizing a [Loss] Function:  Optimizers</vt:lpstr>
      <vt:lpstr>Popular optimization methods</vt:lpstr>
      <vt:lpstr>Gradient descent (1)</vt:lpstr>
      <vt:lpstr>Gradient (1)</vt:lpstr>
      <vt:lpstr>Gradient (2)</vt:lpstr>
      <vt:lpstr>Gradient descent (2)</vt:lpstr>
      <vt:lpstr>Gradient descent (3)</vt:lpstr>
      <vt:lpstr>Example function (1)</vt:lpstr>
      <vt:lpstr>Gradient descent example (1)</vt:lpstr>
      <vt:lpstr>Gradient descent example (2)</vt:lpstr>
      <vt:lpstr>Gradient descent example (3)</vt:lpstr>
      <vt:lpstr>Gradient descent example (4)</vt:lpstr>
      <vt:lpstr>Gradient descent example (5)</vt:lpstr>
      <vt:lpstr>Gradient descent example (6)</vt:lpstr>
      <vt:lpstr>Gradient descent example (7)</vt:lpstr>
      <vt:lpstr>Gradient descent example (8)</vt:lpstr>
      <vt:lpstr>Gradient descent example (9)</vt:lpstr>
      <vt:lpstr>Gradient descent example (10)</vt:lpstr>
      <vt:lpstr>Gradient descent example (11)</vt:lpstr>
      <vt:lpstr>Gradient descent example (12)</vt:lpstr>
      <vt:lpstr>Gradient descent example (13)</vt:lpstr>
      <vt:lpstr>Gradient descent example (14)</vt:lpstr>
      <vt:lpstr>Gradient descent example (15)</vt:lpstr>
      <vt:lpstr>Gradient descent example (16)</vt:lpstr>
      <vt:lpstr>Gradient descent example (17)</vt:lpstr>
      <vt:lpstr>Adam optimizer (1)</vt:lpstr>
      <vt:lpstr>Adam optimizer (2)</vt:lpstr>
      <vt:lpstr>Adam optimizer (3)</vt:lpstr>
      <vt:lpstr>Adam optimizer (4)</vt:lpstr>
      <vt:lpstr>Example function (2)</vt:lpstr>
      <vt:lpstr>Adam method example (1)</vt:lpstr>
      <vt:lpstr>Adam method example (2)</vt:lpstr>
      <vt:lpstr>Adam method example (3)</vt:lpstr>
      <vt:lpstr>Adam method example (4)</vt:lpstr>
      <vt:lpstr>Adam method example (5)</vt:lpstr>
      <vt:lpstr>Adam method example (6)</vt:lpstr>
      <vt:lpstr>Adam method example (7)</vt:lpstr>
      <vt:lpstr>Adam method example (8)</vt:lpstr>
      <vt:lpstr>Adam method example (9)</vt:lpstr>
      <vt:lpstr>Adam method example (10)</vt:lpstr>
      <vt:lpstr>Adam method example (11)</vt:lpstr>
      <vt:lpstr>Adam method example (12)</vt:lpstr>
      <vt:lpstr>Adam method example (13)</vt:lpstr>
      <vt:lpstr>Adam method example (14)</vt:lpstr>
      <vt:lpstr>Adam method example (15)</vt:lpstr>
      <vt:lpstr>Adam method example (16)</vt:lpstr>
      <vt:lpstr>Adam method example (17)</vt:lpstr>
      <vt:lpstr>The key is managing the step size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Erik Grimmelmann</dc:creator>
  <cp:lastModifiedBy>Erik Grimmelmann</cp:lastModifiedBy>
  <cp:revision>396</cp:revision>
  <cp:lastPrinted>2018-02-17T23:34:22Z</cp:lastPrinted>
  <dcterms:created xsi:type="dcterms:W3CDTF">2017-02-25T17:52:53Z</dcterms:created>
  <dcterms:modified xsi:type="dcterms:W3CDTF">2026-07-21T18:07:39Z</dcterms:modified>
</cp:coreProperties>
</file>