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38"/>
  </p:notesMasterIdLst>
  <p:handoutMasterIdLst>
    <p:handoutMasterId r:id="rId39"/>
  </p:handoutMasterIdLst>
  <p:sldIdLst>
    <p:sldId id="311" r:id="rId2"/>
    <p:sldId id="314" r:id="rId3"/>
    <p:sldId id="315" r:id="rId4"/>
    <p:sldId id="316" r:id="rId5"/>
    <p:sldId id="318" r:id="rId6"/>
    <p:sldId id="319" r:id="rId7"/>
    <p:sldId id="317" r:id="rId8"/>
    <p:sldId id="320" r:id="rId9"/>
    <p:sldId id="321" r:id="rId10"/>
    <p:sldId id="334" r:id="rId11"/>
    <p:sldId id="335" r:id="rId12"/>
    <p:sldId id="322" r:id="rId13"/>
    <p:sldId id="428" r:id="rId14"/>
    <p:sldId id="328" r:id="rId15"/>
    <p:sldId id="329" r:id="rId16"/>
    <p:sldId id="333" r:id="rId17"/>
    <p:sldId id="364" r:id="rId18"/>
    <p:sldId id="365" r:id="rId19"/>
    <p:sldId id="366" r:id="rId20"/>
    <p:sldId id="368" r:id="rId21"/>
    <p:sldId id="369" r:id="rId22"/>
    <p:sldId id="381" r:id="rId23"/>
    <p:sldId id="414" r:id="rId24"/>
    <p:sldId id="382" r:id="rId25"/>
    <p:sldId id="383" r:id="rId26"/>
    <p:sldId id="384" r:id="rId27"/>
    <p:sldId id="429" r:id="rId28"/>
    <p:sldId id="385" r:id="rId29"/>
    <p:sldId id="430" r:id="rId30"/>
    <p:sldId id="397" r:id="rId31"/>
    <p:sldId id="431" r:id="rId32"/>
    <p:sldId id="432" r:id="rId33"/>
    <p:sldId id="433" r:id="rId34"/>
    <p:sldId id="434" r:id="rId35"/>
    <p:sldId id="435" r:id="rId36"/>
    <p:sldId id="436" r:id="rId37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60" autoAdjust="0"/>
    <p:restoredTop sz="86408" autoAdjust="0"/>
  </p:normalViewPr>
  <p:slideViewPr>
    <p:cSldViewPr snapToGrid="0">
      <p:cViewPr varScale="1">
        <p:scale>
          <a:sx n="83" d="100"/>
          <a:sy n="83" d="100"/>
        </p:scale>
        <p:origin x="162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161390" cy="367259"/>
          </a:xfrm>
          <a:prstGeom prst="rect">
            <a:avLst/>
          </a:prstGeom>
        </p:spPr>
        <p:txBody>
          <a:bodyPr vert="horz" lIns="94851" tIns="47425" rIns="94851" bIns="4742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7637" y="1"/>
            <a:ext cx="4161390" cy="367259"/>
          </a:xfrm>
          <a:prstGeom prst="rect">
            <a:avLst/>
          </a:prstGeom>
        </p:spPr>
        <p:txBody>
          <a:bodyPr vert="horz" lIns="94851" tIns="47425" rIns="94851" bIns="47425" rtlCol="0"/>
          <a:lstStyle>
            <a:lvl1pPr algn="r">
              <a:defRPr sz="1200"/>
            </a:lvl1pPr>
          </a:lstStyle>
          <a:p>
            <a:fld id="{085BC133-C6D8-48A3-B4EA-C942741A44E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947942"/>
            <a:ext cx="4161390" cy="367259"/>
          </a:xfrm>
          <a:prstGeom prst="rect">
            <a:avLst/>
          </a:prstGeom>
        </p:spPr>
        <p:txBody>
          <a:bodyPr vert="horz" lIns="94851" tIns="47425" rIns="94851" bIns="4742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7637" y="6947942"/>
            <a:ext cx="4161390" cy="367259"/>
          </a:xfrm>
          <a:prstGeom prst="rect">
            <a:avLst/>
          </a:prstGeom>
        </p:spPr>
        <p:txBody>
          <a:bodyPr vert="horz" lIns="94851" tIns="47425" rIns="94851" bIns="47425" rtlCol="0" anchor="b"/>
          <a:lstStyle>
            <a:lvl1pPr algn="r">
              <a:defRPr sz="1200"/>
            </a:lvl1pPr>
          </a:lstStyle>
          <a:p>
            <a:fld id="{2958B6B9-6C5B-4AC1-8EA5-52242FF98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61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B2368CC4-54C5-461B-B50D-044FC93C64E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55950" y="914400"/>
            <a:ext cx="328930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41"/>
            <a:ext cx="7680960" cy="2880360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9ACD95F9-BF71-4FF4-A282-A7226EE08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4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13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22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63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3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07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80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36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08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23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42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86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63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07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139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02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089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57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13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05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00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6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30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216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153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885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974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33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7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8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3600" b="1" i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10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2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57099" y="6233263"/>
            <a:ext cx="3029802" cy="48291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050" dirty="0"/>
              <a:t>The City College of New York</a:t>
            </a:r>
          </a:p>
          <a:p>
            <a:pPr algn="ctr"/>
            <a:r>
              <a:rPr lang="en-US" sz="1050" dirty="0"/>
              <a:t>CSc</a:t>
            </a:r>
            <a:r>
              <a:rPr lang="en-US" sz="1050" baseline="0" dirty="0"/>
              <a:t> 44700</a:t>
            </a:r>
            <a:r>
              <a:rPr lang="en-US" sz="1050" dirty="0"/>
              <a:t> – Introduction to Machine Learning</a:t>
            </a:r>
          </a:p>
          <a:p>
            <a:pPr algn="ctr"/>
            <a:r>
              <a:rPr lang="en-US" sz="1050" dirty="0"/>
              <a:t>Fall 2026 – © 2026 Erik K. Grimmelmann, Ph.D..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6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2" r:id="rId5"/>
    <p:sldLayoutId id="214748369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1.wmf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1.wmf"/><Relationship Id="rId2" Type="http://schemas.openxmlformats.org/officeDocument/2006/relationships/oleObject" Target="../embeddings/oleObject14.bin"/><Relationship Id="rId16" Type="http://schemas.openxmlformats.org/officeDocument/2006/relationships/oleObject" Target="../embeddings/oleObject21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4.wmf"/><Relationship Id="rId2" Type="http://schemas.openxmlformats.org/officeDocument/2006/relationships/oleObject" Target="../embeddings/oleObject14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18.wmf"/><Relationship Id="rId5" Type="http://schemas.openxmlformats.org/officeDocument/2006/relationships/image" Target="../media/image22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wmf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30.wmf"/><Relationship Id="rId25" Type="http://schemas.openxmlformats.org/officeDocument/2006/relationships/image" Target="../media/image31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31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1.wmf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30.wmf"/><Relationship Id="rId25" Type="http://schemas.openxmlformats.org/officeDocument/2006/relationships/image" Target="../media/image32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32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3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2.png"/><Relationship Id="rId4" Type="http://schemas.openxmlformats.org/officeDocument/2006/relationships/notesSlide" Target="../notesSlides/notesSlide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7.png"/><Relationship Id="rId4" Type="http://schemas.openxmlformats.org/officeDocument/2006/relationships/notesSlide" Target="../notesSlides/notesSlide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://scikit-learn.org/stable/modules/generated/sklearn.linear_model.LogisticRegression.html#sklearn.linear_model.LogisticRegression.predict" TargetMode="External"/><Relationship Id="rId3" Type="http://schemas.openxmlformats.org/officeDocument/2006/relationships/hyperlink" Target="http://scikit-learn.org/stable/modules/generated/sklearn.linear_model.LogisticRegression.html#sklearn.linear_model.LogisticRegression.decision_function" TargetMode="External"/><Relationship Id="rId7" Type="http://schemas.openxmlformats.org/officeDocument/2006/relationships/hyperlink" Target="http://scikit-learn.org/stable/modules/generated/sklearn.linear_model.Perceptron.html#sklearn.linear_model.Perceptron.partial_f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cikit-learn.org/stable/modules/generated/sklearn.linear_model.LogisticRegression.html#sklearn.linear_model.LogisticRegression.get_params" TargetMode="External"/><Relationship Id="rId11" Type="http://schemas.openxmlformats.org/officeDocument/2006/relationships/hyperlink" Target="http://scikit-learn.org/stable/modules/generated/sklearn.linear_model.LogisticRegression.html#sklearn.linear_model.LogisticRegression.sparsify" TargetMode="External"/><Relationship Id="rId5" Type="http://schemas.openxmlformats.org/officeDocument/2006/relationships/hyperlink" Target="http://scikit-learn.org/stable/modules/generated/sklearn.linear_model.LogisticRegression.html#sklearn.linear_model.LogisticRegression.fit" TargetMode="External"/><Relationship Id="rId10" Type="http://schemas.openxmlformats.org/officeDocument/2006/relationships/hyperlink" Target="http://scikit-learn.org/stable/modules/generated/sklearn.linear_model.LogisticRegression.html#sklearn.linear_model.LogisticRegression.set_params" TargetMode="External"/><Relationship Id="rId4" Type="http://schemas.openxmlformats.org/officeDocument/2006/relationships/hyperlink" Target="http://scikit-learn.org/stable/modules/generated/sklearn.linear_model.LogisticRegression.html#sklearn.linear_model.LogisticRegression.densify" TargetMode="External"/><Relationship Id="rId9" Type="http://schemas.openxmlformats.org/officeDocument/2006/relationships/hyperlink" Target="http://scikit-learn.org/stable/modules/generated/sklearn.linear_model.LogisticRegression.html#sklearn.linear_model.LogisticRegression.score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://scikit-learn.org/stable/modules/generated/sklearn.linear_model.LogisticRegression.html#sklearn.linear_model.LogisticRegression.predict" TargetMode="External"/><Relationship Id="rId3" Type="http://schemas.openxmlformats.org/officeDocument/2006/relationships/hyperlink" Target="http://scikit-learn.org/stable/modules/generated/sklearn.linear_model.LogisticRegression.html#sklearn.linear_model.LogisticRegression.decision_function" TargetMode="External"/><Relationship Id="rId7" Type="http://schemas.openxmlformats.org/officeDocument/2006/relationships/hyperlink" Target="http://scikit-learn.org/stable/modules/generated/sklearn.linear_model.Perceptron.html#sklearn.linear_model.Perceptron.partial_fit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cikit-learn.org/stable/modules/generated/sklearn.linear_model.LogisticRegression.html#sklearn.linear_model.LogisticRegression.get_params" TargetMode="External"/><Relationship Id="rId11" Type="http://schemas.openxmlformats.org/officeDocument/2006/relationships/hyperlink" Target="http://scikit-learn.org/stable/modules/generated/sklearn.linear_model.LogisticRegression.html#sklearn.linear_model.LogisticRegression.sparsify" TargetMode="External"/><Relationship Id="rId5" Type="http://schemas.openxmlformats.org/officeDocument/2006/relationships/hyperlink" Target="http://scikit-learn.org/stable/modules/generated/sklearn.linear_model.LogisticRegression.html#sklearn.linear_model.LogisticRegression.fit" TargetMode="External"/><Relationship Id="rId10" Type="http://schemas.openxmlformats.org/officeDocument/2006/relationships/hyperlink" Target="http://scikit-learn.org/stable/modules/generated/sklearn.linear_model.LogisticRegression.html#sklearn.linear_model.LogisticRegression.set_params" TargetMode="External"/><Relationship Id="rId4" Type="http://schemas.openxmlformats.org/officeDocument/2006/relationships/hyperlink" Target="http://scikit-learn.org/stable/modules/generated/sklearn.linear_model.LogisticRegression.html#sklearn.linear_model.LogisticRegression.densify" TargetMode="External"/><Relationship Id="rId9" Type="http://schemas.openxmlformats.org/officeDocument/2006/relationships/hyperlink" Target="http://scikit-learn.org/stable/modules/generated/sklearn.linear_model.LogisticRegression.html#sklearn.linear_model.LogisticRegression.sco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 anchorCtr="0"/>
          <a:lstStyle/>
          <a:p>
            <a:r>
              <a:rPr lang="en-US" dirty="0"/>
              <a:t>Adaptive Linear Neuron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Adaline</a:t>
            </a:r>
          </a:p>
        </p:txBody>
      </p:sp>
    </p:spTree>
    <p:extLst>
      <p:ext uri="{BB962C8B-B14F-4D97-AF65-F5344CB8AC3E}">
        <p14:creationId xmlns:p14="http://schemas.microsoft.com/office/powerpoint/2010/main" val="375484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7597"/>
          </a:xfrm>
        </p:spPr>
        <p:txBody>
          <a:bodyPr/>
          <a:lstStyle/>
          <a:p>
            <a:r>
              <a:rPr lang="en-US" dirty="0"/>
              <a:t>Characteristics of the 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30657"/>
            <a:ext cx="7886700" cy="257922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binary classifier</a:t>
            </a:r>
          </a:p>
          <a:p>
            <a:pPr>
              <a:lnSpc>
                <a:spcPct val="100000"/>
              </a:lnSpc>
            </a:pPr>
            <a:r>
              <a:rPr lang="en-US" dirty="0"/>
              <a:t>Limited to linearly separable classes</a:t>
            </a:r>
          </a:p>
          <a:p>
            <a:pPr>
              <a:lnSpc>
                <a:spcPct val="100000"/>
              </a:lnSpc>
            </a:pPr>
            <a:r>
              <a:rPr lang="en-US" dirty="0"/>
              <a:t>Finds a linear separation if one exists, not an “optimal” separation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53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Adaptive Linear Neuron</a:t>
            </a:r>
            <a:br>
              <a:rPr lang="en-US" dirty="0"/>
            </a:br>
            <a:r>
              <a:rPr lang="en-US" dirty="0"/>
              <a:t>Adaptive Linear Element (later)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14113"/>
            <a:ext cx="7886700" cy="387708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Adaline (</a:t>
            </a:r>
            <a:r>
              <a:rPr lang="en-US" dirty="0" err="1"/>
              <a:t>ADAptive</a:t>
            </a:r>
            <a:r>
              <a:rPr lang="en-US" dirty="0"/>
              <a:t> </a:t>
            </a:r>
            <a:r>
              <a:rPr lang="en-US" dirty="0" err="1"/>
              <a:t>LInear</a:t>
            </a:r>
            <a:r>
              <a:rPr lang="en-US" dirty="0"/>
              <a:t> </a:t>
            </a:r>
            <a:r>
              <a:rPr lang="en-US" dirty="0" err="1"/>
              <a:t>NEuron</a:t>
            </a:r>
            <a:r>
              <a:rPr lang="en-US" dirty="0"/>
              <a:t>) </a:t>
            </a:r>
          </a:p>
          <a:p>
            <a:pPr>
              <a:lnSpc>
                <a:spcPct val="100000"/>
              </a:lnSpc>
            </a:pPr>
            <a:r>
              <a:rPr lang="en-US" dirty="0"/>
              <a:t>Developed by Widrow and Hoff (1960)</a:t>
            </a:r>
          </a:p>
          <a:p>
            <a:pPr>
              <a:lnSpc>
                <a:spcPct val="100000"/>
              </a:lnSpc>
            </a:pPr>
            <a:r>
              <a:rPr lang="en-US" dirty="0"/>
              <a:t>A single-layer Neural Network</a:t>
            </a:r>
          </a:p>
          <a:p>
            <a:pPr>
              <a:lnSpc>
                <a:spcPct val="100000"/>
              </a:lnSpc>
            </a:pPr>
            <a:r>
              <a:rPr lang="en-US" dirty="0"/>
              <a:t>Utilizes a </a:t>
            </a:r>
            <a:r>
              <a:rPr lang="en-US" b="1" dirty="0"/>
              <a:t>cost function</a:t>
            </a:r>
          </a:p>
          <a:p>
            <a:pPr>
              <a:lnSpc>
                <a:spcPct val="100000"/>
              </a:lnSpc>
            </a:pPr>
            <a:r>
              <a:rPr lang="en-US" dirty="0"/>
              <a:t>Replaces the step activation function of the Perceptron with a </a:t>
            </a:r>
            <a:r>
              <a:rPr lang="en-US" b="1" dirty="0"/>
              <a:t>linear activation function </a:t>
            </a:r>
            <a:r>
              <a:rPr lang="en-US" dirty="0"/>
              <a:t>and a </a:t>
            </a:r>
            <a:r>
              <a:rPr lang="en-US" b="1" dirty="0"/>
              <a:t>quantizer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2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7477"/>
          </a:xfrm>
        </p:spPr>
        <p:txBody>
          <a:bodyPr>
            <a:normAutofit/>
          </a:bodyPr>
          <a:lstStyle/>
          <a:p>
            <a:r>
              <a:rPr lang="en-US" dirty="0"/>
              <a:t>An Adaline model</a:t>
            </a:r>
          </a:p>
        </p:txBody>
      </p:sp>
      <p:grpSp>
        <p:nvGrpSpPr>
          <p:cNvPr id="15" name="Group 14" descr="Schematic of an Adaline model">
            <a:extLst>
              <a:ext uri="{FF2B5EF4-FFF2-40B4-BE49-F238E27FC236}">
                <a16:creationId xmlns:a16="http://schemas.microsoft.com/office/drawing/2014/main" id="{D490A20E-BEAE-8535-510D-8171CCA929E8}"/>
              </a:ext>
            </a:extLst>
          </p:cNvPr>
          <p:cNvGrpSpPr/>
          <p:nvPr/>
        </p:nvGrpSpPr>
        <p:grpSpPr>
          <a:xfrm>
            <a:off x="2503304" y="1617225"/>
            <a:ext cx="5645899" cy="3863190"/>
            <a:chOff x="2377877" y="1621271"/>
            <a:chExt cx="5645899" cy="3863190"/>
          </a:xfrm>
        </p:grpSpPr>
        <p:cxnSp>
          <p:nvCxnSpPr>
            <p:cNvPr id="76" name="Straight Arrow Connector 75"/>
            <p:cNvCxnSpPr/>
            <p:nvPr/>
          </p:nvCxnSpPr>
          <p:spPr>
            <a:xfrm>
              <a:off x="4799427" y="3344453"/>
              <a:ext cx="1" cy="6329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4793599" y="2889170"/>
              <a:ext cx="1" cy="6329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med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36" idx="4"/>
            </p:cNvCxnSpPr>
            <p:nvPr/>
          </p:nvCxnSpPr>
          <p:spPr>
            <a:xfrm>
              <a:off x="4806164" y="3798682"/>
              <a:ext cx="1649" cy="29654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med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4303784" y="1621271"/>
              <a:ext cx="3015396" cy="316935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7238999" y="3468382"/>
              <a:ext cx="365527" cy="208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ontent Placeholder 4"/>
            <p:cNvSpPr txBox="1">
              <a:spLocks/>
            </p:cNvSpPr>
            <p:nvPr/>
          </p:nvSpPr>
          <p:spPr>
            <a:xfrm>
              <a:off x="2377877" y="3164359"/>
              <a:ext cx="1021328" cy="409659"/>
            </a:xfrm>
            <a:prstGeom prst="rect">
              <a:avLst/>
            </a:prstGeom>
          </p:spPr>
          <p:txBody>
            <a:bodyPr vert="horz" lIns="68580" tIns="34290" rIns="68580" bIns="34290" rtlCol="0" anchor="ctr" anchorCtr="1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63679" y="2940834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5480244"/>
                </p:ext>
              </p:extLst>
            </p:nvPr>
          </p:nvGraphicFramePr>
          <p:xfrm>
            <a:off x="3548209" y="2940672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80" imgH="228600" progId="Equation.DSMT4">
                    <p:embed/>
                  </p:oleObj>
                </mc:Choice>
                <mc:Fallback>
                  <p:oleObj name="Equation" r:id="rId2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548209" y="2940672"/>
                          <a:ext cx="2667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3226744"/>
                </p:ext>
              </p:extLst>
            </p:nvPr>
          </p:nvGraphicFramePr>
          <p:xfrm>
            <a:off x="3514873" y="4048274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0440" imgH="228600" progId="Equation.DSMT4">
                    <p:embed/>
                  </p:oleObj>
                </mc:Choice>
                <mc:Fallback>
                  <p:oleObj name="Equation" r:id="rId4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514873" y="4048274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6195680"/>
                </p:ext>
              </p:extLst>
            </p:nvPr>
          </p:nvGraphicFramePr>
          <p:xfrm>
            <a:off x="3536898" y="3361201"/>
            <a:ext cx="28932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228600" progId="Equation.DSMT4">
                    <p:embed/>
                  </p:oleObj>
                </mc:Choice>
                <mc:Fallback>
                  <p:oleObj name="Equation" r:id="rId6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536898" y="3361201"/>
                          <a:ext cx="28932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18"/>
            <p:cNvSpPr/>
            <p:nvPr/>
          </p:nvSpPr>
          <p:spPr>
            <a:xfrm>
              <a:off x="3463678" y="4095689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3463679" y="339478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TextBox 20"/>
            <p:cNvSpPr txBox="1"/>
            <p:nvPr/>
          </p:nvSpPr>
          <p:spPr>
            <a:xfrm rot="5400000">
              <a:off x="3597002" y="3692426"/>
              <a:ext cx="30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…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4588282" y="2944845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1423677"/>
                </p:ext>
              </p:extLst>
            </p:nvPr>
          </p:nvGraphicFramePr>
          <p:xfrm>
            <a:off x="4651395" y="2944683"/>
            <a:ext cx="31075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228600" progId="Equation.DSMT4">
                    <p:embed/>
                  </p:oleObj>
                </mc:Choice>
                <mc:Fallback>
                  <p:oleObj name="Equation" r:id="rId8" imgW="1774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651395" y="2944683"/>
                          <a:ext cx="31075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2189832"/>
                </p:ext>
              </p:extLst>
            </p:nvPr>
          </p:nvGraphicFramePr>
          <p:xfrm>
            <a:off x="4618056" y="4051964"/>
            <a:ext cx="37742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5640" imgH="228600" progId="Equation.DSMT4">
                    <p:embed/>
                  </p:oleObj>
                </mc:Choice>
                <mc:Fallback>
                  <p:oleObj name="Equation" r:id="rId10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618056" y="4051964"/>
                          <a:ext cx="377428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3337145"/>
                </p:ext>
              </p:extLst>
            </p:nvPr>
          </p:nvGraphicFramePr>
          <p:xfrm>
            <a:off x="4639487" y="3364974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440" imgH="228600" progId="Equation.DSMT4">
                    <p:embed/>
                  </p:oleObj>
                </mc:Choice>
                <mc:Fallback>
                  <p:oleObj name="Equation" r:id="rId12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639487" y="3364974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Oval 34"/>
            <p:cNvSpPr/>
            <p:nvPr/>
          </p:nvSpPr>
          <p:spPr>
            <a:xfrm>
              <a:off x="4588281" y="4099700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4588282" y="3398794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5246039" y="3280471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40" name="Straight Arrow Connector 39"/>
            <p:cNvCxnSpPr>
              <a:endCxn id="37" idx="0"/>
            </p:cNvCxnSpPr>
            <p:nvPr/>
          </p:nvCxnSpPr>
          <p:spPr>
            <a:xfrm>
              <a:off x="5008742" y="2698949"/>
              <a:ext cx="455179" cy="5815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endCxn id="35" idx="7"/>
            </p:cNvCxnSpPr>
            <p:nvPr/>
          </p:nvCxnSpPr>
          <p:spPr>
            <a:xfrm flipH="1">
              <a:off x="4960228" y="3637654"/>
              <a:ext cx="392066" cy="5206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1" idx="6"/>
              <a:endCxn id="37" idx="1"/>
            </p:cNvCxnSpPr>
            <p:nvPr/>
          </p:nvCxnSpPr>
          <p:spPr>
            <a:xfrm>
              <a:off x="5024045" y="3144789"/>
              <a:ext cx="285810" cy="1942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9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0047939"/>
                </p:ext>
              </p:extLst>
            </p:nvPr>
          </p:nvGraphicFramePr>
          <p:xfrm>
            <a:off x="5359748" y="3350054"/>
            <a:ext cx="267653" cy="23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91960" imgH="253800" progId="Equation.DSMT4">
                    <p:embed/>
                  </p:oleObj>
                </mc:Choice>
                <mc:Fallback>
                  <p:oleObj name="Equation" r:id="rId14" imgW="2919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359748" y="3350054"/>
                          <a:ext cx="267653" cy="23274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Oval 49"/>
            <p:cNvSpPr/>
            <p:nvPr/>
          </p:nvSpPr>
          <p:spPr>
            <a:xfrm>
              <a:off x="5917004" y="3285356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5681802" y="3473267"/>
              <a:ext cx="2352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6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3166620"/>
                </p:ext>
              </p:extLst>
            </p:nvPr>
          </p:nvGraphicFramePr>
          <p:xfrm>
            <a:off x="6020119" y="3315614"/>
            <a:ext cx="212109" cy="339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720" imgH="203040" progId="Equation.DSMT4">
                    <p:embed/>
                  </p:oleObj>
                </mc:Choice>
                <mc:Fallback>
                  <p:oleObj name="Equation" r:id="rId16" imgW="1267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020119" y="3315614"/>
                          <a:ext cx="212109" cy="3393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Oval 42"/>
            <p:cNvSpPr/>
            <p:nvPr/>
          </p:nvSpPr>
          <p:spPr>
            <a:xfrm>
              <a:off x="3449688" y="2485871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4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8421984"/>
                </p:ext>
              </p:extLst>
            </p:nvPr>
          </p:nvGraphicFramePr>
          <p:xfrm>
            <a:off x="3589886" y="2541001"/>
            <a:ext cx="155575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8560" imgH="164880" progId="Equation.DSMT4">
                    <p:embed/>
                  </p:oleObj>
                </mc:Choice>
                <mc:Fallback>
                  <p:oleObj name="Equation" r:id="rId18" imgW="88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589886" y="2541001"/>
                          <a:ext cx="155575" cy="288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6" name="Straight Arrow Connector 45"/>
            <p:cNvCxnSpPr/>
            <p:nvPr/>
          </p:nvCxnSpPr>
          <p:spPr>
            <a:xfrm>
              <a:off x="3885451" y="2683081"/>
              <a:ext cx="676560" cy="23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>
              <a:off x="4574291" y="2489882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48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2857907"/>
                </p:ext>
              </p:extLst>
            </p:nvPr>
          </p:nvGraphicFramePr>
          <p:xfrm>
            <a:off x="4628499" y="2489450"/>
            <a:ext cx="3302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90440" imgH="228600" progId="Equation.DSMT4">
                    <p:embed/>
                  </p:oleObj>
                </mc:Choice>
                <mc:Fallback>
                  <p:oleObj name="Equation" r:id="rId20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628499" y="2489450"/>
                          <a:ext cx="3302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1" name="Straight Arrow Connector 50"/>
            <p:cNvCxnSpPr>
              <a:endCxn id="37" idx="2"/>
            </p:cNvCxnSpPr>
            <p:nvPr/>
          </p:nvCxnSpPr>
          <p:spPr>
            <a:xfrm flipV="1">
              <a:off x="5026919" y="3480415"/>
              <a:ext cx="219120" cy="1102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6605073" y="2136684"/>
              <a:ext cx="0" cy="13503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V="1">
              <a:off x="6352767" y="2136684"/>
              <a:ext cx="255537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730315" y="1912676"/>
              <a:ext cx="622453" cy="46166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b="1" dirty="0"/>
                <a:t>Δ</a:t>
              </a:r>
              <a:r>
                <a:rPr lang="en-US" sz="2400" b="1" i="1" dirty="0"/>
                <a:t>w</a:t>
              </a:r>
            </a:p>
          </p:txBody>
        </p:sp>
        <p:cxnSp>
          <p:nvCxnSpPr>
            <p:cNvPr id="57" name="Straight Arrow Connector 56"/>
            <p:cNvCxnSpPr>
              <a:endCxn id="23" idx="1"/>
            </p:cNvCxnSpPr>
            <p:nvPr/>
          </p:nvCxnSpPr>
          <p:spPr>
            <a:xfrm>
              <a:off x="4806162" y="2136684"/>
              <a:ext cx="924153" cy="682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endCxn id="47" idx="0"/>
            </p:cNvCxnSpPr>
            <p:nvPr/>
          </p:nvCxnSpPr>
          <p:spPr>
            <a:xfrm flipH="1">
              <a:off x="4792173" y="2118665"/>
              <a:ext cx="880" cy="37121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med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5024044" y="5022796"/>
              <a:ext cx="637877" cy="46166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b="1" dirty="0"/>
                <a:t>Δ</a:t>
              </a:r>
              <a:r>
                <a:rPr lang="en-US" sz="2400" b="1" i="1" dirty="0"/>
                <a:t>w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671696" y="5078335"/>
              <a:ext cx="22752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= </a:t>
              </a:r>
              <a:r>
                <a:rPr lang="en-US" b="1" dirty="0">
                  <a:latin typeface="Times New Roman" panose="02020603050405020304" pitchFamily="18" charset="0"/>
                </a:rPr>
                <a:t>adjustments</a:t>
              </a:r>
              <a:r>
                <a:rPr lang="en-US" b="1" dirty="0"/>
                <a:t>  to </a:t>
              </a:r>
              <a:r>
                <a:rPr lang="en-US" b="1" i="1" dirty="0"/>
                <a:t>w</a:t>
              </a:r>
            </a:p>
          </p:txBody>
        </p:sp>
        <p:graphicFrame>
          <p:nvGraphicFramePr>
            <p:cNvPr id="75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2102117"/>
                </p:ext>
              </p:extLst>
            </p:nvPr>
          </p:nvGraphicFramePr>
          <p:xfrm>
            <a:off x="7749876" y="3287295"/>
            <a:ext cx="273900" cy="398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39680" imgH="203040" progId="Equation.DSMT4">
                    <p:embed/>
                  </p:oleObj>
                </mc:Choice>
                <mc:Fallback>
                  <p:oleObj name="Equation" r:id="rId22" imgW="1396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749876" y="3287295"/>
                          <a:ext cx="273900" cy="398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Oval 52"/>
            <p:cNvSpPr/>
            <p:nvPr/>
          </p:nvSpPr>
          <p:spPr>
            <a:xfrm>
              <a:off x="6783137" y="3268789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54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094695"/>
                </p:ext>
              </p:extLst>
            </p:nvPr>
          </p:nvGraphicFramePr>
          <p:xfrm>
            <a:off x="6878638" y="3343275"/>
            <a:ext cx="223837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64880" imgH="203040" progId="Equation.DSMT4">
                    <p:embed/>
                  </p:oleObj>
                </mc:Choice>
                <mc:Fallback>
                  <p:oleObj name="Equation" r:id="rId24" imgW="1648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6878638" y="3343275"/>
                          <a:ext cx="223837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3" name="Straight Arrow Connector 62"/>
            <p:cNvCxnSpPr/>
            <p:nvPr/>
          </p:nvCxnSpPr>
          <p:spPr>
            <a:xfrm>
              <a:off x="3890637" y="3151968"/>
              <a:ext cx="676560" cy="23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3908097" y="3588825"/>
              <a:ext cx="676560" cy="23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3907990" y="4293251"/>
              <a:ext cx="676560" cy="23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V="1">
              <a:off x="6344820" y="3465341"/>
              <a:ext cx="438317" cy="22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2" name="Object 11" descr="MATHML object">
            <a:extLst>
              <a:ext uri="{FF2B5EF4-FFF2-40B4-BE49-F238E27FC236}">
                <a16:creationId xmlns:a16="http://schemas.microsoft.com/office/drawing/2014/main" id="{AA0CFEC9-98F2-AF79-DD2D-BBFB204B3F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709261"/>
              </p:ext>
            </p:extLst>
          </p:nvPr>
        </p:nvGraphicFramePr>
        <p:xfrm>
          <a:off x="684258" y="4048274"/>
          <a:ext cx="2551484" cy="2163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87240" imgH="1346040" progId="Equation.DSMT4">
                  <p:embed/>
                </p:oleObj>
              </mc:Choice>
              <mc:Fallback>
                <p:oleObj name="Equation" r:id="rId26" imgW="158724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84258" y="4048274"/>
                        <a:ext cx="2551484" cy="2163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084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2660"/>
          </a:xfrm>
        </p:spPr>
        <p:txBody>
          <a:bodyPr>
            <a:normAutofit/>
          </a:bodyPr>
          <a:lstStyle/>
          <a:p>
            <a:r>
              <a:rPr lang="en-US" dirty="0"/>
              <a:t>Adaline activation function, </a:t>
            </a:r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470849"/>
              </p:ext>
            </p:extLst>
          </p:nvPr>
        </p:nvGraphicFramePr>
        <p:xfrm>
          <a:off x="1039813" y="2085975"/>
          <a:ext cx="33242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431640" progId="Equation.DSMT4">
                  <p:embed/>
                </p:oleObj>
              </mc:Choice>
              <mc:Fallback>
                <p:oleObj name="Equation" r:id="rId2" imgW="1536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9813" y="2085975"/>
                        <a:ext cx="332422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759863"/>
              </p:ext>
            </p:extLst>
          </p:nvPr>
        </p:nvGraphicFramePr>
        <p:xfrm>
          <a:off x="1338263" y="3513138"/>
          <a:ext cx="16922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228600" progId="Equation.DSMT4">
                  <p:embed/>
                </p:oleObj>
              </mc:Choice>
              <mc:Fallback>
                <p:oleObj name="Equation" r:id="rId4" imgW="965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38263" y="3513138"/>
                        <a:ext cx="16922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294602"/>
              </p:ext>
            </p:extLst>
          </p:nvPr>
        </p:nvGraphicFramePr>
        <p:xfrm>
          <a:off x="6136351" y="2440716"/>
          <a:ext cx="576776" cy="384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560" imgH="203040" progId="Equation.DSMT4">
                  <p:embed/>
                </p:oleObj>
              </mc:Choice>
              <mc:Fallback>
                <p:oleObj name="Equation" r:id="rId6" imgW="304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36351" y="2440716"/>
                        <a:ext cx="576776" cy="384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 descr="Plot of the Adaline activation function">
            <a:extLst>
              <a:ext uri="{FF2B5EF4-FFF2-40B4-BE49-F238E27FC236}">
                <a16:creationId xmlns:a16="http://schemas.microsoft.com/office/drawing/2014/main" id="{A2BECA7C-5092-C432-9D4A-849C36E4B51A}"/>
              </a:ext>
            </a:extLst>
          </p:cNvPr>
          <p:cNvGrpSpPr/>
          <p:nvPr/>
        </p:nvGrpSpPr>
        <p:grpSpPr>
          <a:xfrm>
            <a:off x="5429326" y="3207224"/>
            <a:ext cx="2067586" cy="1720307"/>
            <a:chOff x="5429326" y="3207224"/>
            <a:chExt cx="2067586" cy="1720307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6393976" y="3207224"/>
              <a:ext cx="6824" cy="135795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5842522" y="3908494"/>
              <a:ext cx="1315730" cy="1250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6269440" y="3438778"/>
              <a:ext cx="249071" cy="454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6269441" y="4346811"/>
              <a:ext cx="286603" cy="227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7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2423159"/>
                </p:ext>
              </p:extLst>
            </p:nvPr>
          </p:nvGraphicFramePr>
          <p:xfrm>
            <a:off x="5571780" y="3305713"/>
            <a:ext cx="132770" cy="246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8560" imgH="164880" progId="Equation.DSMT4">
                    <p:embed/>
                  </p:oleObj>
                </mc:Choice>
                <mc:Fallback>
                  <p:oleObj name="Equation" r:id="rId8" imgW="88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571780" y="3305713"/>
                          <a:ext cx="132770" cy="2465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1040018"/>
                </p:ext>
              </p:extLst>
            </p:nvPr>
          </p:nvGraphicFramePr>
          <p:xfrm>
            <a:off x="5553075" y="3795713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20" imgH="177480" progId="Equation.DSMT4">
                    <p:embed/>
                  </p:oleObj>
                </mc:Choice>
                <mc:Fallback>
                  <p:oleObj name="Equation" r:id="rId10" imgW="1267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553075" y="3795713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9" name="Straight Connector 28"/>
            <p:cNvCxnSpPr/>
            <p:nvPr/>
          </p:nvCxnSpPr>
          <p:spPr>
            <a:xfrm flipH="1">
              <a:off x="6814244" y="3790896"/>
              <a:ext cx="5117" cy="23519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5996369" y="3437023"/>
              <a:ext cx="832631" cy="9175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2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1633617"/>
                </p:ext>
              </p:extLst>
            </p:nvPr>
          </p:nvGraphicFramePr>
          <p:xfrm>
            <a:off x="7257199" y="3808413"/>
            <a:ext cx="239713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0" imgH="126720" progId="Equation.DSMT4">
                    <p:embed/>
                  </p:oleObj>
                </mc:Choice>
                <mc:Fallback>
                  <p:oleObj name="Equation" r:id="rId12" imgW="126720" imgH="12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257199" y="3808413"/>
                          <a:ext cx="239713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Straight Connector 20"/>
            <p:cNvCxnSpPr/>
            <p:nvPr/>
          </p:nvCxnSpPr>
          <p:spPr>
            <a:xfrm flipH="1">
              <a:off x="5991946" y="3790896"/>
              <a:ext cx="5117" cy="23519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7295843"/>
                </p:ext>
              </p:extLst>
            </p:nvPr>
          </p:nvGraphicFramePr>
          <p:xfrm>
            <a:off x="6306747" y="4662419"/>
            <a:ext cx="190500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77480" progId="Equation.DSMT4">
                    <p:embed/>
                  </p:oleObj>
                </mc:Choice>
                <mc:Fallback>
                  <p:oleObj name="Equation" r:id="rId14" imgW="1267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306747" y="4662419"/>
                          <a:ext cx="190500" cy="2651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5797505"/>
                </p:ext>
              </p:extLst>
            </p:nvPr>
          </p:nvGraphicFramePr>
          <p:xfrm>
            <a:off x="5429326" y="4222750"/>
            <a:ext cx="282575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440" imgH="164880" progId="Equation.DSMT4">
                    <p:embed/>
                  </p:oleObj>
                </mc:Choice>
                <mc:Fallback>
                  <p:oleObj name="Equation" r:id="rId16" imgW="19044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429326" y="4222750"/>
                          <a:ext cx="282575" cy="247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8901184"/>
                </p:ext>
              </p:extLst>
            </p:nvPr>
          </p:nvGraphicFramePr>
          <p:xfrm>
            <a:off x="6762615" y="4653252"/>
            <a:ext cx="132770" cy="246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8560" imgH="164880" progId="Equation.DSMT4">
                    <p:embed/>
                  </p:oleObj>
                </mc:Choice>
                <mc:Fallback>
                  <p:oleObj name="Equation" r:id="rId8" imgW="88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762615" y="4653252"/>
                          <a:ext cx="132770" cy="2465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9470277"/>
                </p:ext>
              </p:extLst>
            </p:nvPr>
          </p:nvGraphicFramePr>
          <p:xfrm>
            <a:off x="5813288" y="4665093"/>
            <a:ext cx="282575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440" imgH="164880" progId="Equation.DSMT4">
                    <p:embed/>
                  </p:oleObj>
                </mc:Choice>
                <mc:Fallback>
                  <p:oleObj name="Equation" r:id="rId16" imgW="19044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813288" y="4665093"/>
                          <a:ext cx="282575" cy="247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98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0723"/>
          </a:xfrm>
        </p:spPr>
        <p:txBody>
          <a:bodyPr>
            <a:normAutofit/>
          </a:bodyPr>
          <a:lstStyle/>
          <a:p>
            <a:r>
              <a:rPr lang="en-US" dirty="0"/>
              <a:t>Adaline quantizer</a:t>
            </a:r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157435"/>
              </p:ext>
            </p:extLst>
          </p:nvPr>
        </p:nvGraphicFramePr>
        <p:xfrm>
          <a:off x="1039813" y="2085975"/>
          <a:ext cx="33242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431640" progId="Equation.DSMT4">
                  <p:embed/>
                </p:oleObj>
              </mc:Choice>
              <mc:Fallback>
                <p:oleObj name="Equation" r:id="rId2" imgW="1536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9813" y="2085975"/>
                        <a:ext cx="332422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255562"/>
              </p:ext>
            </p:extLst>
          </p:nvPr>
        </p:nvGraphicFramePr>
        <p:xfrm>
          <a:off x="1023011" y="3363246"/>
          <a:ext cx="3340100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760" imgH="457200" progId="Equation.DSMT4">
                  <p:embed/>
                </p:oleObj>
              </mc:Choice>
              <mc:Fallback>
                <p:oleObj name="Equation" r:id="rId4" imgW="19047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3011" y="3363246"/>
                        <a:ext cx="3340100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 descr="Plot of the Heaviside step function as a function of z">
            <a:extLst>
              <a:ext uri="{FF2B5EF4-FFF2-40B4-BE49-F238E27FC236}">
                <a16:creationId xmlns:a16="http://schemas.microsoft.com/office/drawing/2014/main" id="{DBDF00B7-D15F-493C-3B71-559750719631}"/>
              </a:ext>
            </a:extLst>
          </p:cNvPr>
          <p:cNvGrpSpPr/>
          <p:nvPr/>
        </p:nvGrpSpPr>
        <p:grpSpPr>
          <a:xfrm>
            <a:off x="4238625" y="2392363"/>
            <a:ext cx="4637088" cy="2755900"/>
            <a:chOff x="4238625" y="2392363"/>
            <a:chExt cx="4637088" cy="2755900"/>
          </a:xfrm>
        </p:grpSpPr>
        <p:graphicFrame>
          <p:nvGraphicFramePr>
            <p:cNvPr id="9" name="Object 8" descr="MATHML object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7049722"/>
                </p:ext>
              </p:extLst>
            </p:nvPr>
          </p:nvGraphicFramePr>
          <p:xfrm>
            <a:off x="4238625" y="4665663"/>
            <a:ext cx="4637088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50880" imgH="253800" progId="Equation.DSMT4">
                    <p:embed/>
                  </p:oleObj>
                </mc:Choice>
                <mc:Fallback>
                  <p:oleObj name="Equation" r:id="rId6" imgW="2450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238625" y="4665663"/>
                          <a:ext cx="4637088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4" descr="Plot of the Adaline quantizer">
              <a:extLst>
                <a:ext uri="{FF2B5EF4-FFF2-40B4-BE49-F238E27FC236}">
                  <a16:creationId xmlns:a16="http://schemas.microsoft.com/office/drawing/2014/main" id="{E2F9A4BD-79FE-F9A7-CD35-62D3DE86DAE3}"/>
                </a:ext>
              </a:extLst>
            </p:cNvPr>
            <p:cNvGrpSpPr/>
            <p:nvPr/>
          </p:nvGrpSpPr>
          <p:grpSpPr>
            <a:xfrm>
              <a:off x="5553075" y="2866529"/>
              <a:ext cx="1943837" cy="1698647"/>
              <a:chOff x="5553075" y="2866529"/>
              <a:chExt cx="1943837" cy="1698647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6393976" y="3207224"/>
                <a:ext cx="6824" cy="1357952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H="1">
                <a:off x="5842522" y="3908494"/>
                <a:ext cx="1315730" cy="12504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269440" y="3438778"/>
                <a:ext cx="249071" cy="4548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H="1" flipV="1">
                <a:off x="6269441" y="4346811"/>
                <a:ext cx="286603" cy="227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7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7463681"/>
                  </p:ext>
                </p:extLst>
              </p:nvPr>
            </p:nvGraphicFramePr>
            <p:xfrm>
              <a:off x="5571780" y="3305713"/>
              <a:ext cx="132770" cy="2465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88560" imgH="164880" progId="Equation.DSMT4">
                      <p:embed/>
                    </p:oleObj>
                  </mc:Choice>
                  <mc:Fallback>
                    <p:oleObj name="Equation" r:id="rId8" imgW="8856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5571780" y="3305713"/>
                            <a:ext cx="132770" cy="24657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25434679"/>
                  </p:ext>
                </p:extLst>
              </p:nvPr>
            </p:nvGraphicFramePr>
            <p:xfrm>
              <a:off x="5553075" y="3795713"/>
              <a:ext cx="1905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26720" imgH="177480" progId="Equation.DSMT4">
                      <p:embed/>
                    </p:oleObj>
                  </mc:Choice>
                  <mc:Fallback>
                    <p:oleObj name="Equation" r:id="rId10" imgW="12672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5553075" y="3795713"/>
                            <a:ext cx="1905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9" name="Straight Connector 28"/>
              <p:cNvCxnSpPr/>
              <p:nvPr/>
            </p:nvCxnSpPr>
            <p:spPr>
              <a:xfrm flipH="1">
                <a:off x="6810233" y="3790896"/>
                <a:ext cx="5117" cy="2351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 descr="Plot of the Heavidside step function"/>
              <p:cNvCxnSpPr/>
              <p:nvPr/>
            </p:nvCxnSpPr>
            <p:spPr>
              <a:xfrm flipV="1">
                <a:off x="5842522" y="3914746"/>
                <a:ext cx="570220" cy="21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V="1">
                <a:off x="6385872" y="3448445"/>
                <a:ext cx="772380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flipV="1">
                <a:off x="6400800" y="3445206"/>
                <a:ext cx="0" cy="48449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2" name="Object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4221674"/>
                  </p:ext>
                </p:extLst>
              </p:nvPr>
            </p:nvGraphicFramePr>
            <p:xfrm>
              <a:off x="7257199" y="3808413"/>
              <a:ext cx="239713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26720" imgH="126720" progId="Equation.DSMT4">
                      <p:embed/>
                    </p:oleObj>
                  </mc:Choice>
                  <mc:Fallback>
                    <p:oleObj name="Equation" r:id="rId12" imgW="126720" imgH="126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7257199" y="3808413"/>
                            <a:ext cx="239713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1" name="Straight Connector 20"/>
              <p:cNvCxnSpPr/>
              <p:nvPr/>
            </p:nvCxnSpPr>
            <p:spPr>
              <a:xfrm flipH="1">
                <a:off x="6028043" y="3790896"/>
                <a:ext cx="5117" cy="2351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2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06660597"/>
                  </p:ext>
                </p:extLst>
              </p:nvPr>
            </p:nvGraphicFramePr>
            <p:xfrm>
              <a:off x="6299200" y="2866529"/>
              <a:ext cx="190500" cy="265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26720" imgH="177480" progId="Equation.DSMT4">
                      <p:embed/>
                    </p:oleObj>
                  </mc:Choice>
                  <mc:Fallback>
                    <p:oleObj name="Equation" r:id="rId14" imgW="12672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6299200" y="2866529"/>
                            <a:ext cx="190500" cy="2651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3" name="Object 22" descr="MATHML object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1006519"/>
                </p:ext>
              </p:extLst>
            </p:nvPr>
          </p:nvGraphicFramePr>
          <p:xfrm>
            <a:off x="5872163" y="2392363"/>
            <a:ext cx="1106487" cy="481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83920" imgH="253800" progId="Equation.DSMT4">
                    <p:embed/>
                  </p:oleObj>
                </mc:Choice>
                <mc:Fallback>
                  <p:oleObj name="Equation" r:id="rId16" imgW="58392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872163" y="2392363"/>
                          <a:ext cx="1106487" cy="4810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56489"/>
          </a:xfrm>
        </p:spPr>
        <p:txBody>
          <a:bodyPr/>
          <a:lstStyle/>
          <a:p>
            <a:r>
              <a:rPr lang="en-US" dirty="0"/>
              <a:t>Cost function</a:t>
            </a:r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096520"/>
              </p:ext>
            </p:extLst>
          </p:nvPr>
        </p:nvGraphicFramePr>
        <p:xfrm>
          <a:off x="2212630" y="2096281"/>
          <a:ext cx="3835887" cy="1332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480" imgH="609480" progId="Equation.DSMT4">
                  <p:embed/>
                </p:oleObj>
              </mc:Choice>
              <mc:Fallback>
                <p:oleObj name="Equation" r:id="rId3" imgW="17524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12630" y="2096281"/>
                        <a:ext cx="3835887" cy="13327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21474" y="3377822"/>
            <a:ext cx="6373505" cy="19038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J(w)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convex function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and, therefore, we can use the technique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 minimum and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minimum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minimum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556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482" y="339518"/>
            <a:ext cx="8092563" cy="742029"/>
          </a:xfrm>
        </p:spPr>
        <p:txBody>
          <a:bodyPr/>
          <a:lstStyle/>
          <a:p>
            <a:r>
              <a:rPr lang="en-US" dirty="0"/>
              <a:t>First derivative of the cost function</a:t>
            </a:r>
            <a:r>
              <a:rPr lang="en-US" b="0" i="1" dirty="0"/>
              <a:t> </a:t>
            </a:r>
            <a:r>
              <a:rPr lang="en-US" sz="2000" dirty="0"/>
              <a:t>(1)</a:t>
            </a:r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284381"/>
              </p:ext>
            </p:extLst>
          </p:nvPr>
        </p:nvGraphicFramePr>
        <p:xfrm>
          <a:off x="1966842" y="1424911"/>
          <a:ext cx="4360863" cy="474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40080" imgH="3632040" progId="Equation.DSMT4">
                  <p:embed/>
                </p:oleObj>
              </mc:Choice>
              <mc:Fallback>
                <p:oleObj name="Equation" r:id="rId3" imgW="3340080" imgH="3632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6842" y="1424911"/>
                        <a:ext cx="4360863" cy="4740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00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313" y="325357"/>
            <a:ext cx="8023737" cy="697198"/>
          </a:xfrm>
        </p:spPr>
        <p:txBody>
          <a:bodyPr>
            <a:normAutofit/>
          </a:bodyPr>
          <a:lstStyle/>
          <a:p>
            <a:r>
              <a:rPr lang="en-US" dirty="0"/>
              <a:t>First derivative of the cost function</a:t>
            </a:r>
            <a:r>
              <a:rPr lang="en-US" i="1" dirty="0"/>
              <a:t> </a:t>
            </a:r>
            <a:r>
              <a:rPr lang="en-US" sz="2200" dirty="0"/>
              <a:t>(2)</a:t>
            </a:r>
            <a:endParaRPr lang="en-US" sz="2200" i="1" dirty="0"/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651596"/>
              </p:ext>
            </p:extLst>
          </p:nvPr>
        </p:nvGraphicFramePr>
        <p:xfrm>
          <a:off x="2915522" y="2082538"/>
          <a:ext cx="3312956" cy="2155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320" imgH="1257120" progId="Equation.DSMT4">
                  <p:embed/>
                </p:oleObj>
              </mc:Choice>
              <mc:Fallback>
                <p:oleObj name="Equation" r:id="rId3" imgW="193032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5522" y="2082538"/>
                        <a:ext cx="3312956" cy="2155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5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25358"/>
            <a:ext cx="8030854" cy="600889"/>
          </a:xfrm>
        </p:spPr>
        <p:txBody>
          <a:bodyPr>
            <a:normAutofit/>
          </a:bodyPr>
          <a:lstStyle/>
          <a:p>
            <a:r>
              <a:rPr lang="en-US" dirty="0"/>
              <a:t>Second derivative of the cost function</a:t>
            </a:r>
            <a:r>
              <a:rPr lang="en-US" i="1" dirty="0"/>
              <a:t> </a:t>
            </a:r>
            <a:r>
              <a:rPr lang="en-US" sz="2200" dirty="0"/>
              <a:t>(1)</a:t>
            </a:r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610129"/>
              </p:ext>
            </p:extLst>
          </p:nvPr>
        </p:nvGraphicFramePr>
        <p:xfrm>
          <a:off x="2454275" y="1223536"/>
          <a:ext cx="5032375" cy="483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33640" imgH="2819160" progId="Equation.DSMT4">
                  <p:embed/>
                </p:oleObj>
              </mc:Choice>
              <mc:Fallback>
                <p:oleObj name="Equation" r:id="rId3" imgW="2933640" imgH="281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4275" y="1223536"/>
                        <a:ext cx="5032375" cy="483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92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314" y="250087"/>
            <a:ext cx="8030854" cy="618540"/>
          </a:xfrm>
        </p:spPr>
        <p:txBody>
          <a:bodyPr/>
          <a:lstStyle/>
          <a:p>
            <a:r>
              <a:rPr lang="en-US" dirty="0"/>
              <a:t>Second derivative of the cost function </a:t>
            </a:r>
            <a:r>
              <a:rPr lang="en-US" sz="2000" dirty="0"/>
              <a:t>(2)</a:t>
            </a:r>
            <a:endParaRPr lang="en-US" sz="2000" b="0" i="1" dirty="0"/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641973"/>
              </p:ext>
            </p:extLst>
          </p:nvPr>
        </p:nvGraphicFramePr>
        <p:xfrm>
          <a:off x="3159149" y="1721750"/>
          <a:ext cx="3484562" cy="230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840" imgH="1346040" progId="Equation.DSMT4">
                  <p:embed/>
                </p:oleObj>
              </mc:Choice>
              <mc:Fallback>
                <p:oleObj name="Equation" r:id="rId3" imgW="203184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59149" y="1721750"/>
                        <a:ext cx="3484562" cy="2309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0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73299"/>
          </a:xfrm>
        </p:spPr>
        <p:txBody>
          <a:bodyPr>
            <a:normAutofit/>
          </a:bodyPr>
          <a:lstStyle/>
          <a:p>
            <a:r>
              <a:rPr lang="en-US" dirty="0"/>
              <a:t>Training a Perceptron</a:t>
            </a:r>
          </a:p>
        </p:txBody>
      </p:sp>
      <p:grpSp>
        <p:nvGrpSpPr>
          <p:cNvPr id="4" name="Group 3" descr="Image of the flow in training a perceptron">
            <a:extLst>
              <a:ext uri="{FF2B5EF4-FFF2-40B4-BE49-F238E27FC236}">
                <a16:creationId xmlns:a16="http://schemas.microsoft.com/office/drawing/2014/main" id="{E7B1994C-B4AB-F2EB-6A16-AD9F5619A49B}"/>
              </a:ext>
            </a:extLst>
          </p:cNvPr>
          <p:cNvGrpSpPr/>
          <p:nvPr/>
        </p:nvGrpSpPr>
        <p:grpSpPr>
          <a:xfrm>
            <a:off x="2377877" y="1617260"/>
            <a:ext cx="5910624" cy="3863190"/>
            <a:chOff x="2377877" y="1617260"/>
            <a:chExt cx="5910624" cy="3863190"/>
          </a:xfrm>
        </p:grpSpPr>
        <p:cxnSp>
          <p:nvCxnSpPr>
            <p:cNvPr id="76" name="Straight Arrow Connector 75"/>
            <p:cNvCxnSpPr/>
            <p:nvPr/>
          </p:nvCxnSpPr>
          <p:spPr>
            <a:xfrm>
              <a:off x="5064152" y="3340442"/>
              <a:ext cx="1" cy="6329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5058324" y="2885159"/>
              <a:ext cx="1" cy="6329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36" idx="4"/>
            </p:cNvCxnSpPr>
            <p:nvPr/>
          </p:nvCxnSpPr>
          <p:spPr>
            <a:xfrm>
              <a:off x="5070889" y="3794671"/>
              <a:ext cx="1649" cy="29654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4337222" y="1617260"/>
              <a:ext cx="2987317" cy="316935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6617492" y="3476404"/>
              <a:ext cx="1259781" cy="101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ontent Placeholder 4"/>
            <p:cNvSpPr txBox="1">
              <a:spLocks/>
            </p:cNvSpPr>
            <p:nvPr/>
          </p:nvSpPr>
          <p:spPr>
            <a:xfrm>
              <a:off x="2377877" y="3164359"/>
              <a:ext cx="1021328" cy="409659"/>
            </a:xfrm>
            <a:prstGeom prst="rect">
              <a:avLst/>
            </a:prstGeom>
          </p:spPr>
          <p:txBody>
            <a:bodyPr vert="horz" lIns="68580" tIns="34290" rIns="68580" bIns="34290" rtlCol="0" anchor="ctr" anchorCtr="1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63679" y="2940834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6146736"/>
                </p:ext>
              </p:extLst>
            </p:nvPr>
          </p:nvGraphicFramePr>
          <p:xfrm>
            <a:off x="3548209" y="2940672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80" imgH="228600" progId="Equation.DSMT4">
                    <p:embed/>
                  </p:oleObj>
                </mc:Choice>
                <mc:Fallback>
                  <p:oleObj name="Equation" r:id="rId2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548209" y="2940672"/>
                          <a:ext cx="2667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190320"/>
                </p:ext>
              </p:extLst>
            </p:nvPr>
          </p:nvGraphicFramePr>
          <p:xfrm>
            <a:off x="3514873" y="4048274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0440" imgH="228600" progId="Equation.DSMT4">
                    <p:embed/>
                  </p:oleObj>
                </mc:Choice>
                <mc:Fallback>
                  <p:oleObj name="Equation" r:id="rId4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514873" y="4048274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7207444"/>
                </p:ext>
              </p:extLst>
            </p:nvPr>
          </p:nvGraphicFramePr>
          <p:xfrm>
            <a:off x="3536898" y="3361201"/>
            <a:ext cx="28932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228600" progId="Equation.DSMT4">
                    <p:embed/>
                  </p:oleObj>
                </mc:Choice>
                <mc:Fallback>
                  <p:oleObj name="Equation" r:id="rId6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536898" y="3361201"/>
                          <a:ext cx="28932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18"/>
            <p:cNvSpPr/>
            <p:nvPr/>
          </p:nvSpPr>
          <p:spPr>
            <a:xfrm>
              <a:off x="3463678" y="4095689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3463679" y="339478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TextBox 20"/>
            <p:cNvSpPr txBox="1"/>
            <p:nvPr/>
          </p:nvSpPr>
          <p:spPr>
            <a:xfrm rot="5400000">
              <a:off x="3597002" y="3692426"/>
              <a:ext cx="30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…</a:t>
              </a:r>
            </a:p>
          </p:txBody>
        </p:sp>
        <p:cxnSp>
          <p:nvCxnSpPr>
            <p:cNvPr id="22" name="Straight Arrow Connector 21"/>
            <p:cNvCxnSpPr>
              <a:stCxn id="10" idx="6"/>
              <a:endCxn id="31" idx="2"/>
            </p:cNvCxnSpPr>
            <p:nvPr/>
          </p:nvCxnSpPr>
          <p:spPr>
            <a:xfrm>
              <a:off x="3899440" y="3140778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4853007" y="2940834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0547641"/>
                </p:ext>
              </p:extLst>
            </p:nvPr>
          </p:nvGraphicFramePr>
          <p:xfrm>
            <a:off x="4916120" y="2940672"/>
            <a:ext cx="31075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228600" progId="Equation.DSMT4">
                    <p:embed/>
                  </p:oleObj>
                </mc:Choice>
                <mc:Fallback>
                  <p:oleObj name="Equation" r:id="rId8" imgW="1774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916120" y="2940672"/>
                          <a:ext cx="31075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7970457"/>
                </p:ext>
              </p:extLst>
            </p:nvPr>
          </p:nvGraphicFramePr>
          <p:xfrm>
            <a:off x="4882781" y="4047953"/>
            <a:ext cx="37742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5640" imgH="228600" progId="Equation.DSMT4">
                    <p:embed/>
                  </p:oleObj>
                </mc:Choice>
                <mc:Fallback>
                  <p:oleObj name="Equation" r:id="rId10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882781" y="4047953"/>
                          <a:ext cx="377428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2846127"/>
                </p:ext>
              </p:extLst>
            </p:nvPr>
          </p:nvGraphicFramePr>
          <p:xfrm>
            <a:off x="4904212" y="3360963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440" imgH="228600" progId="Equation.DSMT4">
                    <p:embed/>
                  </p:oleObj>
                </mc:Choice>
                <mc:Fallback>
                  <p:oleObj name="Equation" r:id="rId12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904212" y="3360963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Oval 34"/>
            <p:cNvSpPr/>
            <p:nvPr/>
          </p:nvSpPr>
          <p:spPr>
            <a:xfrm>
              <a:off x="4853006" y="4095689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4853007" y="339478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5510764" y="3276460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3899440" y="3589012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3899440" y="4295633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37" idx="0"/>
            </p:cNvCxnSpPr>
            <p:nvPr/>
          </p:nvCxnSpPr>
          <p:spPr>
            <a:xfrm>
              <a:off x="5273467" y="2694938"/>
              <a:ext cx="455179" cy="5815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endCxn id="35" idx="7"/>
            </p:cNvCxnSpPr>
            <p:nvPr/>
          </p:nvCxnSpPr>
          <p:spPr>
            <a:xfrm flipH="1">
              <a:off x="5224953" y="3633643"/>
              <a:ext cx="392066" cy="5206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1" idx="6"/>
              <a:endCxn id="37" idx="1"/>
            </p:cNvCxnSpPr>
            <p:nvPr/>
          </p:nvCxnSpPr>
          <p:spPr>
            <a:xfrm>
              <a:off x="5288770" y="3140778"/>
              <a:ext cx="285810" cy="1942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9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9588404"/>
                </p:ext>
              </p:extLst>
            </p:nvPr>
          </p:nvGraphicFramePr>
          <p:xfrm>
            <a:off x="5624473" y="3346043"/>
            <a:ext cx="267653" cy="23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91960" imgH="253800" progId="Equation.DSMT4">
                    <p:embed/>
                  </p:oleObj>
                </mc:Choice>
                <mc:Fallback>
                  <p:oleObj name="Equation" r:id="rId14" imgW="2919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624473" y="3346043"/>
                          <a:ext cx="267653" cy="23274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Oval 49"/>
            <p:cNvSpPr/>
            <p:nvPr/>
          </p:nvSpPr>
          <p:spPr>
            <a:xfrm>
              <a:off x="6181729" y="3281345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52" name="Straight Arrow Connector 51"/>
            <p:cNvCxnSpPr>
              <a:endCxn id="50" idx="2"/>
            </p:cNvCxnSpPr>
            <p:nvPr/>
          </p:nvCxnSpPr>
          <p:spPr>
            <a:xfrm>
              <a:off x="5946527" y="3481289"/>
              <a:ext cx="2352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6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1736804"/>
                </p:ext>
              </p:extLst>
            </p:nvPr>
          </p:nvGraphicFramePr>
          <p:xfrm>
            <a:off x="6284844" y="3311603"/>
            <a:ext cx="212109" cy="339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720" imgH="203040" progId="Equation.DSMT4">
                    <p:embed/>
                  </p:oleObj>
                </mc:Choice>
                <mc:Fallback>
                  <p:oleObj name="Equation" r:id="rId16" imgW="1267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284844" y="3311603"/>
                          <a:ext cx="212109" cy="3393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Oval 42"/>
            <p:cNvSpPr/>
            <p:nvPr/>
          </p:nvSpPr>
          <p:spPr>
            <a:xfrm>
              <a:off x="3449688" y="2485871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4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8392291"/>
                </p:ext>
              </p:extLst>
            </p:nvPr>
          </p:nvGraphicFramePr>
          <p:xfrm>
            <a:off x="3589886" y="2541001"/>
            <a:ext cx="155575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8560" imgH="164880" progId="Equation.DSMT4">
                    <p:embed/>
                  </p:oleObj>
                </mc:Choice>
                <mc:Fallback>
                  <p:oleObj name="Equation" r:id="rId18" imgW="88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589886" y="2541001"/>
                          <a:ext cx="155575" cy="288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6" name="Straight Arrow Connector 45"/>
            <p:cNvCxnSpPr>
              <a:stCxn id="43" idx="6"/>
              <a:endCxn id="47" idx="2"/>
            </p:cNvCxnSpPr>
            <p:nvPr/>
          </p:nvCxnSpPr>
          <p:spPr>
            <a:xfrm>
              <a:off x="3885449" y="2685815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>
              <a:off x="4839016" y="2485871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48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9191413"/>
                </p:ext>
              </p:extLst>
            </p:nvPr>
          </p:nvGraphicFramePr>
          <p:xfrm>
            <a:off x="4893224" y="2485439"/>
            <a:ext cx="3302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90440" imgH="228600" progId="Equation.DSMT4">
                    <p:embed/>
                  </p:oleObj>
                </mc:Choice>
                <mc:Fallback>
                  <p:oleObj name="Equation" r:id="rId20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893224" y="2485439"/>
                          <a:ext cx="3302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1" name="Straight Arrow Connector 50"/>
            <p:cNvCxnSpPr>
              <a:endCxn id="37" idx="2"/>
            </p:cNvCxnSpPr>
            <p:nvPr/>
          </p:nvCxnSpPr>
          <p:spPr>
            <a:xfrm flipV="1">
              <a:off x="5291644" y="3476404"/>
              <a:ext cx="219120" cy="1102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6869798" y="2132673"/>
              <a:ext cx="3231" cy="136976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V="1">
              <a:off x="6617492" y="2132673"/>
              <a:ext cx="25553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995040" y="1908665"/>
              <a:ext cx="622453" cy="461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b="1" dirty="0">
                  <a:solidFill>
                    <a:srgbClr val="FF0000"/>
                  </a:solidFill>
                </a:rPr>
                <a:t>Δ</a:t>
              </a:r>
              <a:r>
                <a:rPr lang="en-US" sz="2400" b="1" i="1" dirty="0">
                  <a:solidFill>
                    <a:srgbClr val="FF0000"/>
                  </a:solidFill>
                </a:rPr>
                <a:t>w</a:t>
              </a:r>
            </a:p>
          </p:txBody>
        </p:sp>
        <p:cxnSp>
          <p:nvCxnSpPr>
            <p:cNvPr id="57" name="Straight Arrow Connector 56"/>
            <p:cNvCxnSpPr>
              <a:endCxn id="23" idx="1"/>
            </p:cNvCxnSpPr>
            <p:nvPr/>
          </p:nvCxnSpPr>
          <p:spPr>
            <a:xfrm>
              <a:off x="5070887" y="2132673"/>
              <a:ext cx="924153" cy="68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endCxn id="47" idx="0"/>
            </p:cNvCxnSpPr>
            <p:nvPr/>
          </p:nvCxnSpPr>
          <p:spPr>
            <a:xfrm flipH="1">
              <a:off x="5056898" y="2114654"/>
              <a:ext cx="880" cy="37121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5288769" y="5018785"/>
              <a:ext cx="637877" cy="461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b="1" dirty="0">
                  <a:solidFill>
                    <a:srgbClr val="FF0000"/>
                  </a:solidFill>
                </a:rPr>
                <a:t>Δ</a:t>
              </a:r>
              <a:r>
                <a:rPr lang="en-US" sz="2400" b="1" i="1" dirty="0">
                  <a:solidFill>
                    <a:srgbClr val="FF0000"/>
                  </a:solidFill>
                </a:rPr>
                <a:t>w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936421" y="5074324"/>
              <a:ext cx="22752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= </a:t>
              </a:r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adjustments</a:t>
              </a:r>
              <a:r>
                <a:rPr lang="en-US" b="1" dirty="0">
                  <a:solidFill>
                    <a:srgbClr val="FF0000"/>
                  </a:solidFill>
                </a:rPr>
                <a:t>  to </a:t>
              </a:r>
              <a:r>
                <a:rPr lang="en-US" i="1" dirty="0">
                  <a:solidFill>
                    <a:srgbClr val="FF0000"/>
                  </a:solidFill>
                </a:rPr>
                <a:t>w</a:t>
              </a:r>
            </a:p>
          </p:txBody>
        </p:sp>
        <p:graphicFrame>
          <p:nvGraphicFramePr>
            <p:cNvPr id="75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3207617"/>
                </p:ext>
              </p:extLst>
            </p:nvPr>
          </p:nvGraphicFramePr>
          <p:xfrm>
            <a:off x="8014601" y="3283284"/>
            <a:ext cx="273900" cy="398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39680" imgH="203040" progId="Equation.DSMT4">
                    <p:embed/>
                  </p:oleObj>
                </mc:Choice>
                <mc:Fallback>
                  <p:oleObj name="Equation" r:id="rId22" imgW="1396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8014601" y="3283284"/>
                          <a:ext cx="273900" cy="398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Object 4" descr="MATHML object">
            <a:extLst>
              <a:ext uri="{FF2B5EF4-FFF2-40B4-BE49-F238E27FC236}">
                <a16:creationId xmlns:a16="http://schemas.microsoft.com/office/drawing/2014/main" id="{DD0F1320-6963-2699-6049-8E10C96117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065954"/>
              </p:ext>
            </p:extLst>
          </p:nvPr>
        </p:nvGraphicFramePr>
        <p:xfrm>
          <a:off x="378941" y="4450197"/>
          <a:ext cx="2646956" cy="161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28800" imgH="1117440" progId="Equation.DSMT4">
                  <p:embed/>
                </p:oleObj>
              </mc:Choice>
              <mc:Fallback>
                <p:oleObj name="Equation" r:id="rId24" imgW="1828800" imgH="1117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78941" y="4450197"/>
                        <a:ext cx="2646956" cy="1617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5478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Arrow Connector 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799427" y="3344453"/>
            <a:ext cx="1" cy="63290"/>
          </a:xfrm>
          <a:prstGeom prst="straightConnector1">
            <a:avLst/>
          </a:prstGeom>
          <a:ln w="38100">
            <a:solidFill>
              <a:srgbClr val="FF0000"/>
            </a:solidFill>
            <a:headEnd w="med" len="lg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793599" y="2889170"/>
            <a:ext cx="1" cy="63290"/>
          </a:xfrm>
          <a:prstGeom prst="straightConnector1">
            <a:avLst/>
          </a:prstGeom>
          <a:ln w="38100">
            <a:solidFill>
              <a:srgbClr val="FF0000"/>
            </a:solidFill>
            <a:headEnd w="med" len="lg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36" idx="4"/>
          </p:cNvCxnSpPr>
          <p:nvPr/>
        </p:nvCxnSpPr>
        <p:spPr>
          <a:xfrm>
            <a:off x="4806164" y="3798682"/>
            <a:ext cx="1649" cy="296541"/>
          </a:xfrm>
          <a:prstGeom prst="straightConnector1">
            <a:avLst/>
          </a:prstGeom>
          <a:ln w="38100">
            <a:solidFill>
              <a:srgbClr val="FF0000"/>
            </a:solidFill>
            <a:headEnd w="med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41542"/>
          </a:xfrm>
        </p:spPr>
        <p:txBody>
          <a:bodyPr>
            <a:normAutofit/>
          </a:bodyPr>
          <a:lstStyle/>
          <a:p>
            <a:r>
              <a:rPr lang="en-US" dirty="0"/>
              <a:t>Training an Adaline model </a:t>
            </a:r>
            <a:r>
              <a:rPr lang="en-US" sz="2000" dirty="0"/>
              <a:t>(1)</a:t>
            </a:r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03784" y="1621271"/>
            <a:ext cx="3015396" cy="316935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8" name="Straight Arrow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38999" y="3468382"/>
            <a:ext cx="365527" cy="20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4"/>
          <p:cNvSpPr txBox="1">
            <a:spLocks/>
          </p:cNvSpPr>
          <p:nvPr/>
        </p:nvSpPr>
        <p:spPr>
          <a:xfrm>
            <a:off x="2377877" y="3164359"/>
            <a:ext cx="1021328" cy="409659"/>
          </a:xfrm>
          <a:prstGeom prst="rect">
            <a:avLst/>
          </a:prstGeom>
        </p:spPr>
        <p:txBody>
          <a:bodyPr vert="horz" lIns="68580" tIns="34290" rIns="68580" bIns="34290" rtlCol="0" anchor="ctr" anchorCtr="1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</p:txBody>
      </p:sp>
      <p:sp>
        <p:nvSpPr>
          <p:cNvPr id="10" name="Oval 9" descr="MATHML object"/>
          <p:cNvSpPr/>
          <p:nvPr/>
        </p:nvSpPr>
        <p:spPr>
          <a:xfrm>
            <a:off x="3463679" y="2940834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aphicFrame>
        <p:nvGraphicFramePr>
          <p:cNvPr id="11" name="Object 10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462528"/>
              </p:ext>
            </p:extLst>
          </p:nvPr>
        </p:nvGraphicFramePr>
        <p:xfrm>
          <a:off x="3548209" y="2940672"/>
          <a:ext cx="2667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228600" progId="Equation.DSMT4">
                  <p:embed/>
                </p:oleObj>
              </mc:Choice>
              <mc:Fallback>
                <p:oleObj name="Equation" r:id="rId2" imgW="152280" imgH="228600" progId="Equation.DSMT4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48209" y="2940672"/>
                        <a:ext cx="2667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134501"/>
              </p:ext>
            </p:extLst>
          </p:nvPr>
        </p:nvGraphicFramePr>
        <p:xfrm>
          <a:off x="3514873" y="4048274"/>
          <a:ext cx="3333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228600" progId="Equation.DSMT4">
                  <p:embed/>
                </p:oleObj>
              </mc:Choice>
              <mc:Fallback>
                <p:oleObj name="Equation" r:id="rId4" imgW="190440" imgH="228600" progId="Equation.DSMT4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14873" y="4048274"/>
                        <a:ext cx="3333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160306"/>
              </p:ext>
            </p:extLst>
          </p:nvPr>
        </p:nvGraphicFramePr>
        <p:xfrm>
          <a:off x="3536898" y="3361201"/>
          <a:ext cx="28932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28600" progId="Equation.DSMT4">
                  <p:embed/>
                </p:oleObj>
              </mc:Choice>
              <mc:Fallback>
                <p:oleObj name="Equation" r:id="rId6" imgW="164880" imgH="22860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36898" y="3361201"/>
                        <a:ext cx="28932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Oval 18" descr="MATHML object"/>
          <p:cNvSpPr/>
          <p:nvPr/>
        </p:nvSpPr>
        <p:spPr>
          <a:xfrm>
            <a:off x="3463678" y="4095689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0" name="Oval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3679" y="3394783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1" name="TextBox 20"/>
          <p:cNvSpPr txBox="1"/>
          <p:nvPr/>
        </p:nvSpPr>
        <p:spPr>
          <a:xfrm rot="5400000">
            <a:off x="3597002" y="3692426"/>
            <a:ext cx="308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31" name="Oval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8282" y="2944845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aphicFrame>
        <p:nvGraphicFramePr>
          <p:cNvPr id="32" name="Object 3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056908"/>
              </p:ext>
            </p:extLst>
          </p:nvPr>
        </p:nvGraphicFramePr>
        <p:xfrm>
          <a:off x="4651395" y="2944683"/>
          <a:ext cx="31075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28600" progId="Equation.DSMT4">
                  <p:embed/>
                </p:oleObj>
              </mc:Choice>
              <mc:Fallback>
                <p:oleObj name="Equation" r:id="rId8" imgW="177480" imgH="228600" progId="Equation.DSMT4">
                  <p:embed/>
                  <p:pic>
                    <p:nvPicPr>
                      <p:cNvPr id="32" name="Object 3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51395" y="2944683"/>
                        <a:ext cx="310753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723249"/>
              </p:ext>
            </p:extLst>
          </p:nvPr>
        </p:nvGraphicFramePr>
        <p:xfrm>
          <a:off x="4618056" y="4051964"/>
          <a:ext cx="37742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228600" progId="Equation.DSMT4">
                  <p:embed/>
                </p:oleObj>
              </mc:Choice>
              <mc:Fallback>
                <p:oleObj name="Equation" r:id="rId10" imgW="215640" imgH="228600" progId="Equation.DSMT4">
                  <p:embed/>
                  <p:pic>
                    <p:nvPicPr>
                      <p:cNvPr id="33" name="Object 3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18056" y="4051964"/>
                        <a:ext cx="37742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18942"/>
              </p:ext>
            </p:extLst>
          </p:nvPr>
        </p:nvGraphicFramePr>
        <p:xfrm>
          <a:off x="4639487" y="3364974"/>
          <a:ext cx="3333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40" imgH="228600" progId="Equation.DSMT4">
                  <p:embed/>
                </p:oleObj>
              </mc:Choice>
              <mc:Fallback>
                <p:oleObj name="Equation" r:id="rId12" imgW="190440" imgH="228600" progId="Equation.DSMT4">
                  <p:embed/>
                  <p:pic>
                    <p:nvPicPr>
                      <p:cNvPr id="34" name="Object 3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39487" y="3364974"/>
                        <a:ext cx="3333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Oval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8281" y="4099700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6" name="Oval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8282" y="3398794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7" name="Oval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6039" y="3280471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40" name="Straight Arrow Connector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37" idx="0"/>
          </p:cNvCxnSpPr>
          <p:nvPr/>
        </p:nvCxnSpPr>
        <p:spPr>
          <a:xfrm>
            <a:off x="5008742" y="2698949"/>
            <a:ext cx="455179" cy="58152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35" idx="7"/>
          </p:cNvCxnSpPr>
          <p:nvPr/>
        </p:nvCxnSpPr>
        <p:spPr>
          <a:xfrm flipH="1">
            <a:off x="4960228" y="3637654"/>
            <a:ext cx="392066" cy="520608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31" idx="6"/>
            <a:endCxn id="37" idx="1"/>
          </p:cNvCxnSpPr>
          <p:nvPr/>
        </p:nvCxnSpPr>
        <p:spPr>
          <a:xfrm>
            <a:off x="5024045" y="3144789"/>
            <a:ext cx="285810" cy="194244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Object 48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281706"/>
              </p:ext>
            </p:extLst>
          </p:nvPr>
        </p:nvGraphicFramePr>
        <p:xfrm>
          <a:off x="5359748" y="3350054"/>
          <a:ext cx="267653" cy="232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1960" imgH="253800" progId="Equation.DSMT4">
                  <p:embed/>
                </p:oleObj>
              </mc:Choice>
              <mc:Fallback>
                <p:oleObj name="Equation" r:id="rId14" imgW="291960" imgH="25380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59748" y="3350054"/>
                        <a:ext cx="267653" cy="2327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Oval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17004" y="3285356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52" name="Straight Arrow Connector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681802" y="3473267"/>
            <a:ext cx="235202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Object 85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272411"/>
              </p:ext>
            </p:extLst>
          </p:nvPr>
        </p:nvGraphicFramePr>
        <p:xfrm>
          <a:off x="6020119" y="3315614"/>
          <a:ext cx="212109" cy="339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203040" progId="Equation.DSMT4">
                  <p:embed/>
                </p:oleObj>
              </mc:Choice>
              <mc:Fallback>
                <p:oleObj name="Equation" r:id="rId16" imgW="126720" imgH="203040" progId="Equation.DSMT4">
                  <p:embed/>
                  <p:pic>
                    <p:nvPicPr>
                      <p:cNvPr id="86" name="Object 8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20119" y="3315614"/>
                        <a:ext cx="212109" cy="3393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Oval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9688" y="2485871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aphicFrame>
        <p:nvGraphicFramePr>
          <p:cNvPr id="44" name="Object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983867"/>
              </p:ext>
            </p:extLst>
          </p:nvPr>
        </p:nvGraphicFramePr>
        <p:xfrm>
          <a:off x="3589886" y="2541001"/>
          <a:ext cx="1555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8560" imgH="164880" progId="Equation.DSMT4">
                  <p:embed/>
                </p:oleObj>
              </mc:Choice>
              <mc:Fallback>
                <p:oleObj name="Equation" r:id="rId18" imgW="88560" imgH="16488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89886" y="2541001"/>
                        <a:ext cx="155575" cy="28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Straight Arrow Connector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885451" y="2683081"/>
            <a:ext cx="676560" cy="238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4291" y="2489882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aphicFrame>
        <p:nvGraphicFramePr>
          <p:cNvPr id="48" name="Object 47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237860"/>
              </p:ext>
            </p:extLst>
          </p:nvPr>
        </p:nvGraphicFramePr>
        <p:xfrm>
          <a:off x="4628499" y="2489450"/>
          <a:ext cx="330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40" imgH="228600" progId="Equation.DSMT4">
                  <p:embed/>
                </p:oleObj>
              </mc:Choice>
              <mc:Fallback>
                <p:oleObj name="Equation" r:id="rId20" imgW="190440" imgH="22860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28499" y="2489450"/>
                        <a:ext cx="3302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Straight Arrow Connector 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37" idx="2"/>
          </p:cNvCxnSpPr>
          <p:nvPr/>
        </p:nvCxnSpPr>
        <p:spPr>
          <a:xfrm flipV="1">
            <a:off x="5026919" y="3480415"/>
            <a:ext cx="219120" cy="110214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605073" y="2136684"/>
            <a:ext cx="0" cy="1350348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6352767" y="2136684"/>
            <a:ext cx="255537" cy="1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30315" y="1912676"/>
            <a:ext cx="622453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b="1" dirty="0">
                <a:solidFill>
                  <a:srgbClr val="FF0000"/>
                </a:solidFill>
              </a:rPr>
              <a:t>Δ</a:t>
            </a:r>
            <a:r>
              <a:rPr lang="en-US" sz="2400" b="1" i="1" dirty="0">
                <a:solidFill>
                  <a:srgbClr val="FF0000"/>
                </a:solidFill>
              </a:rPr>
              <a:t>w</a:t>
            </a:r>
          </a:p>
        </p:txBody>
      </p:sp>
      <p:cxnSp>
        <p:nvCxnSpPr>
          <p:cNvPr id="57" name="Straight Arrow Connector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23" idx="1"/>
          </p:cNvCxnSpPr>
          <p:nvPr/>
        </p:nvCxnSpPr>
        <p:spPr>
          <a:xfrm>
            <a:off x="4806162" y="2136684"/>
            <a:ext cx="924153" cy="6825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47" idx="0"/>
          </p:cNvCxnSpPr>
          <p:nvPr/>
        </p:nvCxnSpPr>
        <p:spPr>
          <a:xfrm flipH="1">
            <a:off x="4792173" y="2118665"/>
            <a:ext cx="880" cy="371217"/>
          </a:xfrm>
          <a:prstGeom prst="straightConnector1">
            <a:avLst/>
          </a:prstGeom>
          <a:ln w="38100">
            <a:solidFill>
              <a:srgbClr val="FF0000"/>
            </a:solidFill>
            <a:headEnd w="med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024044" y="5022796"/>
            <a:ext cx="637877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b="1" dirty="0">
                <a:solidFill>
                  <a:srgbClr val="FF0000"/>
                </a:solidFill>
              </a:rPr>
              <a:t>Δ</a:t>
            </a:r>
            <a:r>
              <a:rPr lang="en-US" sz="2400" b="1" i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71696" y="5078335"/>
            <a:ext cx="227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=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adjustments</a:t>
            </a:r>
            <a:r>
              <a:rPr lang="en-US" b="1" dirty="0">
                <a:solidFill>
                  <a:srgbClr val="FF0000"/>
                </a:solidFill>
              </a:rPr>
              <a:t>  to </a:t>
            </a:r>
            <a:r>
              <a:rPr lang="en-US" i="1" dirty="0">
                <a:solidFill>
                  <a:srgbClr val="FF0000"/>
                </a:solidFill>
              </a:rPr>
              <a:t>w</a:t>
            </a:r>
          </a:p>
        </p:txBody>
      </p:sp>
      <p:graphicFrame>
        <p:nvGraphicFramePr>
          <p:cNvPr id="75" name="Object 74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969708"/>
              </p:ext>
            </p:extLst>
          </p:nvPr>
        </p:nvGraphicFramePr>
        <p:xfrm>
          <a:off x="7749876" y="3287295"/>
          <a:ext cx="273900" cy="39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680" imgH="203040" progId="Equation.DSMT4">
                  <p:embed/>
                </p:oleObj>
              </mc:Choice>
              <mc:Fallback>
                <p:oleObj name="Equation" r:id="rId22" imgW="139680" imgH="203040" progId="Equation.DSMT4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749876" y="3287295"/>
                        <a:ext cx="273900" cy="39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Oval 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3137" y="3268789"/>
            <a:ext cx="435763" cy="399888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aphicFrame>
        <p:nvGraphicFramePr>
          <p:cNvPr id="54" name="Object 5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937097"/>
              </p:ext>
            </p:extLst>
          </p:nvPr>
        </p:nvGraphicFramePr>
        <p:xfrm>
          <a:off x="6885993" y="3342946"/>
          <a:ext cx="208401" cy="280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2280" imgH="203040" progId="Equation.DSMT4">
                  <p:embed/>
                </p:oleObj>
              </mc:Choice>
              <mc:Fallback>
                <p:oleObj name="Equation" r:id="rId24" imgW="152280" imgH="20304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885993" y="3342946"/>
                        <a:ext cx="208401" cy="280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Arrow Connector 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890637" y="3151968"/>
            <a:ext cx="676560" cy="238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08097" y="3588825"/>
            <a:ext cx="676560" cy="238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07990" y="4293251"/>
            <a:ext cx="676560" cy="238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6344820" y="3465341"/>
            <a:ext cx="438317" cy="224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4" name="Object 3" descr="MATHML object">
            <a:extLst>
              <a:ext uri="{FF2B5EF4-FFF2-40B4-BE49-F238E27FC236}">
                <a16:creationId xmlns:a16="http://schemas.microsoft.com/office/drawing/2014/main" id="{6916040B-A7FF-5572-BB12-87138B994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738130"/>
              </p:ext>
            </p:extLst>
          </p:nvPr>
        </p:nvGraphicFramePr>
        <p:xfrm>
          <a:off x="584315" y="4248299"/>
          <a:ext cx="2551113" cy="216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51218" imgH="2164178" progId="Equation.DSMT4">
                  <p:embed/>
                </p:oleObj>
              </mc:Choice>
              <mc:Fallback>
                <p:oleObj name="Equation" r:id="rId26" imgW="2551218" imgH="216417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84315" y="4248299"/>
                        <a:ext cx="2551113" cy="2163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9870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78771"/>
          </a:xfrm>
        </p:spPr>
        <p:txBody>
          <a:bodyPr>
            <a:normAutofit/>
          </a:bodyPr>
          <a:lstStyle/>
          <a:p>
            <a:r>
              <a:rPr lang="en-US" dirty="0"/>
              <a:t>Training an Adaline Model </a:t>
            </a:r>
            <a:r>
              <a:rPr lang="en-US" sz="2000" dirty="0"/>
              <a:t>(2)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Object 4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427709"/>
              </p:ext>
            </p:extLst>
          </p:nvPr>
        </p:nvGraphicFramePr>
        <p:xfrm>
          <a:off x="960438" y="1430338"/>
          <a:ext cx="7518400" cy="358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54200" imgH="1650960" progId="Equation.DSMT4">
                  <p:embed/>
                </p:oleObj>
              </mc:Choice>
              <mc:Fallback>
                <p:oleObj name="Equation" r:id="rId2" imgW="3454200" imgH="1650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0438" y="1430338"/>
                        <a:ext cx="7518400" cy="3589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904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8268"/>
          </a:xfrm>
        </p:spPr>
        <p:txBody>
          <a:bodyPr>
            <a:normAutofit/>
          </a:bodyPr>
          <a:lstStyle/>
          <a:p>
            <a:r>
              <a:rPr lang="en-US" dirty="0"/>
              <a:t>Training an Adaline Model </a:t>
            </a:r>
            <a:r>
              <a:rPr lang="en-US" sz="2000" dirty="0"/>
              <a:t>(3)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4" name="Object 3" descr="MATHML object">
            <a:extLst>
              <a:ext uri="{FF2B5EF4-FFF2-40B4-BE49-F238E27FC236}">
                <a16:creationId xmlns:a16="http://schemas.microsoft.com/office/drawing/2014/main" id="{DFF72092-DBD7-2372-B8D3-F0CC71C8B0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123629"/>
              </p:ext>
            </p:extLst>
          </p:nvPr>
        </p:nvGraphicFramePr>
        <p:xfrm>
          <a:off x="446088" y="1300163"/>
          <a:ext cx="8270875" cy="432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94080" imgH="2717640" progId="Equation.DSMT4">
                  <p:embed/>
                </p:oleObj>
              </mc:Choice>
              <mc:Fallback>
                <p:oleObj name="Equation" r:id="rId2" imgW="5194080" imgH="271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6088" y="1300163"/>
                        <a:ext cx="8270875" cy="432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9708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6590"/>
          </a:xfrm>
        </p:spPr>
        <p:txBody>
          <a:bodyPr>
            <a:normAutofit/>
          </a:bodyPr>
          <a:lstStyle/>
          <a:p>
            <a:r>
              <a:rPr lang="en-US" dirty="0"/>
              <a:t>Variants of the gradient descent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623224"/>
            <a:ext cx="7994650" cy="2259564"/>
          </a:xfrm>
        </p:spPr>
        <p:txBody>
          <a:bodyPr>
            <a:noAutofit/>
          </a:bodyPr>
          <a:lstStyle/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b="1" dirty="0"/>
              <a:t>Batch Gradient Descent </a:t>
            </a:r>
            <a:r>
              <a:rPr lang="en-US" dirty="0"/>
              <a:t>in which all of the training samples are used for each iteration.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b="1" dirty="0"/>
              <a:t>Stochastic Gradient Descent </a:t>
            </a:r>
            <a:r>
              <a:rPr lang="en-US" dirty="0"/>
              <a:t>in which a fixed number of randomly chosen training samples are used for each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62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data set</a:t>
            </a:r>
            <a:br>
              <a:rPr lang="en-US" dirty="0"/>
            </a:br>
            <a:r>
              <a:rPr lang="en-US" dirty="0" err="1"/>
              <a:t>setosa</a:t>
            </a:r>
            <a:r>
              <a:rPr lang="en-US" dirty="0"/>
              <a:t> and versicolor</a:t>
            </a:r>
            <a:br>
              <a:rPr lang="en-US" dirty="0"/>
            </a:br>
            <a:r>
              <a:rPr lang="en-US" dirty="0"/>
              <a:t>petal length and sepal length</a:t>
            </a:r>
          </a:p>
        </p:txBody>
      </p:sp>
      <p:pic>
        <p:nvPicPr>
          <p:cNvPr id="5" name="Picture 4" descr="Plot of a partial dataset as a function of two features">
            <a:extLst>
              <a:ext uri="{FF2B5EF4-FFF2-40B4-BE49-F238E27FC236}">
                <a16:creationId xmlns:a16="http://schemas.microsoft.com/office/drawing/2014/main" id="{81C1AB36-D8A9-40E9-8E8F-EE3EACF0C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639" y="1690689"/>
            <a:ext cx="6034233" cy="42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178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2781"/>
          </a:xfrm>
        </p:spPr>
        <p:txBody>
          <a:bodyPr/>
          <a:lstStyle/>
          <a:p>
            <a:r>
              <a:rPr lang="en-US" dirty="0"/>
              <a:t>Eta = 0.1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18</a:t>
            </a:fld>
            <a:endParaRPr lang="en-US"/>
          </a:p>
        </p:txBody>
      </p:sp>
      <p:pic>
        <p:nvPicPr>
          <p:cNvPr id="11" name="Picture 10" descr="Plot of the sum-squared-error by epoch">
            <a:extLst>
              <a:ext uri="{FF2B5EF4-FFF2-40B4-BE49-F238E27FC236}">
                <a16:creationId xmlns:a16="http://schemas.microsoft.com/office/drawing/2014/main" id="{C13507F8-1325-4BE6-9B2E-597A640F2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737" y="1027907"/>
            <a:ext cx="5321380" cy="515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06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6468"/>
            <a:ext cx="7886700" cy="593161"/>
          </a:xfrm>
        </p:spPr>
        <p:txBody>
          <a:bodyPr/>
          <a:lstStyle/>
          <a:p>
            <a:r>
              <a:rPr lang="en-US" dirty="0"/>
              <a:t>Cost function after 25 epochs </a:t>
            </a:r>
            <a:r>
              <a:rPr lang="en-US" sz="2000" dirty="0"/>
              <a:t>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 descr="Plot of the sum-squared-error as a function of eta">
            <a:extLst>
              <a:ext uri="{FF2B5EF4-FFF2-40B4-BE49-F238E27FC236}">
                <a16:creationId xmlns:a16="http://schemas.microsoft.com/office/drawing/2014/main" id="{1597AEDC-982D-4C84-AC24-07513D03E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70" y="958287"/>
            <a:ext cx="5093860" cy="494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41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4612"/>
            <a:ext cx="7886700" cy="618567"/>
          </a:xfrm>
        </p:spPr>
        <p:txBody>
          <a:bodyPr/>
          <a:lstStyle/>
          <a:p>
            <a:r>
              <a:rPr lang="en-US" dirty="0"/>
              <a:t>Cost function after 25 epochs </a:t>
            </a:r>
            <a:r>
              <a:rPr lang="en-US" sz="2000" dirty="0"/>
              <a:t>(2)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 descr="Plot of the sum-squared-error as a function of eta">
            <a:extLst>
              <a:ext uri="{FF2B5EF4-FFF2-40B4-BE49-F238E27FC236}">
                <a16:creationId xmlns:a16="http://schemas.microsoft.com/office/drawing/2014/main" id="{6FE843FC-F640-4892-81F5-41052FAA9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098" y="983693"/>
            <a:ext cx="4839803" cy="48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27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9386"/>
            <a:ext cx="7886700" cy="578771"/>
          </a:xfrm>
        </p:spPr>
        <p:txBody>
          <a:bodyPr/>
          <a:lstStyle/>
          <a:p>
            <a:r>
              <a:rPr lang="en-US" dirty="0"/>
              <a:t>Eta = 0.00048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 descr="Plot of the sum-squared-error by epoch">
            <a:extLst>
              <a:ext uri="{FF2B5EF4-FFF2-40B4-BE49-F238E27FC236}">
                <a16:creationId xmlns:a16="http://schemas.microsoft.com/office/drawing/2014/main" id="{97A188C1-352F-4720-A83C-6765A2092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341" y="1047207"/>
            <a:ext cx="4903317" cy="476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77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78771"/>
          </a:xfrm>
        </p:spPr>
        <p:txBody>
          <a:bodyPr>
            <a:normAutofit/>
          </a:bodyPr>
          <a:lstStyle/>
          <a:p>
            <a:r>
              <a:rPr lang="en-US" dirty="0"/>
              <a:t>Accuracy by epoch </a:t>
            </a:r>
            <a:r>
              <a:rPr lang="en-US" sz="2000" dirty="0"/>
              <a:t>(1)</a:t>
            </a:r>
          </a:p>
        </p:txBody>
      </p:sp>
      <p:pic>
        <p:nvPicPr>
          <p:cNvPr id="4" name="Picture 3" descr="Plots of the accuracy by epoch">
            <a:extLst>
              <a:ext uri="{FF2B5EF4-FFF2-40B4-BE49-F238E27FC236}">
                <a16:creationId xmlns:a16="http://schemas.microsoft.com/office/drawing/2014/main" id="{66D5E069-6B61-41B8-9AE7-FE0B9B53DE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87" y="1739515"/>
            <a:ext cx="7139026" cy="33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11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daIrisSep" descr="Animation of the decision boundary by epoch">
            <a:hlinkClick r:id="" action="ppaction://media"/>
            <a:extLst>
              <a:ext uri="{FF2B5EF4-FFF2-40B4-BE49-F238E27FC236}">
                <a16:creationId xmlns:a16="http://schemas.microsoft.com/office/drawing/2014/main" id="{5CE9B1D8-CC5A-4231-8A59-3BF47CD217F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2102" y="309295"/>
            <a:ext cx="8319795" cy="55465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DA27FA-22C9-7270-BEC5-35B561B3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325563"/>
            <a:ext cx="78867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Animation of the decision boundary by epoch </a:t>
            </a:r>
            <a:r>
              <a:rPr lang="en-US" sz="2000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135214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99880"/>
          </a:xfrm>
        </p:spPr>
        <p:txBody>
          <a:bodyPr>
            <a:normAutofit/>
          </a:bodyPr>
          <a:lstStyle/>
          <a:p>
            <a:r>
              <a:rPr lang="en-US" dirty="0"/>
              <a:t>Partial data set -- versicolor and virginica</a:t>
            </a:r>
            <a:br>
              <a:rPr lang="en-US" dirty="0"/>
            </a:br>
            <a:r>
              <a:rPr lang="en-US" dirty="0"/>
              <a:t>petal length and sepal length</a:t>
            </a:r>
          </a:p>
        </p:txBody>
      </p:sp>
      <p:pic>
        <p:nvPicPr>
          <p:cNvPr id="4" name="Picture 3" descr="Plot of a partial dataset as a function of two features.">
            <a:extLst>
              <a:ext uri="{FF2B5EF4-FFF2-40B4-BE49-F238E27FC236}">
                <a16:creationId xmlns:a16="http://schemas.microsoft.com/office/drawing/2014/main" id="{3ECF032A-7A6C-4769-A276-BBBBF2F7C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643" y="1923294"/>
            <a:ext cx="6300591" cy="430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38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3161"/>
          </a:xfrm>
        </p:spPr>
        <p:txBody>
          <a:bodyPr/>
          <a:lstStyle/>
          <a:p>
            <a:r>
              <a:rPr lang="en-US" dirty="0"/>
              <a:t>Cost function after 25 epochs </a:t>
            </a:r>
            <a:r>
              <a:rPr lang="en-US" sz="2000" dirty="0"/>
              <a:t>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 descr="Plot of the sum-squared-error as a function of eta.">
            <a:extLst>
              <a:ext uri="{FF2B5EF4-FFF2-40B4-BE49-F238E27FC236}">
                <a16:creationId xmlns:a16="http://schemas.microsoft.com/office/drawing/2014/main" id="{737AE9D2-B3DA-4D67-8E03-CFD7E7371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70" y="958287"/>
            <a:ext cx="5093860" cy="494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63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8567"/>
          </a:xfrm>
        </p:spPr>
        <p:txBody>
          <a:bodyPr/>
          <a:lstStyle/>
          <a:p>
            <a:r>
              <a:rPr lang="en-US" dirty="0"/>
              <a:t>Cost function after 25 epochs </a:t>
            </a:r>
            <a:r>
              <a:rPr lang="en-US" sz="2000" dirty="0"/>
              <a:t>(4)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 descr="Plot of the sum-squared-error by eta">
            <a:extLst>
              <a:ext uri="{FF2B5EF4-FFF2-40B4-BE49-F238E27FC236}">
                <a16:creationId xmlns:a16="http://schemas.microsoft.com/office/drawing/2014/main" id="{79586865-4B04-431D-8F2D-883DDE725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609" y="983693"/>
            <a:ext cx="5182781" cy="48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15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data set</a:t>
            </a:r>
            <a:br>
              <a:rPr lang="en-US" dirty="0"/>
            </a:br>
            <a:r>
              <a:rPr lang="en-US" dirty="0"/>
              <a:t>versicolor and virginica</a:t>
            </a:r>
            <a:br>
              <a:rPr lang="en-US" dirty="0"/>
            </a:br>
            <a:r>
              <a:rPr lang="en-US" dirty="0"/>
              <a:t>petal length and sepal length</a:t>
            </a:r>
          </a:p>
        </p:txBody>
      </p:sp>
      <p:pic>
        <p:nvPicPr>
          <p:cNvPr id="4" name="Picture 3" descr="Plot of a partial dataset as a function of two features.">
            <a:extLst>
              <a:ext uri="{FF2B5EF4-FFF2-40B4-BE49-F238E27FC236}">
                <a16:creationId xmlns:a16="http://schemas.microsoft.com/office/drawing/2014/main" id="{3ECF032A-7A6C-4769-A276-BBBBF2F7C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643" y="1923294"/>
            <a:ext cx="6300591" cy="430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5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dirty="0"/>
              <a:t>Eta = 0.0003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 descr="Plot of the sum-squared-error by epoch">
            <a:extLst>
              <a:ext uri="{FF2B5EF4-FFF2-40B4-BE49-F238E27FC236}">
                <a16:creationId xmlns:a16="http://schemas.microsoft.com/office/drawing/2014/main" id="{EF278B51-7C32-4261-8066-78E848BB4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341" y="1047207"/>
            <a:ext cx="4903317" cy="476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daIrisInSep" descr="Animation of the decision boundary by epoch">
            <a:hlinkClick r:id="" action="ppaction://media"/>
            <a:extLst>
              <a:ext uri="{FF2B5EF4-FFF2-40B4-BE49-F238E27FC236}">
                <a16:creationId xmlns:a16="http://schemas.microsoft.com/office/drawing/2014/main" id="{E5B8BDFC-1B49-4495-BEB8-32670E1962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8213" y="731520"/>
            <a:ext cx="7907574" cy="52717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32EA5D-3BA1-CA9A-3DE2-150089131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325563"/>
            <a:ext cx="78867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Animation of the decision boundary by epoch </a:t>
            </a:r>
            <a:r>
              <a:rPr lang="en-US" sz="2000" dirty="0"/>
              <a:t>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55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7764"/>
          </a:xfrm>
        </p:spPr>
        <p:txBody>
          <a:bodyPr>
            <a:normAutofit/>
          </a:bodyPr>
          <a:lstStyle/>
          <a:p>
            <a:r>
              <a:rPr lang="en-US" dirty="0"/>
              <a:t>Accuracy by epoch </a:t>
            </a:r>
            <a:r>
              <a:rPr lang="en-US" sz="2000" dirty="0"/>
              <a:t>(2)</a:t>
            </a:r>
          </a:p>
        </p:txBody>
      </p:sp>
      <p:pic>
        <p:nvPicPr>
          <p:cNvPr id="5" name="Picture 4" descr="Plot of accuracy by epoch">
            <a:extLst>
              <a:ext uri="{FF2B5EF4-FFF2-40B4-BE49-F238E27FC236}">
                <a16:creationId xmlns:a16="http://schemas.microsoft.com/office/drawing/2014/main" id="{39553914-8D00-4A91-A95E-3158ADCBE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41" y="1739515"/>
            <a:ext cx="7100918" cy="33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42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3680"/>
          </a:xfrm>
        </p:spPr>
        <p:txBody>
          <a:bodyPr/>
          <a:lstStyle/>
          <a:p>
            <a:r>
              <a:rPr lang="en-US" dirty="0"/>
              <a:t>Scikit-learn Perceptron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0696562-D3F8-4997-B6F7-2857A88C9625}" type="slidenum">
              <a:rPr lang="en-US" smtClean="0"/>
              <a:t>31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51530" y="1508076"/>
            <a:ext cx="7486650" cy="59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kumimoji="0" lang="en-US" altLang="en-US" sz="2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sklearn.linear_model.Perceptron</a:t>
            </a:r>
            <a:r>
              <a:rPr kumimoji="0" lang="en-US" altLang="en-US" sz="2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(…)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2084" y="2260432"/>
          <a:ext cx="718952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9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Defaults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83">
                <a:tc>
                  <a:txBody>
                    <a:bodyPr/>
                    <a:lstStyle/>
                    <a:p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penalty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eta0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806">
                <a:tc>
                  <a:txBody>
                    <a:bodyPr/>
                    <a:lstStyle/>
                    <a:p>
                      <a:r>
                        <a:rPr lang="en-US" sz="1800" dirty="0"/>
                        <a:t>alpha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n_jobs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r>
                        <a:rPr kumimoji="0" lang="en-US" alt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fit_intercept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random_state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851">
                <a:tc>
                  <a:txBody>
                    <a:bodyPr/>
                    <a:lstStyle/>
                    <a:p>
                      <a:r>
                        <a:rPr kumimoji="0" lang="en-US" alt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max_iter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class_weight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warm_start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u="none" dirty="0"/>
                        <a:t>shuffle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u="none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n_iter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verbose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269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57429"/>
          </a:xfrm>
        </p:spPr>
        <p:txBody>
          <a:bodyPr/>
          <a:lstStyle/>
          <a:p>
            <a:r>
              <a:rPr lang="en-US" dirty="0"/>
              <a:t>Scikit-learn Perceptron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0696562-D3F8-4997-B6F7-2857A88C9625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8650" y="1593935"/>
          <a:ext cx="797626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/>
                        <a:t>coef</a:t>
                      </a:r>
                      <a:r>
                        <a:rPr lang="en-US" b="0" dirty="0"/>
                        <a:t>_</a:t>
                      </a:r>
                      <a:endParaRPr lang="en-US" sz="18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Coefficient of the features in the decision function.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intercept_ </a:t>
                      </a:r>
                      <a:endParaRPr lang="en-US" sz="18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Intercept (a.k.a. bias) added to the decision function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/>
                        <a:t>n_iter</a:t>
                      </a:r>
                      <a:r>
                        <a:rPr lang="en-US" b="0" dirty="0"/>
                        <a:t>_</a:t>
                      </a:r>
                      <a:endParaRPr lang="en-US" sz="18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 number of iterations for all classes.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252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96758"/>
          </a:xfrm>
        </p:spPr>
        <p:txBody>
          <a:bodyPr/>
          <a:lstStyle/>
          <a:p>
            <a:r>
              <a:rPr lang="en-US" dirty="0"/>
              <a:t>Scikit-learn Perceptron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0696562-D3F8-4997-B6F7-2857A88C9625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8650" y="1593935"/>
          <a:ext cx="7976262" cy="451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u="sng" dirty="0" err="1">
                          <a:hlinkClick r:id="rId3" tooltip="sklearn.linear_model.LogisticRegression.decision_function"/>
                        </a:rPr>
                        <a:t>decision_function</a:t>
                      </a:r>
                      <a:r>
                        <a:rPr lang="en-US" sz="1800" u="sng" dirty="0"/>
                        <a:t>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Predict confidence scores for samples.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u="sng" dirty="0">
                          <a:hlinkClick r:id="rId4" tooltip="sklearn.linear_model.LogisticRegression.densify"/>
                        </a:rPr>
                        <a:t>densify</a:t>
                      </a:r>
                      <a:r>
                        <a:rPr lang="en-US" sz="1800" u="sng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Convert coefficient matrix to dense array format.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hlinkClick r:id="rId5" tooltip="sklearn.linear_model.LogisticRegression.fit"/>
                        </a:rPr>
                        <a:t>fit</a:t>
                      </a:r>
                      <a:r>
                        <a:rPr lang="en-US" sz="1800" dirty="0"/>
                        <a:t>(X, y[, </a:t>
                      </a:r>
                      <a:r>
                        <a:rPr lang="en-US" sz="1800" dirty="0" err="1"/>
                        <a:t>coef_int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interscept_int</a:t>
                      </a:r>
                      <a:r>
                        <a:rPr lang="en-US" sz="1800" dirty="0"/>
                        <a:t>, …])</a:t>
                      </a:r>
                      <a:endParaRPr lang="en-US" sz="1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Fit linear model with Stochastic Gradient Descent.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hlinkClick r:id="rId6" tooltip="sklearn.linear_model.LogisticRegression.get_params"/>
                        </a:rPr>
                        <a:t>get_params</a:t>
                      </a:r>
                      <a:r>
                        <a:rPr lang="en-US" sz="1800" dirty="0"/>
                        <a:t>([deep])</a:t>
                      </a:r>
                      <a:endParaRPr lang="en-US" sz="1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Get parameters for this estimator.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7" tooltip="sklearn.linear_model.Perceptron.partial_fit"/>
                        </a:rPr>
                        <a:t>partial_fit</a:t>
                      </a:r>
                      <a:r>
                        <a:rPr lang="en-US" dirty="0"/>
                        <a:t>(X, y[, classes, </a:t>
                      </a:r>
                      <a:r>
                        <a:rPr lang="en-US" dirty="0" err="1"/>
                        <a:t>sample_weight</a:t>
                      </a:r>
                      <a:r>
                        <a:rPr lang="en-US" dirty="0"/>
                        <a:t>])</a:t>
                      </a:r>
                      <a:endParaRPr lang="en-US" sz="1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Fit linear model with Stochastic Gradient Descent.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hlinkClick r:id="rId8" tooltip="sklearn.linear_model.LogisticRegression.predict"/>
                        </a:rPr>
                        <a:t>predict</a:t>
                      </a:r>
                      <a:r>
                        <a:rPr lang="en-US" sz="1800" dirty="0"/>
                        <a:t>(X)</a:t>
                      </a:r>
                      <a:endParaRPr lang="en-US" sz="1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Predict class labels for samples in 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hlinkClick r:id="rId9" tooltip="sklearn.linear_model.LogisticRegression.score"/>
                        </a:rPr>
                        <a:t>score</a:t>
                      </a:r>
                      <a:r>
                        <a:rPr lang="en-US" sz="1800" dirty="0"/>
                        <a:t>(X, y[, </a:t>
                      </a:r>
                      <a:r>
                        <a:rPr lang="en-US" sz="1800" dirty="0" err="1"/>
                        <a:t>sample_weight</a:t>
                      </a:r>
                      <a:r>
                        <a:rPr lang="en-US" sz="1800" dirty="0"/>
                        <a:t>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Returns the mean accuracy on the given test data and labels.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hlinkClick r:id="rId10" tooltip="sklearn.linear_model.LogisticRegression.set_params"/>
                        </a:rPr>
                        <a:t>set_params</a:t>
                      </a:r>
                      <a:r>
                        <a:rPr lang="en-US" sz="1800" dirty="0"/>
                        <a:t>(**</a:t>
                      </a:r>
                      <a:r>
                        <a:rPr lang="en-US" sz="1800" dirty="0" err="1"/>
                        <a:t>params</a:t>
                      </a:r>
                      <a:r>
                        <a:rPr lang="en-US" sz="18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Set the parameters of this estimator.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hlinkClick r:id="rId11" tooltip="sklearn.linear_model.LogisticRegression.sparsify"/>
                        </a:rPr>
                        <a:t>sparsify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800" dirty="0" err="1"/>
                        <a:t>Convert</a:t>
                      </a:r>
                      <a:r>
                        <a:rPr lang="fr-FR" sz="1800" dirty="0"/>
                        <a:t> coefficient matrix to </a:t>
                      </a:r>
                      <a:r>
                        <a:rPr lang="fr-FR" sz="1800" dirty="0" err="1"/>
                        <a:t>sparse</a:t>
                      </a:r>
                      <a:r>
                        <a:rPr lang="fr-FR" sz="1800" dirty="0"/>
                        <a:t> format.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416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1712"/>
            <a:ext cx="7886700" cy="760507"/>
          </a:xfrm>
        </p:spPr>
        <p:txBody>
          <a:bodyPr>
            <a:normAutofit fontScale="90000"/>
          </a:bodyPr>
          <a:lstStyle/>
          <a:p>
            <a:r>
              <a:rPr lang="en-US" dirty="0"/>
              <a:t>Scikit-learn Stochastic Gradient Descent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0696562-D3F8-4997-B6F7-2857A88C9625}" type="slidenum">
              <a:rPr lang="en-US" smtClean="0"/>
              <a:t>34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28700" y="1042219"/>
            <a:ext cx="7486650" cy="59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kumimoji="0" lang="en-US" altLang="en-US" sz="2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sklearn.linear_model</a:t>
            </a:r>
            <a:r>
              <a:rPr kumimoji="0" lang="en-US" altLang="en-US" sz="2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en-US" altLang="en-US" sz="22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SGDClassifier</a:t>
            </a:r>
            <a:r>
              <a:rPr kumimoji="0" lang="en-US" altLang="en-US" sz="2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(…)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298730"/>
              </p:ext>
            </p:extLst>
          </p:nvPr>
        </p:nvGraphicFramePr>
        <p:xfrm>
          <a:off x="745366" y="1719312"/>
          <a:ext cx="765326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1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002">
                <a:tc>
                  <a:txBody>
                    <a:bodyPr/>
                    <a:lstStyle/>
                    <a:p>
                      <a:r>
                        <a:rPr lang="en-US" sz="18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Defaults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dirty="0"/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n_jobs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penalty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random_state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1359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800" dirty="0"/>
                        <a:t>alpha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learning_rate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56941"/>
                  </a:ext>
                </a:extLst>
              </a:tr>
              <a:tr h="259806">
                <a:tc>
                  <a:txBody>
                    <a:bodyPr/>
                    <a:lstStyle/>
                    <a:p>
                      <a:r>
                        <a:rPr lang="en-US" dirty="0"/>
                        <a:t>l1_ratio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eta0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0" lang="en-US" alt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fit_intercept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power_t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851">
                <a:tc>
                  <a:txBody>
                    <a:bodyPr/>
                    <a:lstStyle/>
                    <a:p>
                      <a:r>
                        <a:rPr kumimoji="0" lang="en-US" alt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max_iter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early_stopping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dirty="0" err="1"/>
                        <a:t>tol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validation_fraction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800" u="none" dirty="0"/>
                        <a:t>shuffle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u="none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n_iter_no_change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126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verbose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class_weight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dirty="0"/>
                        <a:t>epsilon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warm_start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432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198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7932"/>
          </a:xfrm>
        </p:spPr>
        <p:txBody>
          <a:bodyPr/>
          <a:lstStyle/>
          <a:p>
            <a:r>
              <a:rPr lang="en-US" dirty="0"/>
              <a:t>Scikit-learn SGD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0696562-D3F8-4997-B6F7-2857A88C9625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971707"/>
              </p:ext>
            </p:extLst>
          </p:nvPr>
        </p:nvGraphicFramePr>
        <p:xfrm>
          <a:off x="628650" y="1593935"/>
          <a:ext cx="797626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/>
                        <a:t>coef</a:t>
                      </a:r>
                      <a:r>
                        <a:rPr lang="en-US" b="0" dirty="0"/>
                        <a:t>_</a:t>
                      </a:r>
                      <a:endParaRPr lang="en-US" sz="18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Coefficient of the features in the decision function.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intercept_ </a:t>
                      </a:r>
                      <a:endParaRPr lang="en-US" sz="18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Intercept (a.k.a. bias) added to the decision function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/>
                        <a:t>n_iter</a:t>
                      </a:r>
                      <a:r>
                        <a:rPr lang="en-US" b="0" dirty="0"/>
                        <a:t>_</a:t>
                      </a:r>
                      <a:endParaRPr lang="en-US" sz="18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 number of iterations for all classes.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u="sng" dirty="0" err="1"/>
                        <a:t>loss_function</a:t>
                      </a:r>
                      <a:r>
                        <a:rPr lang="en-US" sz="1800" b="0" u="sng" dirty="0"/>
                        <a:t>_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Loss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287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u="sng" dirty="0"/>
                        <a:t>classes_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610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u="sng" dirty="0"/>
                        <a:t>t_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Number of weight updates performed.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5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u="sng" dirty="0" err="1"/>
                        <a:t>n_features_in</a:t>
                      </a:r>
                      <a:r>
                        <a:rPr lang="en-US" sz="1800" b="0" u="sng" dirty="0"/>
                        <a:t>_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Number of features seen during fit..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97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u="sng" dirty="0" err="1"/>
                        <a:t>feature_nuame_in</a:t>
                      </a:r>
                      <a:r>
                        <a:rPr lang="en-US" sz="1800" b="0" u="sng" dirty="0"/>
                        <a:t>_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Names of features seen during 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59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034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886700" cy="513222"/>
          </a:xfrm>
        </p:spPr>
        <p:txBody>
          <a:bodyPr>
            <a:normAutofit fontScale="90000"/>
          </a:bodyPr>
          <a:lstStyle/>
          <a:p>
            <a:r>
              <a:rPr lang="en-US" dirty="0"/>
              <a:t>Scikit-learn SGD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0696562-D3F8-4997-B6F7-2857A88C9625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238882"/>
              </p:ext>
            </p:extLst>
          </p:nvPr>
        </p:nvGraphicFramePr>
        <p:xfrm>
          <a:off x="628650" y="850900"/>
          <a:ext cx="7976262" cy="515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0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5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u="sng" dirty="0" err="1">
                          <a:hlinkClick r:id="rId3" tooltip="sklearn.linear_model.LogisticRegression.decision_function"/>
                        </a:rPr>
                        <a:t>decision_function</a:t>
                      </a:r>
                      <a:r>
                        <a:rPr lang="en-US" sz="1800" u="sng" dirty="0"/>
                        <a:t>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Predict confidence scores for samples.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u="sng" dirty="0">
                          <a:hlinkClick r:id="rId4" tooltip="sklearn.linear_model.LogisticRegression.densify"/>
                        </a:rPr>
                        <a:t>densify</a:t>
                      </a:r>
                      <a:r>
                        <a:rPr lang="en-US" sz="1800" u="sng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Convert coefficient matrix to dense array format.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hlinkClick r:id="rId5" tooltip="sklearn.linear_model.LogisticRegression.fit"/>
                        </a:rPr>
                        <a:t>fit</a:t>
                      </a:r>
                      <a:r>
                        <a:rPr lang="en-US" sz="1800" dirty="0"/>
                        <a:t>(X, y[, </a:t>
                      </a:r>
                      <a:r>
                        <a:rPr lang="en-US" sz="1800" dirty="0" err="1"/>
                        <a:t>coef_int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interscept_int</a:t>
                      </a:r>
                      <a:r>
                        <a:rPr lang="en-US" sz="1800" dirty="0"/>
                        <a:t>, …])</a:t>
                      </a:r>
                      <a:endParaRPr lang="en-US" sz="1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Fit linear model with Stochastic Gradient Descent.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hlinkClick r:id="rId6" tooltip="sklearn.linear_model.LogisticRegression.get_params"/>
                        </a:rPr>
                        <a:t>get_params</a:t>
                      </a:r>
                      <a:r>
                        <a:rPr lang="en-US" sz="1800" dirty="0"/>
                        <a:t>([deep])</a:t>
                      </a:r>
                      <a:endParaRPr lang="en-US" sz="1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Get parameters for this estimator.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7" tooltip="sklearn.linear_model.Perceptron.partial_fit"/>
                        </a:rPr>
                        <a:t>partial_fit</a:t>
                      </a:r>
                      <a:r>
                        <a:rPr lang="en-US" dirty="0"/>
                        <a:t>(X, y[, classes, </a:t>
                      </a:r>
                      <a:r>
                        <a:rPr lang="en-US" dirty="0" err="1"/>
                        <a:t>sample_weight</a:t>
                      </a:r>
                      <a:r>
                        <a:rPr lang="en-US" dirty="0"/>
                        <a:t>])</a:t>
                      </a:r>
                      <a:endParaRPr lang="en-US" sz="1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Fit linear model with SGD.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hlinkClick r:id="rId8" tooltip="sklearn.linear_model.LogisticRegression.predict"/>
                        </a:rPr>
                        <a:t>predict</a:t>
                      </a:r>
                      <a:r>
                        <a:rPr lang="en-US" sz="1800" dirty="0"/>
                        <a:t>(X)</a:t>
                      </a:r>
                      <a:endParaRPr lang="en-US" sz="1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Predict class labels for samples in 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hlinkClick r:id="rId8" tooltip="sklearn.linear_model.LogisticRegression.predict"/>
                        </a:rPr>
                        <a:t>predict</a:t>
                      </a:r>
                      <a:r>
                        <a:rPr lang="en-US" sz="18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_log_proba</a:t>
                      </a:r>
                      <a:r>
                        <a:rPr lang="en-US" sz="1800" dirty="0"/>
                        <a:t>(X)</a:t>
                      </a:r>
                      <a:endParaRPr lang="en-US" sz="1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of probability estimates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9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hlinkClick r:id="rId9" tooltip="sklearn.linear_model.LogisticRegression.score"/>
                        </a:rPr>
                        <a:t>score</a:t>
                      </a:r>
                      <a:r>
                        <a:rPr lang="en-US" sz="1800" dirty="0"/>
                        <a:t>(X, y[, </a:t>
                      </a:r>
                      <a:r>
                        <a:rPr lang="en-US" sz="1800" dirty="0" err="1"/>
                        <a:t>sample_weight</a:t>
                      </a:r>
                      <a:r>
                        <a:rPr lang="en-US" sz="1800" dirty="0"/>
                        <a:t>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Returns the mean accuracy on the given test data and labels.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hlinkClick r:id="rId10" tooltip="sklearn.linear_model.LogisticRegression.set_params"/>
                        </a:rPr>
                        <a:t>set_params</a:t>
                      </a:r>
                      <a:r>
                        <a:rPr lang="en-US" sz="1800" dirty="0"/>
                        <a:t>(**</a:t>
                      </a:r>
                      <a:r>
                        <a:rPr lang="en-US" sz="1800" dirty="0" err="1"/>
                        <a:t>params</a:t>
                      </a:r>
                      <a:r>
                        <a:rPr lang="en-US" sz="18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Set the parameters of this estimator.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hlinkClick r:id="rId11" tooltip="sklearn.linear_model.LogisticRegression.sparsify"/>
                        </a:rPr>
                        <a:t>sparsify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800" dirty="0" err="1"/>
                        <a:t>Convert</a:t>
                      </a:r>
                      <a:r>
                        <a:rPr lang="fr-FR" sz="1800" dirty="0"/>
                        <a:t> coefficient matrix to </a:t>
                      </a:r>
                      <a:r>
                        <a:rPr lang="fr-FR" sz="1800" dirty="0" err="1"/>
                        <a:t>sparse</a:t>
                      </a:r>
                      <a:r>
                        <a:rPr lang="fr-FR" sz="1800" dirty="0"/>
                        <a:t> format.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0822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L 4.pptx" id="{64B2721A-5DC7-49C9-80C0-1FCBF9A53174}" vid="{30ECEC55-8025-4063-B582-643B68783D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2765</TotalTime>
  <Words>988</Words>
  <Application>Microsoft Office PowerPoint</Application>
  <PresentationFormat>On-screen Show (4:3)</PresentationFormat>
  <Paragraphs>265</Paragraphs>
  <Slides>36</Slides>
  <Notes>27</Notes>
  <HiddenSlides>0</HiddenSlides>
  <MMClips>2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Times New Roman</vt:lpstr>
      <vt:lpstr>Office Theme</vt:lpstr>
      <vt:lpstr>Equation</vt:lpstr>
      <vt:lpstr>Adaptive Linear Neuron  Adaline</vt:lpstr>
      <vt:lpstr>Characteristics of the Perceptron</vt:lpstr>
      <vt:lpstr>Adaptive Linear Neuron Adaptive Linear Element (later)</vt:lpstr>
      <vt:lpstr>An Adaline model</vt:lpstr>
      <vt:lpstr>Adaline activation function, </vt:lpstr>
      <vt:lpstr>Adaline quantizer</vt:lpstr>
      <vt:lpstr>Cost function</vt:lpstr>
      <vt:lpstr>First derivative of the cost function (1)</vt:lpstr>
      <vt:lpstr>First derivative of the cost function (2)</vt:lpstr>
      <vt:lpstr>Second derivative of the cost function (1)</vt:lpstr>
      <vt:lpstr>Second derivative of the cost function (2)</vt:lpstr>
      <vt:lpstr>Training a Perceptron</vt:lpstr>
      <vt:lpstr>Training an Adaline model (1)</vt:lpstr>
      <vt:lpstr>Training an Adaline Model (2)</vt:lpstr>
      <vt:lpstr>Training an Adaline Model (3)</vt:lpstr>
      <vt:lpstr>Variants of the gradient descent technique</vt:lpstr>
      <vt:lpstr>Partial data set setosa and versicolor petal length and sepal length</vt:lpstr>
      <vt:lpstr>Eta = 0.1</vt:lpstr>
      <vt:lpstr>Cost function after 25 epochs (1)</vt:lpstr>
      <vt:lpstr>Cost function after 25 epochs (2)</vt:lpstr>
      <vt:lpstr>Eta = 0.00048</vt:lpstr>
      <vt:lpstr>Accuracy by epoch (1)</vt:lpstr>
      <vt:lpstr>Animation of the decision boundary by epoch (1)</vt:lpstr>
      <vt:lpstr>Partial data set -- versicolor and virginica petal length and sepal length</vt:lpstr>
      <vt:lpstr>Cost function after 25 epochs (3)</vt:lpstr>
      <vt:lpstr>Cost function after 25 epochs (4)</vt:lpstr>
      <vt:lpstr>Partial data set versicolor and virginica petal length and sepal length</vt:lpstr>
      <vt:lpstr>Eta = 0.0003</vt:lpstr>
      <vt:lpstr>Animation of the decision boundary by epoch (2)</vt:lpstr>
      <vt:lpstr>Accuracy by epoch (2)</vt:lpstr>
      <vt:lpstr>Scikit-learn Perceptron class</vt:lpstr>
      <vt:lpstr>Scikit-learn Perceptron attributes</vt:lpstr>
      <vt:lpstr>Scikit-learn Perceptron methods</vt:lpstr>
      <vt:lpstr>Scikit-learn Stochastic Gradient Descent class</vt:lpstr>
      <vt:lpstr>Scikit-learn SGD attributes</vt:lpstr>
      <vt:lpstr>Scikit-learn SGD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Grimmelmann</dc:creator>
  <cp:lastModifiedBy>Erik Grimmelmann</cp:lastModifiedBy>
  <cp:revision>229</cp:revision>
  <cp:lastPrinted>2017-09-27T02:02:41Z</cp:lastPrinted>
  <dcterms:created xsi:type="dcterms:W3CDTF">2017-02-25T17:52:53Z</dcterms:created>
  <dcterms:modified xsi:type="dcterms:W3CDTF">2026-07-21T18:04:38Z</dcterms:modified>
</cp:coreProperties>
</file>