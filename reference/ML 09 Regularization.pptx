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38"/>
  </p:notesMasterIdLst>
  <p:handoutMasterIdLst>
    <p:handoutMasterId r:id="rId39"/>
  </p:handoutMasterIdLst>
  <p:sldIdLst>
    <p:sldId id="380" r:id="rId2"/>
    <p:sldId id="377" r:id="rId3"/>
    <p:sldId id="378" r:id="rId4"/>
    <p:sldId id="379" r:id="rId5"/>
    <p:sldId id="287" r:id="rId6"/>
    <p:sldId id="376" r:id="rId7"/>
    <p:sldId id="289" r:id="rId8"/>
    <p:sldId id="397" r:id="rId9"/>
    <p:sldId id="264" r:id="rId10"/>
    <p:sldId id="398" r:id="rId11"/>
    <p:sldId id="267" r:id="rId12"/>
    <p:sldId id="399" r:id="rId13"/>
    <p:sldId id="288" r:id="rId14"/>
    <p:sldId id="400" r:id="rId15"/>
    <p:sldId id="290" r:id="rId16"/>
    <p:sldId id="404" r:id="rId17"/>
    <p:sldId id="401" r:id="rId18"/>
    <p:sldId id="407" r:id="rId19"/>
    <p:sldId id="354" r:id="rId20"/>
    <p:sldId id="406" r:id="rId21"/>
    <p:sldId id="408" r:id="rId22"/>
    <p:sldId id="409" r:id="rId23"/>
    <p:sldId id="410" r:id="rId24"/>
    <p:sldId id="411" r:id="rId25"/>
    <p:sldId id="412" r:id="rId26"/>
    <p:sldId id="413" r:id="rId27"/>
    <p:sldId id="418" r:id="rId28"/>
    <p:sldId id="414" r:id="rId29"/>
    <p:sldId id="415" r:id="rId30"/>
    <p:sldId id="416" r:id="rId31"/>
    <p:sldId id="417" r:id="rId32"/>
    <p:sldId id="419" r:id="rId33"/>
    <p:sldId id="420" r:id="rId34"/>
    <p:sldId id="421" r:id="rId35"/>
    <p:sldId id="422" r:id="rId36"/>
    <p:sldId id="423" r:id="rId37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86420" autoAdjust="0"/>
  </p:normalViewPr>
  <p:slideViewPr>
    <p:cSldViewPr snapToGrid="0">
      <p:cViewPr varScale="1">
        <p:scale>
          <a:sx n="83" d="100"/>
          <a:sy n="83" d="100"/>
        </p:scale>
        <p:origin x="117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3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39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161390" cy="367259"/>
          </a:xfrm>
          <a:prstGeom prst="rect">
            <a:avLst/>
          </a:prstGeom>
        </p:spPr>
        <p:txBody>
          <a:bodyPr vert="horz" lIns="94837" tIns="47418" rIns="94837" bIns="474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7637" y="2"/>
            <a:ext cx="4161390" cy="367259"/>
          </a:xfrm>
          <a:prstGeom prst="rect">
            <a:avLst/>
          </a:prstGeom>
        </p:spPr>
        <p:txBody>
          <a:bodyPr vert="horz" lIns="94837" tIns="47418" rIns="94837" bIns="47418" rtlCol="0"/>
          <a:lstStyle>
            <a:lvl1pPr algn="r">
              <a:defRPr sz="1200"/>
            </a:lvl1pPr>
          </a:lstStyle>
          <a:p>
            <a:fld id="{085BC133-C6D8-48A3-B4EA-C942741A44E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947943"/>
            <a:ext cx="4161390" cy="367259"/>
          </a:xfrm>
          <a:prstGeom prst="rect">
            <a:avLst/>
          </a:prstGeom>
        </p:spPr>
        <p:txBody>
          <a:bodyPr vert="horz" lIns="94837" tIns="47418" rIns="94837" bIns="474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7637" y="6947943"/>
            <a:ext cx="4161390" cy="367259"/>
          </a:xfrm>
          <a:prstGeom prst="rect">
            <a:avLst/>
          </a:prstGeom>
        </p:spPr>
        <p:txBody>
          <a:bodyPr vert="horz" lIns="94837" tIns="47418" rIns="94837" bIns="47418" rtlCol="0" anchor="b"/>
          <a:lstStyle>
            <a:lvl1pPr algn="r">
              <a:defRPr sz="1200"/>
            </a:lvl1pPr>
          </a:lstStyle>
          <a:p>
            <a:fld id="{2958B6B9-6C5B-4AC1-8EA5-52242FF98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61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7030"/>
          </a:xfrm>
          <a:prstGeom prst="rect">
            <a:avLst/>
          </a:prstGeom>
        </p:spPr>
        <p:txBody>
          <a:bodyPr vert="horz" lIns="96639" tIns="48320" rIns="96639" bIns="483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7030"/>
          </a:xfrm>
          <a:prstGeom prst="rect">
            <a:avLst/>
          </a:prstGeom>
        </p:spPr>
        <p:txBody>
          <a:bodyPr vert="horz" lIns="96639" tIns="48320" rIns="96639" bIns="48320" rtlCol="0"/>
          <a:lstStyle>
            <a:lvl1pPr algn="r">
              <a:defRPr sz="1200"/>
            </a:lvl1pPr>
          </a:lstStyle>
          <a:p>
            <a:fld id="{B2368CC4-54C5-461B-B50D-044FC93C64E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55950" y="914400"/>
            <a:ext cx="328930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9" tIns="48320" rIns="96639" bIns="483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42"/>
            <a:ext cx="7680960" cy="2880360"/>
          </a:xfrm>
          <a:prstGeom prst="rect">
            <a:avLst/>
          </a:prstGeom>
        </p:spPr>
        <p:txBody>
          <a:bodyPr vert="horz" lIns="96639" tIns="48320" rIns="96639" bIns="483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39" tIns="48320" rIns="96639" bIns="483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39" tIns="48320" rIns="96639" bIns="48320" rtlCol="0" anchor="b"/>
          <a:lstStyle>
            <a:lvl1pPr algn="r">
              <a:defRPr sz="1200"/>
            </a:lvl1pPr>
          </a:lstStyle>
          <a:p>
            <a:fld id="{9ACD95F9-BF71-4FF4-A282-A7226EE08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4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50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79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82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8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2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19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56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49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88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12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87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16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67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77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75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0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23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5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03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920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677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69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21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603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473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662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869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0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610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091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737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714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096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91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71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64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8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45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057099" y="6233263"/>
            <a:ext cx="3029802" cy="48291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050" dirty="0"/>
              <a:t>The City College of New York</a:t>
            </a:r>
          </a:p>
          <a:p>
            <a:pPr algn="ctr"/>
            <a:r>
              <a:rPr lang="en-US" sz="1050" dirty="0"/>
              <a:t>CSc 44700 -- Introduction to Machine Learning</a:t>
            </a:r>
          </a:p>
          <a:p>
            <a:pPr algn="ctr"/>
            <a:r>
              <a:rPr lang="en-US" sz="1050" dirty="0"/>
              <a:t>Fall 2026 – © 2026 Erik K. Grimmelmann, Ph.D.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C9A01-4B58-440A-ADC3-FF3A96652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7" r:id="rId2"/>
    <p:sldLayoutId id="2147483698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1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0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4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6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2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5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7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65126"/>
            <a:ext cx="7886700" cy="249368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3600" dirty="0"/>
              <a:t>Introduction to Regularization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86600" y="5624513"/>
            <a:ext cx="2057400" cy="274637"/>
          </a:xfrm>
          <a:prstGeom prst="rect">
            <a:avLst/>
          </a:prstGeom>
        </p:spPr>
        <p:txBody>
          <a:bodyPr/>
          <a:lstStyle/>
          <a:p>
            <a:fld id="{049F79B5-3E88-4A84-9F4C-76F1A232CA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6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</a:t>
            </a:r>
            <a:r>
              <a:rPr lang="en-US" sz="2000" dirty="0"/>
              <a:t>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ADEC89-3E50-4C33-82E1-4DE5E928A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75" y="1609576"/>
            <a:ext cx="79946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/>
              <a:t>Regularization</a:t>
            </a:r>
            <a:r>
              <a:rPr lang="en-US" sz="2400" dirty="0"/>
              <a:t> is the process of introducing additional information in order to solve problems more </a:t>
            </a:r>
            <a:r>
              <a:rPr lang="en-US" sz="2400"/>
              <a:t>easily and/or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/>
              <a:t>to </a:t>
            </a:r>
            <a:r>
              <a:rPr lang="en-US" sz="2400" dirty="0"/>
              <a:t>reduce </a:t>
            </a:r>
            <a:r>
              <a:rPr lang="en-US" sz="2400" b="1" dirty="0"/>
              <a:t>overfitting</a:t>
            </a:r>
            <a:r>
              <a:rPr lang="en-US" sz="2400" dirty="0"/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Regularization can enhance the prediction accuracy and/or interpretability of the model it produces.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Regularization often encourages (or requires) models to be simpler rather than more complex.</a:t>
            </a:r>
          </a:p>
        </p:txBody>
      </p:sp>
    </p:spTree>
    <p:extLst>
      <p:ext uri="{BB962C8B-B14F-4D97-AF65-F5344CB8AC3E}">
        <p14:creationId xmlns:p14="http://schemas.microsoft.com/office/powerpoint/2010/main" val="304691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</a:t>
            </a:r>
            <a:r>
              <a:rPr lang="en-US" sz="2000" dirty="0"/>
              <a:t>(2)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3" name="Object 2" descr="MATHML object">
            <a:extLst>
              <a:ext uri="{FF2B5EF4-FFF2-40B4-BE49-F238E27FC236}">
                <a16:creationId xmlns:a16="http://schemas.microsoft.com/office/drawing/2014/main" id="{C1911C0A-4174-446E-B3AC-102C077EBC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320160"/>
              </p:ext>
            </p:extLst>
          </p:nvPr>
        </p:nvGraphicFramePr>
        <p:xfrm>
          <a:off x="628650" y="1452563"/>
          <a:ext cx="7346950" cy="410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46160" imgH="2095200" progId="Equation.DSMT4">
                  <p:embed/>
                </p:oleObj>
              </mc:Choice>
              <mc:Fallback>
                <p:oleObj name="Equation" r:id="rId3" imgW="3746160" imgH="20952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1911C0A-4174-446E-B3AC-102C077EBC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452563"/>
                        <a:ext cx="7346950" cy="410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2501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</a:t>
            </a:r>
            <a:r>
              <a:rPr lang="en-US" sz="2000" dirty="0"/>
              <a:t>(3)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3" name="Object 2" descr="MATHML object">
            <a:extLst>
              <a:ext uri="{FF2B5EF4-FFF2-40B4-BE49-F238E27FC236}">
                <a16:creationId xmlns:a16="http://schemas.microsoft.com/office/drawing/2014/main" id="{C1911C0A-4174-446E-B3AC-102C077EBC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843623"/>
              </p:ext>
            </p:extLst>
          </p:nvPr>
        </p:nvGraphicFramePr>
        <p:xfrm>
          <a:off x="628650" y="1595438"/>
          <a:ext cx="7572375" cy="453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60640" imgH="2311200" progId="Equation.DSMT4">
                  <p:embed/>
                </p:oleObj>
              </mc:Choice>
              <mc:Fallback>
                <p:oleObj name="Equation" r:id="rId3" imgW="3860640" imgH="23112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1911C0A-4174-446E-B3AC-102C077EBC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595438"/>
                        <a:ext cx="7572375" cy="4532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2872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norms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Object 6" descr="MATHML object">
            <a:extLst>
              <a:ext uri="{FF2B5EF4-FFF2-40B4-BE49-F238E27FC236}">
                <a16:creationId xmlns:a16="http://schemas.microsoft.com/office/drawing/2014/main" id="{32ED47B3-6F7F-45CA-9456-869B6C4D8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601670"/>
              </p:ext>
            </p:extLst>
          </p:nvPr>
        </p:nvGraphicFramePr>
        <p:xfrm>
          <a:off x="628650" y="1502021"/>
          <a:ext cx="7607059" cy="4474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86200" imgH="2286000" progId="Equation.DSMT4">
                  <p:embed/>
                </p:oleObj>
              </mc:Choice>
              <mc:Fallback>
                <p:oleObj name="Equation" r:id="rId2" imgW="3886200" imgH="22860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2ED47B3-6F7F-45CA-9456-869B6C4D8B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8650" y="1502021"/>
                        <a:ext cx="7607059" cy="44747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905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88523"/>
          </a:xfrm>
        </p:spPr>
        <p:txBody>
          <a:bodyPr/>
          <a:lstStyle/>
          <a:p>
            <a:r>
              <a:rPr lang="en-US" dirty="0"/>
              <a:t>Various vector norms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3013"/>
            <a:ext cx="7886700" cy="4351338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/>
              <a:t>P</a:t>
            </a:r>
            <a:r>
              <a:rPr lang="en-US" dirty="0"/>
              <a:t> Norm (Minkowski norm) </a:t>
            </a:r>
          </a:p>
          <a:p>
            <a:r>
              <a:rPr lang="en-US" i="1" dirty="0"/>
              <a:t>L</a:t>
            </a:r>
            <a:r>
              <a:rPr lang="en-US" baseline="30000" dirty="0"/>
              <a:t>2</a:t>
            </a:r>
            <a:r>
              <a:rPr lang="en-US" dirty="0"/>
              <a:t> Norm (Euclidean norm)</a:t>
            </a:r>
          </a:p>
          <a:p>
            <a:r>
              <a:rPr lang="en-US" i="1" dirty="0"/>
              <a:t>L</a:t>
            </a:r>
            <a:r>
              <a:rPr lang="en-US" baseline="30000" dirty="0"/>
              <a:t>1</a:t>
            </a:r>
            <a:r>
              <a:rPr lang="en-US" dirty="0"/>
              <a:t> Norm (Taxicab norm, Manhattan norm)</a:t>
            </a:r>
          </a:p>
          <a:p>
            <a:r>
              <a:rPr lang="en-US" i="1" dirty="0"/>
              <a:t>L</a:t>
            </a:r>
            <a:r>
              <a:rPr lang="en-US" baseline="30000" dirty="0"/>
              <a:t>0</a:t>
            </a:r>
            <a:r>
              <a:rPr lang="en-US" dirty="0"/>
              <a:t> Norm</a:t>
            </a:r>
          </a:p>
          <a:p>
            <a:r>
              <a:rPr lang="en-US" i="1" dirty="0"/>
              <a:t>L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Norm (Maximum norm, sup norm)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1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2788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/>
              <a:t>P</a:t>
            </a:r>
            <a:r>
              <a:rPr lang="en-US" dirty="0"/>
              <a:t> norm or Minkowski norm </a:t>
            </a:r>
            <a:r>
              <a:rPr lang="en-US" sz="2000" dirty="0"/>
              <a:t>(1)</a:t>
            </a:r>
          </a:p>
        </p:txBody>
      </p:sp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044953"/>
              </p:ext>
            </p:extLst>
          </p:nvPr>
        </p:nvGraphicFramePr>
        <p:xfrm>
          <a:off x="1876640" y="1871398"/>
          <a:ext cx="11017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711000" progId="Equation.DSMT4">
                  <p:embed/>
                </p:oleObj>
              </mc:Choice>
              <mc:Fallback>
                <p:oleObj name="Equation" r:id="rId3" imgW="583920" imgH="711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6640" y="1871398"/>
                        <a:ext cx="1101725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110746"/>
              </p:ext>
            </p:extLst>
          </p:nvPr>
        </p:nvGraphicFramePr>
        <p:xfrm>
          <a:off x="3410165" y="2301610"/>
          <a:ext cx="17208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53800" progId="Equation.DSMT4">
                  <p:embed/>
                </p:oleObj>
              </mc:Choice>
              <mc:Fallback>
                <p:oleObj name="Equation" r:id="rId5" imgW="914400" imgH="25380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0165" y="2301610"/>
                        <a:ext cx="1720850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515118"/>
              </p:ext>
            </p:extLst>
          </p:nvPr>
        </p:nvGraphicFramePr>
        <p:xfrm>
          <a:off x="1390650" y="3463925"/>
          <a:ext cx="40386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74560" imgH="545760" progId="Equation.DSMT4">
                  <p:embed/>
                </p:oleObj>
              </mc:Choice>
              <mc:Fallback>
                <p:oleObj name="Equation" r:id="rId7" imgW="2374560" imgH="5457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90650" y="3463925"/>
                        <a:ext cx="4038600" cy="928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04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2788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/>
              <a:t>P</a:t>
            </a:r>
            <a:r>
              <a:rPr lang="en-US" dirty="0"/>
              <a:t> norm or Minkowski norm </a:t>
            </a:r>
            <a:r>
              <a:rPr lang="en-US" sz="2000" dirty="0"/>
              <a:t>(2)</a:t>
            </a:r>
          </a:p>
        </p:txBody>
      </p:sp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454693"/>
              </p:ext>
            </p:extLst>
          </p:nvPr>
        </p:nvGraphicFramePr>
        <p:xfrm>
          <a:off x="1876640" y="1871398"/>
          <a:ext cx="11017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711000" progId="Equation.DSMT4">
                  <p:embed/>
                </p:oleObj>
              </mc:Choice>
              <mc:Fallback>
                <p:oleObj name="Equation" r:id="rId3" imgW="583920" imgH="711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6640" y="1871398"/>
                        <a:ext cx="1101725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961685"/>
              </p:ext>
            </p:extLst>
          </p:nvPr>
        </p:nvGraphicFramePr>
        <p:xfrm>
          <a:off x="3410165" y="2301610"/>
          <a:ext cx="17208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53800" progId="Equation.DSMT4">
                  <p:embed/>
                </p:oleObj>
              </mc:Choice>
              <mc:Fallback>
                <p:oleObj name="Equation" r:id="rId5" imgW="914400" imgH="25380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0165" y="2301610"/>
                        <a:ext cx="1720850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63136"/>
              </p:ext>
            </p:extLst>
          </p:nvPr>
        </p:nvGraphicFramePr>
        <p:xfrm>
          <a:off x="1390650" y="3463925"/>
          <a:ext cx="40386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74560" imgH="545760" progId="Equation.DSMT4">
                  <p:embed/>
                </p:oleObj>
              </mc:Choice>
              <mc:Fallback>
                <p:oleObj name="Equation" r:id="rId7" imgW="2374560" imgH="5457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90650" y="3463925"/>
                        <a:ext cx="4038600" cy="928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FADFA-D4BB-445D-B49D-F6CD9D1F29E1}"/>
              </a:ext>
            </a:extLst>
          </p:cNvPr>
          <p:cNvSpPr txBox="1"/>
          <p:nvPr/>
        </p:nvSpPr>
        <p:spPr>
          <a:xfrm>
            <a:off x="6934730" y="2501218"/>
            <a:ext cx="28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grpSp>
        <p:nvGrpSpPr>
          <p:cNvPr id="5" name="Group 4" descr="Plot of the vector (3,2)">
            <a:extLst>
              <a:ext uri="{FF2B5EF4-FFF2-40B4-BE49-F238E27FC236}">
                <a16:creationId xmlns:a16="http://schemas.microsoft.com/office/drawing/2014/main" id="{1892175F-ABE6-AF97-9017-BE0BB0703AF5}"/>
              </a:ext>
            </a:extLst>
          </p:cNvPr>
          <p:cNvGrpSpPr/>
          <p:nvPr/>
        </p:nvGrpSpPr>
        <p:grpSpPr>
          <a:xfrm>
            <a:off x="6020766" y="1541877"/>
            <a:ext cx="1758769" cy="982404"/>
            <a:chOff x="6020766" y="1541877"/>
            <a:chExt cx="1758769" cy="982404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21C2CA2-B7A2-411D-A0F2-42941FE43199}"/>
                </a:ext>
              </a:extLst>
            </p:cNvPr>
            <p:cNvCxnSpPr/>
            <p:nvPr/>
          </p:nvCxnSpPr>
          <p:spPr>
            <a:xfrm>
              <a:off x="6374848" y="2517655"/>
              <a:ext cx="14046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A79FC3D-FE3E-4998-A985-4952DD813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8274" y="1541877"/>
              <a:ext cx="0" cy="9625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085546E-2D81-4EEF-A67A-D0EFFD84D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8100" y="1561755"/>
              <a:ext cx="1384635" cy="9625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7C340E-1746-4F07-B311-B568BB160AC3}"/>
                </a:ext>
              </a:extLst>
            </p:cNvPr>
            <p:cNvSpPr txBox="1"/>
            <p:nvPr/>
          </p:nvSpPr>
          <p:spPr>
            <a:xfrm>
              <a:off x="6020766" y="1838474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graphicFrame>
        <p:nvGraphicFramePr>
          <p:cNvPr id="13" name="Object 12" descr="MATHML object">
            <a:extLst>
              <a:ext uri="{FF2B5EF4-FFF2-40B4-BE49-F238E27FC236}">
                <a16:creationId xmlns:a16="http://schemas.microsoft.com/office/drawing/2014/main" id="{F954199B-03DC-4BEB-87D1-0582CCD0F7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958429"/>
              </p:ext>
            </p:extLst>
          </p:nvPr>
        </p:nvGraphicFramePr>
        <p:xfrm>
          <a:off x="6162675" y="2824163"/>
          <a:ext cx="19034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17440" imgH="342720" progId="Equation.DSMT4">
                  <p:embed/>
                </p:oleObj>
              </mc:Choice>
              <mc:Fallback>
                <p:oleObj name="Equation" r:id="rId9" imgW="1117440" imgH="34272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F954199B-03DC-4BEB-87D1-0582CCD0F7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62675" y="2824163"/>
                        <a:ext cx="1903413" cy="582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5719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41250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/>
              <a:t>2</a:t>
            </a:r>
            <a:r>
              <a:rPr lang="en-US" dirty="0"/>
              <a:t> norm (Euclidean norm) </a:t>
            </a:r>
            <a:r>
              <a:rPr lang="en-US" sz="2000" dirty="0"/>
              <a:t>(1)</a:t>
            </a:r>
          </a:p>
        </p:txBody>
      </p:sp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740900"/>
              </p:ext>
            </p:extLst>
          </p:nvPr>
        </p:nvGraphicFramePr>
        <p:xfrm>
          <a:off x="1876640" y="1871398"/>
          <a:ext cx="11017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711000" progId="Equation.DSMT4">
                  <p:embed/>
                </p:oleObj>
              </mc:Choice>
              <mc:Fallback>
                <p:oleObj name="Equation" r:id="rId3" imgW="583920" imgH="711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6640" y="1871398"/>
                        <a:ext cx="1101725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157485"/>
              </p:ext>
            </p:extLst>
          </p:nvPr>
        </p:nvGraphicFramePr>
        <p:xfrm>
          <a:off x="3410165" y="2301610"/>
          <a:ext cx="17208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53800" progId="Equation.DSMT4">
                  <p:embed/>
                </p:oleObj>
              </mc:Choice>
              <mc:Fallback>
                <p:oleObj name="Equation" r:id="rId5" imgW="914400" imgH="25380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0165" y="2301610"/>
                        <a:ext cx="1720850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058371"/>
              </p:ext>
            </p:extLst>
          </p:nvPr>
        </p:nvGraphicFramePr>
        <p:xfrm>
          <a:off x="1549400" y="3492500"/>
          <a:ext cx="4124325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25680" imgH="1371600" progId="Equation.DSMT4">
                  <p:embed/>
                </p:oleObj>
              </mc:Choice>
              <mc:Fallback>
                <p:oleObj name="Equation" r:id="rId7" imgW="2425680" imgH="13716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9400" y="3492500"/>
                        <a:ext cx="4124325" cy="2335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41250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/>
              <a:t>2</a:t>
            </a:r>
            <a:r>
              <a:rPr lang="en-US" dirty="0"/>
              <a:t> norm (Euclidean norm) </a:t>
            </a:r>
            <a:r>
              <a:rPr lang="en-US" sz="2000" dirty="0"/>
              <a:t>(2)</a:t>
            </a:r>
          </a:p>
        </p:txBody>
      </p:sp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462567"/>
              </p:ext>
            </p:extLst>
          </p:nvPr>
        </p:nvGraphicFramePr>
        <p:xfrm>
          <a:off x="1876640" y="1871398"/>
          <a:ext cx="11017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711000" progId="Equation.DSMT4">
                  <p:embed/>
                </p:oleObj>
              </mc:Choice>
              <mc:Fallback>
                <p:oleObj name="Equation" r:id="rId3" imgW="583920" imgH="711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6640" y="1871398"/>
                        <a:ext cx="1101725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375019"/>
              </p:ext>
            </p:extLst>
          </p:nvPr>
        </p:nvGraphicFramePr>
        <p:xfrm>
          <a:off x="3410165" y="2301610"/>
          <a:ext cx="17208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53800" progId="Equation.DSMT4">
                  <p:embed/>
                </p:oleObj>
              </mc:Choice>
              <mc:Fallback>
                <p:oleObj name="Equation" r:id="rId5" imgW="914400" imgH="25380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0165" y="2301610"/>
                        <a:ext cx="1720850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008241"/>
              </p:ext>
            </p:extLst>
          </p:nvPr>
        </p:nvGraphicFramePr>
        <p:xfrm>
          <a:off x="1549400" y="3492500"/>
          <a:ext cx="4124325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25680" imgH="1371600" progId="Equation.DSMT4">
                  <p:embed/>
                </p:oleObj>
              </mc:Choice>
              <mc:Fallback>
                <p:oleObj name="Equation" r:id="rId7" imgW="2425680" imgH="13716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9400" y="3492500"/>
                        <a:ext cx="4124325" cy="2335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10</a:t>
            </a:fld>
            <a:endParaRPr lang="en-US"/>
          </a:p>
        </p:txBody>
      </p:sp>
      <p:grpSp>
        <p:nvGrpSpPr>
          <p:cNvPr id="2" name="Group 1" descr="Plot of the vector (3,2)">
            <a:extLst>
              <a:ext uri="{FF2B5EF4-FFF2-40B4-BE49-F238E27FC236}">
                <a16:creationId xmlns:a16="http://schemas.microsoft.com/office/drawing/2014/main" id="{27BD4D68-4B6C-DFCE-A9F2-2AEB770B5246}"/>
              </a:ext>
            </a:extLst>
          </p:cNvPr>
          <p:cNvGrpSpPr/>
          <p:nvPr/>
        </p:nvGrpSpPr>
        <p:grpSpPr>
          <a:xfrm>
            <a:off x="6020766" y="1541877"/>
            <a:ext cx="1758769" cy="1328673"/>
            <a:chOff x="6020766" y="1541877"/>
            <a:chExt cx="1758769" cy="132867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1C6BE92-7F2C-4783-8008-42C45141DA0F}"/>
                </a:ext>
              </a:extLst>
            </p:cNvPr>
            <p:cNvCxnSpPr/>
            <p:nvPr/>
          </p:nvCxnSpPr>
          <p:spPr>
            <a:xfrm>
              <a:off x="6374848" y="2517655"/>
              <a:ext cx="14046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EC60927-A75B-4607-8202-E4F74906FB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8274" y="1541877"/>
              <a:ext cx="0" cy="9625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C40FF7E-1D90-4A96-A730-0BF5CA0D48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8100" y="1561755"/>
              <a:ext cx="1384635" cy="9625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60B9ED-81CA-45C2-BEA7-599EBB423066}"/>
                </a:ext>
              </a:extLst>
            </p:cNvPr>
            <p:cNvSpPr txBox="1"/>
            <p:nvPr/>
          </p:nvSpPr>
          <p:spPr>
            <a:xfrm>
              <a:off x="6934730" y="2501218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E702EFF-D26D-4726-9383-913A3AA53B13}"/>
                </a:ext>
              </a:extLst>
            </p:cNvPr>
            <p:cNvSpPr txBox="1"/>
            <p:nvPr/>
          </p:nvSpPr>
          <p:spPr>
            <a:xfrm>
              <a:off x="6020766" y="1838474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graphicFrame>
        <p:nvGraphicFramePr>
          <p:cNvPr id="19" name="Object 18" descr="MATHML object">
            <a:extLst>
              <a:ext uri="{FF2B5EF4-FFF2-40B4-BE49-F238E27FC236}">
                <a16:creationId xmlns:a16="http://schemas.microsoft.com/office/drawing/2014/main" id="{77BB9BA0-B66A-4180-ACAD-5908F228C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754228"/>
              </p:ext>
            </p:extLst>
          </p:nvPr>
        </p:nvGraphicFramePr>
        <p:xfrm>
          <a:off x="6318250" y="2870200"/>
          <a:ext cx="23368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291960" progId="Equation.DSMT4">
                  <p:embed/>
                </p:oleObj>
              </mc:Choice>
              <mc:Fallback>
                <p:oleObj name="Equation" r:id="rId9" imgW="1371600" imgH="29196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77BB9BA0-B66A-4180-ACAD-5908F228C4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18250" y="2870200"/>
                        <a:ext cx="2336800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87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8296986" cy="662290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/>
              <a:t>1</a:t>
            </a:r>
            <a:r>
              <a:rPr lang="en-US" dirty="0"/>
              <a:t> norm (Taxicab norm, Manhattan norm) </a:t>
            </a:r>
            <a:r>
              <a:rPr lang="en-US" sz="2000" dirty="0"/>
              <a:t>(1)</a:t>
            </a:r>
          </a:p>
        </p:txBody>
      </p:sp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376609"/>
              </p:ext>
            </p:extLst>
          </p:nvPr>
        </p:nvGraphicFramePr>
        <p:xfrm>
          <a:off x="1888440" y="1859599"/>
          <a:ext cx="11017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711000" progId="Equation.DSMT4">
                  <p:embed/>
                </p:oleObj>
              </mc:Choice>
              <mc:Fallback>
                <p:oleObj name="Equation" r:id="rId3" imgW="583920" imgH="711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8440" y="1859599"/>
                        <a:ext cx="1101725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265747"/>
              </p:ext>
            </p:extLst>
          </p:nvPr>
        </p:nvGraphicFramePr>
        <p:xfrm>
          <a:off x="1189831" y="3561650"/>
          <a:ext cx="6764338" cy="200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74760" imgH="1180800" progId="Equation.DSMT4">
                  <p:embed/>
                </p:oleObj>
              </mc:Choice>
              <mc:Fallback>
                <p:oleObj name="Equation" r:id="rId5" imgW="3974760" imgH="11808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9831" y="3561650"/>
                        <a:ext cx="6764338" cy="2008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34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8296986" cy="662290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/>
              <a:t>1</a:t>
            </a:r>
            <a:r>
              <a:rPr lang="en-US" dirty="0"/>
              <a:t> norm (Taxicab norm, Manhattan norm) </a:t>
            </a:r>
            <a:r>
              <a:rPr lang="en-US" sz="2000" dirty="0"/>
              <a:t>(2)</a:t>
            </a:r>
          </a:p>
        </p:txBody>
      </p:sp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671339"/>
              </p:ext>
            </p:extLst>
          </p:nvPr>
        </p:nvGraphicFramePr>
        <p:xfrm>
          <a:off x="1888440" y="1859599"/>
          <a:ext cx="11017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711000" progId="Equation.DSMT4">
                  <p:embed/>
                </p:oleObj>
              </mc:Choice>
              <mc:Fallback>
                <p:oleObj name="Equation" r:id="rId3" imgW="583920" imgH="711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8440" y="1859599"/>
                        <a:ext cx="1101725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367177"/>
              </p:ext>
            </p:extLst>
          </p:nvPr>
        </p:nvGraphicFramePr>
        <p:xfrm>
          <a:off x="1146175" y="3554467"/>
          <a:ext cx="6851650" cy="200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25880" imgH="1180800" progId="Equation.DSMT4">
                  <p:embed/>
                </p:oleObj>
              </mc:Choice>
              <mc:Fallback>
                <p:oleObj name="Equation" r:id="rId5" imgW="4025880" imgH="11808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6175" y="3554467"/>
                        <a:ext cx="6851650" cy="2008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12</a:t>
            </a:fld>
            <a:endParaRPr lang="en-US"/>
          </a:p>
        </p:txBody>
      </p:sp>
      <p:grpSp>
        <p:nvGrpSpPr>
          <p:cNvPr id="5" name="Group 4" descr="Plot of the vector (3,2)">
            <a:extLst>
              <a:ext uri="{FF2B5EF4-FFF2-40B4-BE49-F238E27FC236}">
                <a16:creationId xmlns:a16="http://schemas.microsoft.com/office/drawing/2014/main" id="{989CBE8E-6224-AD06-9649-98B1B61F43C3}"/>
              </a:ext>
            </a:extLst>
          </p:cNvPr>
          <p:cNvGrpSpPr/>
          <p:nvPr/>
        </p:nvGrpSpPr>
        <p:grpSpPr>
          <a:xfrm>
            <a:off x="6115737" y="1555618"/>
            <a:ext cx="1683157" cy="1328673"/>
            <a:chOff x="6115737" y="1555618"/>
            <a:chExt cx="1683157" cy="1328673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102C752-8633-489A-9E7A-6D500BE6B01C}"/>
                </a:ext>
              </a:extLst>
            </p:cNvPr>
            <p:cNvCxnSpPr/>
            <p:nvPr/>
          </p:nvCxnSpPr>
          <p:spPr>
            <a:xfrm>
              <a:off x="6394207" y="2531396"/>
              <a:ext cx="14046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52E10BD-E3C5-491A-A067-CBA8743AE6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7633" y="1555618"/>
              <a:ext cx="0" cy="9625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75AD2ED-D5F3-466C-AC02-6C8319C082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7459" y="1575496"/>
              <a:ext cx="1384635" cy="9625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96C4D-8104-41FF-AA47-4C37E4DB5429}"/>
                </a:ext>
              </a:extLst>
            </p:cNvPr>
            <p:cNvSpPr txBox="1"/>
            <p:nvPr/>
          </p:nvSpPr>
          <p:spPr>
            <a:xfrm>
              <a:off x="6954089" y="2514959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86D1ED4-7ABE-4CBA-8415-2BCFA7CDF223}"/>
                </a:ext>
              </a:extLst>
            </p:cNvPr>
            <p:cNvSpPr txBox="1"/>
            <p:nvPr/>
          </p:nvSpPr>
          <p:spPr>
            <a:xfrm>
              <a:off x="6115737" y="1816884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graphicFrame>
        <p:nvGraphicFramePr>
          <p:cNvPr id="17" name="Object 16" descr="MATHML object">
            <a:extLst>
              <a:ext uri="{FF2B5EF4-FFF2-40B4-BE49-F238E27FC236}">
                <a16:creationId xmlns:a16="http://schemas.microsoft.com/office/drawing/2014/main" id="{D347555D-7643-4C61-9B95-05B4F18503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347095"/>
              </p:ext>
            </p:extLst>
          </p:nvPr>
        </p:nvGraphicFramePr>
        <p:xfrm>
          <a:off x="6363504" y="2992856"/>
          <a:ext cx="17510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28520" imgH="253800" progId="Equation.DSMT4">
                  <p:embed/>
                </p:oleObj>
              </mc:Choice>
              <mc:Fallback>
                <p:oleObj name="Equation" r:id="rId7" imgW="1028520" imgH="25380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D347555D-7643-4C61-9B95-05B4F18503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63504" y="2992856"/>
                        <a:ext cx="1751013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7010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8296986" cy="682428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/>
              <a:t>0</a:t>
            </a:r>
            <a:r>
              <a:rPr lang="en-US" dirty="0"/>
              <a:t> norm </a:t>
            </a:r>
            <a:r>
              <a:rPr lang="en-US" sz="2000" dirty="0"/>
              <a:t>(1)</a:t>
            </a:r>
          </a:p>
        </p:txBody>
      </p:sp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422531"/>
              </p:ext>
            </p:extLst>
          </p:nvPr>
        </p:nvGraphicFramePr>
        <p:xfrm>
          <a:off x="1876640" y="1859598"/>
          <a:ext cx="11017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711000" progId="Equation.DSMT4">
                  <p:embed/>
                </p:oleObj>
              </mc:Choice>
              <mc:Fallback>
                <p:oleObj name="Equation" r:id="rId3" imgW="583920" imgH="711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6640" y="1859598"/>
                        <a:ext cx="1101725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76873"/>
              </p:ext>
            </p:extLst>
          </p:nvPr>
        </p:nvGraphicFramePr>
        <p:xfrm>
          <a:off x="1341889" y="4393966"/>
          <a:ext cx="616902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19440" imgH="457200" progId="Equation.DSMT4">
                  <p:embed/>
                </p:oleObj>
              </mc:Choice>
              <mc:Fallback>
                <p:oleObj name="Equation" r:id="rId5" imgW="3619440" imgH="45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1889" y="4393966"/>
                        <a:ext cx="6169025" cy="776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728739"/>
              </p:ext>
            </p:extLst>
          </p:nvPr>
        </p:nvGraphicFramePr>
        <p:xfrm>
          <a:off x="1341889" y="5344356"/>
          <a:ext cx="46545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30240" imgH="253800" progId="Equation.DSMT4">
                  <p:embed/>
                </p:oleObj>
              </mc:Choice>
              <mc:Fallback>
                <p:oleObj name="Equation" r:id="rId7" imgW="2730240" imgH="2538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41889" y="5344356"/>
                        <a:ext cx="465455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774809"/>
              </p:ext>
            </p:extLst>
          </p:nvPr>
        </p:nvGraphicFramePr>
        <p:xfrm>
          <a:off x="1341889" y="3474373"/>
          <a:ext cx="4914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82880" imgH="419040" progId="Equation.DSMT4">
                  <p:embed/>
                </p:oleObj>
              </mc:Choice>
              <mc:Fallback>
                <p:oleObj name="Equation" r:id="rId9" imgW="2882880" imgH="41904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41889" y="3474373"/>
                        <a:ext cx="49149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39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8296986" cy="682428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/>
              <a:t>0</a:t>
            </a:r>
            <a:r>
              <a:rPr lang="en-US" dirty="0"/>
              <a:t> norm </a:t>
            </a:r>
            <a:r>
              <a:rPr lang="en-US" sz="2000" dirty="0"/>
              <a:t>(2)</a:t>
            </a:r>
          </a:p>
        </p:txBody>
      </p:sp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48524"/>
              </p:ext>
            </p:extLst>
          </p:nvPr>
        </p:nvGraphicFramePr>
        <p:xfrm>
          <a:off x="1876640" y="1859598"/>
          <a:ext cx="11017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711000" progId="Equation.DSMT4">
                  <p:embed/>
                </p:oleObj>
              </mc:Choice>
              <mc:Fallback>
                <p:oleObj name="Equation" r:id="rId3" imgW="583920" imgH="711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6640" y="1859598"/>
                        <a:ext cx="1101725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812491"/>
              </p:ext>
            </p:extLst>
          </p:nvPr>
        </p:nvGraphicFramePr>
        <p:xfrm>
          <a:off x="1341889" y="4393966"/>
          <a:ext cx="616902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19440" imgH="457200" progId="Equation.DSMT4">
                  <p:embed/>
                </p:oleObj>
              </mc:Choice>
              <mc:Fallback>
                <p:oleObj name="Equation" r:id="rId5" imgW="3619440" imgH="45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1889" y="4393966"/>
                        <a:ext cx="6169025" cy="776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043425"/>
              </p:ext>
            </p:extLst>
          </p:nvPr>
        </p:nvGraphicFramePr>
        <p:xfrm>
          <a:off x="1341889" y="5378646"/>
          <a:ext cx="46545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30240" imgH="253800" progId="Equation.DSMT4">
                  <p:embed/>
                </p:oleObj>
              </mc:Choice>
              <mc:Fallback>
                <p:oleObj name="Equation" r:id="rId7" imgW="2730240" imgH="2538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41889" y="5378646"/>
                        <a:ext cx="465455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795364"/>
              </p:ext>
            </p:extLst>
          </p:nvPr>
        </p:nvGraphicFramePr>
        <p:xfrm>
          <a:off x="1341889" y="3474373"/>
          <a:ext cx="4914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82880" imgH="419040" progId="Equation.DSMT4">
                  <p:embed/>
                </p:oleObj>
              </mc:Choice>
              <mc:Fallback>
                <p:oleObj name="Equation" r:id="rId9" imgW="2882880" imgH="41904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41889" y="3474373"/>
                        <a:ext cx="49149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14</a:t>
            </a:fld>
            <a:endParaRPr lang="en-US"/>
          </a:p>
        </p:txBody>
      </p:sp>
      <p:grpSp>
        <p:nvGrpSpPr>
          <p:cNvPr id="5" name="Group 4" descr="Plot of the vector (3,2)">
            <a:extLst>
              <a:ext uri="{FF2B5EF4-FFF2-40B4-BE49-F238E27FC236}">
                <a16:creationId xmlns:a16="http://schemas.microsoft.com/office/drawing/2014/main" id="{548A10DA-4E9E-B804-137E-95000A08CD07}"/>
              </a:ext>
            </a:extLst>
          </p:cNvPr>
          <p:cNvGrpSpPr/>
          <p:nvPr/>
        </p:nvGrpSpPr>
        <p:grpSpPr>
          <a:xfrm>
            <a:off x="6125754" y="1559962"/>
            <a:ext cx="1683157" cy="1328673"/>
            <a:chOff x="6125754" y="1559962"/>
            <a:chExt cx="1683157" cy="132867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98126EA-8A4D-4E2F-A7F4-5FEBAA514F0A}"/>
                </a:ext>
              </a:extLst>
            </p:cNvPr>
            <p:cNvCxnSpPr/>
            <p:nvPr/>
          </p:nvCxnSpPr>
          <p:spPr>
            <a:xfrm>
              <a:off x="6404224" y="2535740"/>
              <a:ext cx="14046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BF13819-26A2-4443-AC88-0B08E902CF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650" y="1559962"/>
              <a:ext cx="0" cy="9625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A0BF42E-775A-46A5-9EA9-794776692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476" y="1579840"/>
              <a:ext cx="1384635" cy="9625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F6D1B3-6080-4D7E-9521-C5791AA5554A}"/>
                </a:ext>
              </a:extLst>
            </p:cNvPr>
            <p:cNvSpPr txBox="1"/>
            <p:nvPr/>
          </p:nvSpPr>
          <p:spPr>
            <a:xfrm>
              <a:off x="6964106" y="2519303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6D46B1-2D7F-4E0F-A75B-F5459AE92F21}"/>
                </a:ext>
              </a:extLst>
            </p:cNvPr>
            <p:cNvSpPr txBox="1"/>
            <p:nvPr/>
          </p:nvSpPr>
          <p:spPr>
            <a:xfrm>
              <a:off x="6125754" y="1821228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graphicFrame>
        <p:nvGraphicFramePr>
          <p:cNvPr id="14" name="Object 13" descr="MATHML object">
            <a:extLst>
              <a:ext uri="{FF2B5EF4-FFF2-40B4-BE49-F238E27FC236}">
                <a16:creationId xmlns:a16="http://schemas.microsoft.com/office/drawing/2014/main" id="{3183F94F-4947-4BD3-A636-5E42E536DB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290243"/>
              </p:ext>
            </p:extLst>
          </p:nvPr>
        </p:nvGraphicFramePr>
        <p:xfrm>
          <a:off x="5714709" y="2917638"/>
          <a:ext cx="30686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03240" imgH="253800" progId="Equation.DSMT4">
                  <p:embed/>
                </p:oleObj>
              </mc:Choice>
              <mc:Fallback>
                <p:oleObj name="Equation" r:id="rId11" imgW="1803240" imgH="2538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3183F94F-4947-4BD3-A636-5E42E536DB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14709" y="2917638"/>
                        <a:ext cx="3068638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7662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96986" cy="621193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dirty="0"/>
              <a:t> norm (Maximum norm, sup norm) </a:t>
            </a:r>
            <a:r>
              <a:rPr lang="en-US" sz="2000" dirty="0"/>
              <a:t>(1)</a:t>
            </a:r>
          </a:p>
        </p:txBody>
      </p:sp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296756"/>
              </p:ext>
            </p:extLst>
          </p:nvPr>
        </p:nvGraphicFramePr>
        <p:xfrm>
          <a:off x="1876640" y="1859598"/>
          <a:ext cx="11017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711000" progId="Equation.DSMT4">
                  <p:embed/>
                </p:oleObj>
              </mc:Choice>
              <mc:Fallback>
                <p:oleObj name="Equation" r:id="rId3" imgW="583920" imgH="711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6640" y="1859598"/>
                        <a:ext cx="1101725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094608"/>
              </p:ext>
            </p:extLst>
          </p:nvPr>
        </p:nvGraphicFramePr>
        <p:xfrm>
          <a:off x="1331913" y="4461828"/>
          <a:ext cx="17097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253800" progId="Equation.DSMT4">
                  <p:embed/>
                </p:oleObj>
              </mc:Choice>
              <mc:Fallback>
                <p:oleObj name="Equation" r:id="rId5" imgW="1002960" imgH="2538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913" y="4461828"/>
                        <a:ext cx="1709737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292020"/>
              </p:ext>
            </p:extLst>
          </p:nvPr>
        </p:nvGraphicFramePr>
        <p:xfrm>
          <a:off x="1312863" y="5167313"/>
          <a:ext cx="50863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84400" imgH="253800" progId="Equation.DSMT4">
                  <p:embed/>
                </p:oleObj>
              </mc:Choice>
              <mc:Fallback>
                <p:oleObj name="Equation" r:id="rId7" imgW="2984400" imgH="2538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12863" y="5167313"/>
                        <a:ext cx="508635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840137"/>
              </p:ext>
            </p:extLst>
          </p:nvPr>
        </p:nvGraphicFramePr>
        <p:xfrm>
          <a:off x="1289050" y="3367088"/>
          <a:ext cx="50228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46240" imgH="545760" progId="Equation.DSMT4">
                  <p:embed/>
                </p:oleObj>
              </mc:Choice>
              <mc:Fallback>
                <p:oleObj name="Equation" r:id="rId9" imgW="2946240" imgH="54576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89050" y="3367088"/>
                        <a:ext cx="502285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68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96986" cy="621193"/>
          </a:xfrm>
        </p:spPr>
        <p:txBody>
          <a:bodyPr/>
          <a:lstStyle/>
          <a:p>
            <a:r>
              <a:rPr lang="en-US" i="1" dirty="0"/>
              <a:t>L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r>
              <a:rPr lang="en-US" dirty="0"/>
              <a:t> norm (Maximum norm, sup norm) </a:t>
            </a:r>
            <a:r>
              <a:rPr lang="en-US" sz="2000" dirty="0"/>
              <a:t>(2)</a:t>
            </a:r>
          </a:p>
        </p:txBody>
      </p:sp>
      <p:graphicFrame>
        <p:nvGraphicFramePr>
          <p:cNvPr id="7" name="Object 6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399120"/>
              </p:ext>
            </p:extLst>
          </p:nvPr>
        </p:nvGraphicFramePr>
        <p:xfrm>
          <a:off x="1907380" y="1820911"/>
          <a:ext cx="11017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711000" progId="Equation.DSMT4">
                  <p:embed/>
                </p:oleObj>
              </mc:Choice>
              <mc:Fallback>
                <p:oleObj name="Equation" r:id="rId3" imgW="583920" imgH="7110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380" y="1820911"/>
                        <a:ext cx="1101725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829878"/>
              </p:ext>
            </p:extLst>
          </p:nvPr>
        </p:nvGraphicFramePr>
        <p:xfrm>
          <a:off x="1331913" y="4461828"/>
          <a:ext cx="17097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253800" progId="Equation.DSMT4">
                  <p:embed/>
                </p:oleObj>
              </mc:Choice>
              <mc:Fallback>
                <p:oleObj name="Equation" r:id="rId5" imgW="1002960" imgH="2538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913" y="4461828"/>
                        <a:ext cx="1709737" cy="43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885175"/>
              </p:ext>
            </p:extLst>
          </p:nvPr>
        </p:nvGraphicFramePr>
        <p:xfrm>
          <a:off x="1312863" y="5167313"/>
          <a:ext cx="50863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84400" imgH="253800" progId="Equation.DSMT4">
                  <p:embed/>
                </p:oleObj>
              </mc:Choice>
              <mc:Fallback>
                <p:oleObj name="Equation" r:id="rId7" imgW="2984400" imgH="2538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12863" y="5167313"/>
                        <a:ext cx="508635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 descr="MATHML objec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041177"/>
              </p:ext>
            </p:extLst>
          </p:nvPr>
        </p:nvGraphicFramePr>
        <p:xfrm>
          <a:off x="1289050" y="3393215"/>
          <a:ext cx="50228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46240" imgH="545760" progId="Equation.DSMT4">
                  <p:embed/>
                </p:oleObj>
              </mc:Choice>
              <mc:Fallback>
                <p:oleObj name="Equation" r:id="rId9" imgW="2946240" imgH="54576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89050" y="3393215"/>
                        <a:ext cx="502285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16</a:t>
            </a:fld>
            <a:endParaRPr lang="en-US"/>
          </a:p>
        </p:txBody>
      </p:sp>
      <p:grpSp>
        <p:nvGrpSpPr>
          <p:cNvPr id="5" name="Group 4" descr="Plot of the vector (3,2)">
            <a:extLst>
              <a:ext uri="{FF2B5EF4-FFF2-40B4-BE49-F238E27FC236}">
                <a16:creationId xmlns:a16="http://schemas.microsoft.com/office/drawing/2014/main" id="{A086DADD-5B2A-4923-6DF1-49859B5F315E}"/>
              </a:ext>
            </a:extLst>
          </p:cNvPr>
          <p:cNvGrpSpPr/>
          <p:nvPr/>
        </p:nvGrpSpPr>
        <p:grpSpPr>
          <a:xfrm>
            <a:off x="6113346" y="1546310"/>
            <a:ext cx="1683157" cy="1328673"/>
            <a:chOff x="6113346" y="1546310"/>
            <a:chExt cx="1683157" cy="132867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F286A22-A8A0-488A-AC9E-BA55674FA7E2}"/>
                </a:ext>
              </a:extLst>
            </p:cNvPr>
            <p:cNvCxnSpPr/>
            <p:nvPr/>
          </p:nvCxnSpPr>
          <p:spPr>
            <a:xfrm>
              <a:off x="6391816" y="2522088"/>
              <a:ext cx="14046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2C4F707-67B3-495B-9715-D2F49C36D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5242" y="1546310"/>
              <a:ext cx="0" cy="9625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5F30BD7-0A3A-4702-8CC8-27BF736BE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5068" y="1566188"/>
              <a:ext cx="1384635" cy="9625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ECEDFF-5073-46D9-9CB6-BA145A5193A0}"/>
                </a:ext>
              </a:extLst>
            </p:cNvPr>
            <p:cNvSpPr txBox="1"/>
            <p:nvPr/>
          </p:nvSpPr>
          <p:spPr>
            <a:xfrm>
              <a:off x="6951698" y="2505651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853EAE-0791-4383-AAA8-F5FBEA3BF923}"/>
                </a:ext>
              </a:extLst>
            </p:cNvPr>
            <p:cNvSpPr txBox="1"/>
            <p:nvPr/>
          </p:nvSpPr>
          <p:spPr>
            <a:xfrm>
              <a:off x="6113346" y="1807576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graphicFrame>
        <p:nvGraphicFramePr>
          <p:cNvPr id="14" name="Object 13" descr="MATHML object">
            <a:extLst>
              <a:ext uri="{FF2B5EF4-FFF2-40B4-BE49-F238E27FC236}">
                <a16:creationId xmlns:a16="http://schemas.microsoft.com/office/drawing/2014/main" id="{40E75776-58A1-45AA-828D-2CC9567C8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019987"/>
              </p:ext>
            </p:extLst>
          </p:nvPr>
        </p:nvGraphicFramePr>
        <p:xfrm>
          <a:off x="6037263" y="2962275"/>
          <a:ext cx="24003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279360" progId="Equation.DSMT4">
                  <p:embed/>
                </p:oleObj>
              </mc:Choice>
              <mc:Fallback>
                <p:oleObj name="Equation" r:id="rId11" imgW="1409400" imgH="27936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0E75776-58A1-45AA-828D-2CC9567C8B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37263" y="2962275"/>
                        <a:ext cx="2400300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1795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96986" cy="621193"/>
          </a:xfrm>
        </p:spPr>
        <p:txBody>
          <a:bodyPr/>
          <a:lstStyle/>
          <a:p>
            <a:r>
              <a:rPr lang="en-US" dirty="0"/>
              <a:t>Norm examples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052C7-3842-419A-B5C7-9F5404148B8C}" type="slidenum">
              <a:rPr lang="en-US" smtClean="0"/>
              <a:t>17</a:t>
            </a:fld>
            <a:endParaRPr lang="en-US"/>
          </a:p>
        </p:txBody>
      </p:sp>
      <p:grpSp>
        <p:nvGrpSpPr>
          <p:cNvPr id="2" name="Group 1" descr="Plot of the vector (3,2)">
            <a:extLst>
              <a:ext uri="{FF2B5EF4-FFF2-40B4-BE49-F238E27FC236}">
                <a16:creationId xmlns:a16="http://schemas.microsoft.com/office/drawing/2014/main" id="{F6909818-5B24-6EC2-ED1E-353299A4C8B7}"/>
              </a:ext>
            </a:extLst>
          </p:cNvPr>
          <p:cNvGrpSpPr/>
          <p:nvPr/>
        </p:nvGrpSpPr>
        <p:grpSpPr>
          <a:xfrm>
            <a:off x="965904" y="1872930"/>
            <a:ext cx="1683157" cy="1328673"/>
            <a:chOff x="965904" y="1872930"/>
            <a:chExt cx="1683157" cy="132867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F286A22-A8A0-488A-AC9E-BA55674FA7E2}"/>
                </a:ext>
              </a:extLst>
            </p:cNvPr>
            <p:cNvCxnSpPr/>
            <p:nvPr/>
          </p:nvCxnSpPr>
          <p:spPr>
            <a:xfrm>
              <a:off x="1244374" y="2848708"/>
              <a:ext cx="14046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2C4F707-67B3-495B-9715-D2F49C36D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7800" y="1872930"/>
              <a:ext cx="0" cy="9625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5F30BD7-0A3A-4702-8CC8-27BF736BE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7626" y="1892808"/>
              <a:ext cx="1384635" cy="9625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ECEDFF-5073-46D9-9CB6-BA145A5193A0}"/>
                </a:ext>
              </a:extLst>
            </p:cNvPr>
            <p:cNvSpPr txBox="1"/>
            <p:nvPr/>
          </p:nvSpPr>
          <p:spPr>
            <a:xfrm>
              <a:off x="1804256" y="2832271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853EAE-0791-4383-AAA8-F5FBEA3BF923}"/>
                </a:ext>
              </a:extLst>
            </p:cNvPr>
            <p:cNvSpPr txBox="1"/>
            <p:nvPr/>
          </p:nvSpPr>
          <p:spPr>
            <a:xfrm>
              <a:off x="965904" y="2134196"/>
              <a:ext cx="284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graphicFrame>
        <p:nvGraphicFramePr>
          <p:cNvPr id="14" name="Object 13" descr="MATHML object">
            <a:extLst>
              <a:ext uri="{FF2B5EF4-FFF2-40B4-BE49-F238E27FC236}">
                <a16:creationId xmlns:a16="http://schemas.microsoft.com/office/drawing/2014/main" id="{40E75776-58A1-45AA-828D-2CC9567C8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861707"/>
              </p:ext>
            </p:extLst>
          </p:nvPr>
        </p:nvGraphicFramePr>
        <p:xfrm>
          <a:off x="4528315" y="5098657"/>
          <a:ext cx="24003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400" imgH="279360" progId="Equation.DSMT4">
                  <p:embed/>
                </p:oleObj>
              </mc:Choice>
              <mc:Fallback>
                <p:oleObj name="Equation" r:id="rId3" imgW="1409400" imgH="27936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0E75776-58A1-45AA-828D-2CC9567C8B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28315" y="5098657"/>
                        <a:ext cx="2400300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 descr="MATHML object">
            <a:extLst>
              <a:ext uri="{FF2B5EF4-FFF2-40B4-BE49-F238E27FC236}">
                <a16:creationId xmlns:a16="http://schemas.microsoft.com/office/drawing/2014/main" id="{C93E608B-0C77-4EFA-8236-DC6A26B0E8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309875"/>
              </p:ext>
            </p:extLst>
          </p:nvPr>
        </p:nvGraphicFramePr>
        <p:xfrm>
          <a:off x="4528315" y="4321361"/>
          <a:ext cx="30686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03240" imgH="253800" progId="Equation.DSMT4">
                  <p:embed/>
                </p:oleObj>
              </mc:Choice>
              <mc:Fallback>
                <p:oleObj name="Equation" r:id="rId5" imgW="1803240" imgH="25380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C93E608B-0C77-4EFA-8236-DC6A26B0E8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28315" y="4321361"/>
                        <a:ext cx="3068638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 descr="MATHML object">
            <a:extLst>
              <a:ext uri="{FF2B5EF4-FFF2-40B4-BE49-F238E27FC236}">
                <a16:creationId xmlns:a16="http://schemas.microsoft.com/office/drawing/2014/main" id="{E48BA120-97DA-40CD-999B-5B0F5AB687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864335"/>
              </p:ext>
            </p:extLst>
          </p:nvPr>
        </p:nvGraphicFramePr>
        <p:xfrm>
          <a:off x="4528315" y="1768829"/>
          <a:ext cx="190341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17440" imgH="342720" progId="Equation.DSMT4">
                  <p:embed/>
                </p:oleObj>
              </mc:Choice>
              <mc:Fallback>
                <p:oleObj name="Equation" r:id="rId7" imgW="1117440" imgH="34272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E48BA120-97DA-40CD-999B-5B0F5AB687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28315" y="1768829"/>
                        <a:ext cx="1903413" cy="582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 descr="MATHML object">
            <a:extLst>
              <a:ext uri="{FF2B5EF4-FFF2-40B4-BE49-F238E27FC236}">
                <a16:creationId xmlns:a16="http://schemas.microsoft.com/office/drawing/2014/main" id="{A7B0089F-E8A5-4F87-950C-5F88A2F9B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600959"/>
              </p:ext>
            </p:extLst>
          </p:nvPr>
        </p:nvGraphicFramePr>
        <p:xfrm>
          <a:off x="4528315" y="2637064"/>
          <a:ext cx="29210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14320" imgH="291960" progId="Equation.DSMT4">
                  <p:embed/>
                </p:oleObj>
              </mc:Choice>
              <mc:Fallback>
                <p:oleObj name="Equation" r:id="rId9" imgW="1714320" imgH="29196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A7B0089F-E8A5-4F87-950C-5F88A2F9BE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28315" y="2637064"/>
                        <a:ext cx="2921000" cy="496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 descr="MATHML object">
            <a:extLst>
              <a:ext uri="{FF2B5EF4-FFF2-40B4-BE49-F238E27FC236}">
                <a16:creationId xmlns:a16="http://schemas.microsoft.com/office/drawing/2014/main" id="{4E023BB7-DA75-473F-85AF-032BDFFFC0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3424"/>
              </p:ext>
            </p:extLst>
          </p:nvPr>
        </p:nvGraphicFramePr>
        <p:xfrm>
          <a:off x="4528315" y="3495903"/>
          <a:ext cx="17510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28520" imgH="253800" progId="Equation.DSMT4">
                  <p:embed/>
                </p:oleObj>
              </mc:Choice>
              <mc:Fallback>
                <p:oleObj name="Equation" r:id="rId11" imgW="1028520" imgH="2538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4E023BB7-DA75-473F-85AF-032BDFFFC0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28315" y="3495903"/>
                        <a:ext cx="1751013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645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24107"/>
          </a:xfrm>
        </p:spPr>
        <p:txBody>
          <a:bodyPr>
            <a:normAutofit fontScale="90000"/>
          </a:bodyPr>
          <a:lstStyle/>
          <a:p>
            <a:r>
              <a:rPr lang="en-US" dirty="0"/>
              <a:t>L</a:t>
            </a:r>
            <a:r>
              <a:rPr lang="en-US" baseline="-25000" dirty="0"/>
              <a:t>12</a:t>
            </a:r>
            <a:r>
              <a:rPr lang="en-US" dirty="0"/>
              <a:t> regularization (aka Elastic Net)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18</a:t>
            </a:fld>
            <a:endParaRPr lang="en-US"/>
          </a:p>
        </p:txBody>
      </p:sp>
      <p:pic>
        <p:nvPicPr>
          <p:cNvPr id="11" name="Picture 10" descr="Plot of L12 regularization with lambda1 = lambda2 = 0.5">
            <a:extLst>
              <a:ext uri="{FF2B5EF4-FFF2-40B4-BE49-F238E27FC236}">
                <a16:creationId xmlns:a16="http://schemas.microsoft.com/office/drawing/2014/main" id="{E29E8EE6-9974-4F80-A746-BDAB7030B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914" y="1972643"/>
            <a:ext cx="4095750" cy="3562350"/>
          </a:xfrm>
          <a:prstGeom prst="rect">
            <a:avLst/>
          </a:prstGeom>
        </p:spPr>
      </p:pic>
      <p:sp>
        <p:nvSpPr>
          <p:cNvPr id="12" name="Speech Bubble: Rectangle with Corners Rounded 11" descr="L2">
            <a:extLst>
              <a:ext uri="{FF2B5EF4-FFF2-40B4-BE49-F238E27FC236}">
                <a16:creationId xmlns:a16="http://schemas.microsoft.com/office/drawing/2014/main" id="{3B11AFD1-73B9-43AF-B99A-3913B2C2E70A}"/>
              </a:ext>
            </a:extLst>
          </p:cNvPr>
          <p:cNvSpPr/>
          <p:nvPr/>
        </p:nvSpPr>
        <p:spPr>
          <a:xfrm>
            <a:off x="5122686" y="1710589"/>
            <a:ext cx="638978" cy="524107"/>
          </a:xfrm>
          <a:prstGeom prst="wedgeRoundRectCallout">
            <a:avLst>
              <a:gd name="adj1" fmla="val -140744"/>
              <a:gd name="adj2" fmla="val 5538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Speech Bubble: Rectangle with Corners Rounded 13" descr="L1">
            <a:extLst>
              <a:ext uri="{FF2B5EF4-FFF2-40B4-BE49-F238E27FC236}">
                <a16:creationId xmlns:a16="http://schemas.microsoft.com/office/drawing/2014/main" id="{BB06A0AE-1177-4DDF-9625-76D1C0E5289D}"/>
              </a:ext>
            </a:extLst>
          </p:cNvPr>
          <p:cNvSpPr/>
          <p:nvPr/>
        </p:nvSpPr>
        <p:spPr>
          <a:xfrm>
            <a:off x="6094449" y="2470261"/>
            <a:ext cx="638978" cy="524107"/>
          </a:xfrm>
          <a:prstGeom prst="wedgeRoundRectCallout">
            <a:avLst>
              <a:gd name="adj1" fmla="val -233847"/>
              <a:gd name="adj2" fmla="val 74302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Speech Bubble: Rectangle with Corners Rounded 14" descr="lambda1 * L1 + lambda2 * L2">
            <a:extLst>
              <a:ext uri="{FF2B5EF4-FFF2-40B4-BE49-F238E27FC236}">
                <a16:creationId xmlns:a16="http://schemas.microsoft.com/office/drawing/2014/main" id="{48310BD8-AA9D-428B-85B2-1DB7FE33AEDD}"/>
              </a:ext>
            </a:extLst>
          </p:cNvPr>
          <p:cNvSpPr/>
          <p:nvPr/>
        </p:nvSpPr>
        <p:spPr>
          <a:xfrm>
            <a:off x="6094449" y="5038711"/>
            <a:ext cx="1563341" cy="524107"/>
          </a:xfrm>
          <a:prstGeom prst="wedgeRoundRectCallout">
            <a:avLst>
              <a:gd name="adj1" fmla="val -130605"/>
              <a:gd name="adj2" fmla="val -95365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tx1"/>
                </a:solidFill>
              </a:rPr>
              <a:t>λ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L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l-GR" dirty="0">
                <a:solidFill>
                  <a:schemeClr val="tx1"/>
                </a:solidFill>
              </a:rPr>
              <a:t> λ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L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7496AC-3FE7-404F-9B61-D33C987B1081}"/>
              </a:ext>
            </a:extLst>
          </p:cNvPr>
          <p:cNvSpPr txBox="1"/>
          <p:nvPr/>
        </p:nvSpPr>
        <p:spPr>
          <a:xfrm>
            <a:off x="5653267" y="5747093"/>
            <a:ext cx="3188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example, </a:t>
            </a:r>
            <a:r>
              <a:rPr lang="el-GR" dirty="0">
                <a:solidFill>
                  <a:schemeClr val="tx1"/>
                </a:solidFill>
              </a:rPr>
              <a:t>λ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l-GR" dirty="0">
                <a:solidFill>
                  <a:schemeClr val="tx1"/>
                </a:solidFill>
              </a:rPr>
              <a:t>λ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= 1/2 </a:t>
            </a:r>
          </a:p>
        </p:txBody>
      </p:sp>
    </p:spTree>
    <p:extLst>
      <p:ext uri="{BB962C8B-B14F-4D97-AF65-F5344CB8AC3E}">
        <p14:creationId xmlns:p14="http://schemas.microsoft.com/office/powerpoint/2010/main" val="2940764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24107"/>
          </a:xfrm>
        </p:spPr>
        <p:txBody>
          <a:bodyPr>
            <a:normAutofit fontScale="90000"/>
          </a:bodyPr>
          <a:lstStyle/>
          <a:p>
            <a:r>
              <a:rPr lang="en-US" dirty="0"/>
              <a:t>Cost function without regularization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 descr="Contour plot of loss without regularization">
            <a:extLst>
              <a:ext uri="{FF2B5EF4-FFF2-40B4-BE49-F238E27FC236}">
                <a16:creationId xmlns:a16="http://schemas.microsoft.com/office/drawing/2014/main" id="{28AABB52-858E-4224-8407-6388AEE19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999" y="1197010"/>
            <a:ext cx="5959651" cy="4655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039877-D627-4A51-B184-EC2707D756CE}"/>
              </a:ext>
            </a:extLst>
          </p:cNvPr>
          <p:cNvSpPr txBox="1"/>
          <p:nvPr/>
        </p:nvSpPr>
        <p:spPr>
          <a:xfrm>
            <a:off x="6727970" y="6048573"/>
            <a:ext cx="21355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</a:rPr>
              <a:t>from Raschka and Mirjalili</a:t>
            </a:r>
          </a:p>
        </p:txBody>
      </p:sp>
    </p:spTree>
    <p:extLst>
      <p:ext uri="{BB962C8B-B14F-4D97-AF65-F5344CB8AC3E}">
        <p14:creationId xmlns:p14="http://schemas.microsoft.com/office/powerpoint/2010/main" val="1278330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24107"/>
          </a:xfrm>
        </p:spPr>
        <p:txBody>
          <a:bodyPr>
            <a:normAutofit fontScale="90000"/>
          </a:bodyPr>
          <a:lstStyle/>
          <a:p>
            <a:r>
              <a:rPr lang="en-US" dirty="0"/>
              <a:t>Cost function with L2 regularization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39877-D627-4A51-B184-EC2707D756CE}"/>
              </a:ext>
            </a:extLst>
          </p:cNvPr>
          <p:cNvSpPr txBox="1"/>
          <p:nvPr/>
        </p:nvSpPr>
        <p:spPr>
          <a:xfrm>
            <a:off x="6727970" y="6048573"/>
            <a:ext cx="21355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</a:rPr>
              <a:t>from Raschka and Mirjalili</a:t>
            </a:r>
          </a:p>
        </p:txBody>
      </p:sp>
      <p:pic>
        <p:nvPicPr>
          <p:cNvPr id="5" name="Picture 4" descr="Contour plot of loss with L2 regularization">
            <a:extLst>
              <a:ext uri="{FF2B5EF4-FFF2-40B4-BE49-F238E27FC236}">
                <a16:creationId xmlns:a16="http://schemas.microsoft.com/office/drawing/2014/main" id="{D789A3F6-2137-4C99-96A9-119329408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899" y="1197010"/>
            <a:ext cx="6233020" cy="482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84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 descr="Contour plot of loss without regularization">
            <a:extLst>
              <a:ext uri="{FF2B5EF4-FFF2-40B4-BE49-F238E27FC236}">
                <a16:creationId xmlns:a16="http://schemas.microsoft.com/office/drawing/2014/main" id="{8873D100-2DD9-46B9-809F-226CC7E98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625" y="251670"/>
            <a:ext cx="5976750" cy="59530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C1D9D3-84C2-FDCC-0C5B-80299BD5F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Plot of loss without regularization </a:t>
            </a:r>
            <a:r>
              <a:rPr lang="en-US" sz="2000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3146861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22</a:t>
            </a:fld>
            <a:endParaRPr lang="en-US"/>
          </a:p>
        </p:txBody>
      </p:sp>
      <p:pic>
        <p:nvPicPr>
          <p:cNvPr id="3" name="Picture 2" descr="Contour plot of loss with L0 regularization">
            <a:extLst>
              <a:ext uri="{FF2B5EF4-FFF2-40B4-BE49-F238E27FC236}">
                <a16:creationId xmlns:a16="http://schemas.microsoft.com/office/drawing/2014/main" id="{DC188FE3-065F-4376-A15E-4DB8F1892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804" y="230697"/>
            <a:ext cx="5874391" cy="5874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AC20A-9077-10F5-3C27-B13600BB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Plot of L0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142383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23</a:t>
            </a:fld>
            <a:endParaRPr lang="en-US"/>
          </a:p>
        </p:txBody>
      </p:sp>
      <p:pic>
        <p:nvPicPr>
          <p:cNvPr id="3" name="Picture 2" descr="Contour plot of loss with L1 regularization">
            <a:extLst>
              <a:ext uri="{FF2B5EF4-FFF2-40B4-BE49-F238E27FC236}">
                <a16:creationId xmlns:a16="http://schemas.microsoft.com/office/drawing/2014/main" id="{0CA9B0A5-C60E-44E6-AF00-A6A1F4277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433" y="226504"/>
            <a:ext cx="5955134" cy="59551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F88885-5DD8-D1EF-00B4-DE23D2FE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Plot of L1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556056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24</a:t>
            </a:fld>
            <a:endParaRPr lang="en-US"/>
          </a:p>
        </p:txBody>
      </p:sp>
      <p:pic>
        <p:nvPicPr>
          <p:cNvPr id="3" name="Picture 2" descr="Contour plot of loss with L2 regularization">
            <a:extLst>
              <a:ext uri="{FF2B5EF4-FFF2-40B4-BE49-F238E27FC236}">
                <a16:creationId xmlns:a16="http://schemas.microsoft.com/office/drawing/2014/main" id="{22DAD749-A081-4529-AA8C-84E089A47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673" y="241183"/>
            <a:ext cx="5750653" cy="57506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4147F5-C042-A684-C25E-DAB61EED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Plot of L2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991025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25</a:t>
            </a:fld>
            <a:endParaRPr lang="en-US"/>
          </a:p>
        </p:txBody>
      </p:sp>
      <p:pic>
        <p:nvPicPr>
          <p:cNvPr id="3" name="Picture 2" descr="Contour plot of loss with L12 regularization">
            <a:extLst>
              <a:ext uri="{FF2B5EF4-FFF2-40B4-BE49-F238E27FC236}">
                <a16:creationId xmlns:a16="http://schemas.microsoft.com/office/drawing/2014/main" id="{EFDC525B-72D2-422C-B1B1-B81BC25BE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93" y="298858"/>
            <a:ext cx="5818814" cy="58188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4FD658-838A-DE2D-55CE-F99FE60D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Plot of L12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469630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26</a:t>
            </a:fld>
            <a:endParaRPr lang="en-US"/>
          </a:p>
        </p:txBody>
      </p:sp>
      <p:pic>
        <p:nvPicPr>
          <p:cNvPr id="3" name="Picture 2" descr="Contour plot of loss with L infinity regularization">
            <a:extLst>
              <a:ext uri="{FF2B5EF4-FFF2-40B4-BE49-F238E27FC236}">
                <a16:creationId xmlns:a16="http://schemas.microsoft.com/office/drawing/2014/main" id="{EE654DFF-F7C2-4A97-85AF-54EE330DE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798" y="260845"/>
            <a:ext cx="5912404" cy="59124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73E9BD-647A-4CC7-5827-F196D29D8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Plot of Lꝏ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4211847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 descr="Contour plot of loss without regularization">
            <a:extLst>
              <a:ext uri="{FF2B5EF4-FFF2-40B4-BE49-F238E27FC236}">
                <a16:creationId xmlns:a16="http://schemas.microsoft.com/office/drawing/2014/main" id="{8873D100-2DD9-46B9-809F-226CC7E98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625" y="251670"/>
            <a:ext cx="5976750" cy="59530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A1E0A1-BF68-837C-ACF0-C7DA2A13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Plot of loss without regularization </a:t>
            </a:r>
            <a:r>
              <a:rPr lang="en-US" sz="20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819902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28</a:t>
            </a:fld>
            <a:endParaRPr lang="en-US"/>
          </a:p>
        </p:txBody>
      </p:sp>
      <p:pic>
        <p:nvPicPr>
          <p:cNvPr id="3" name="Picture 2" descr="Contour plot of loss with L1 regularization">
            <a:extLst>
              <a:ext uri="{FF2B5EF4-FFF2-40B4-BE49-F238E27FC236}">
                <a16:creationId xmlns:a16="http://schemas.microsoft.com/office/drawing/2014/main" id="{38989407-9288-41B4-8222-836C9F22E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567" y="253767"/>
            <a:ext cx="5970865" cy="5970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776315-EB32-3606-0B05-84C4DA8E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Plot of loss with L1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913923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29</a:t>
            </a:fld>
            <a:endParaRPr lang="en-US"/>
          </a:p>
        </p:txBody>
      </p:sp>
      <p:pic>
        <p:nvPicPr>
          <p:cNvPr id="3" name="Picture 2" descr="Contour plot of loss with L2 regularization">
            <a:extLst>
              <a:ext uri="{FF2B5EF4-FFF2-40B4-BE49-F238E27FC236}">
                <a16:creationId xmlns:a16="http://schemas.microsoft.com/office/drawing/2014/main" id="{FCD30BD3-C2C2-4576-B754-6050383F8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567" y="209725"/>
            <a:ext cx="5970865" cy="5970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52F1D9-8EB8-6F37-4308-13CBFA56B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Plot of loss with L2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361993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30</a:t>
            </a:fld>
            <a:endParaRPr lang="en-US"/>
          </a:p>
        </p:txBody>
      </p:sp>
      <p:pic>
        <p:nvPicPr>
          <p:cNvPr id="3" name="Picture 2" descr="Contour plot of loss with L12 regularization">
            <a:extLst>
              <a:ext uri="{FF2B5EF4-FFF2-40B4-BE49-F238E27FC236}">
                <a16:creationId xmlns:a16="http://schemas.microsoft.com/office/drawing/2014/main" id="{CD61B133-D944-40AB-ACF3-6FA2A9513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692" y="234892"/>
            <a:ext cx="6008615" cy="60086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1664FA-C7F6-33E8-3E5E-BC050907E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Plot of loss with L12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957019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E8303-D218-96F8-8F7C-1435F7E8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Plot of minima of loss with L1 regularization</a:t>
            </a:r>
          </a:p>
        </p:txBody>
      </p:sp>
      <p:pic>
        <p:nvPicPr>
          <p:cNvPr id="3" name="Picture 2" descr="Contour plot with minima of loss with L1 regularization">
            <a:extLst>
              <a:ext uri="{FF2B5EF4-FFF2-40B4-BE49-F238E27FC236}">
                <a16:creationId xmlns:a16="http://schemas.microsoft.com/office/drawing/2014/main" id="{6F386461-8B01-6E73-A5B3-1BD8CA433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479" y="245581"/>
            <a:ext cx="6007042" cy="600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07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32</a:t>
            </a:fld>
            <a:endParaRPr lang="en-US"/>
          </a:p>
        </p:txBody>
      </p:sp>
      <p:pic>
        <p:nvPicPr>
          <p:cNvPr id="3" name="Picture 2" descr="Contour plot with minima of loss with L2 regularization">
            <a:extLst>
              <a:ext uri="{FF2B5EF4-FFF2-40B4-BE49-F238E27FC236}">
                <a16:creationId xmlns:a16="http://schemas.microsoft.com/office/drawing/2014/main" id="{D64ADE2E-44AA-41F2-BABD-4B9BC8729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99" y="245582"/>
            <a:ext cx="5939201" cy="5939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95378D-C81E-D460-7300-1C6F917B8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Plot of minima of loss with L2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634932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33</a:t>
            </a:fld>
            <a:endParaRPr lang="en-US"/>
          </a:p>
        </p:txBody>
      </p:sp>
      <p:pic>
        <p:nvPicPr>
          <p:cNvPr id="3" name="Picture 2" descr="Contour plot with minima of loss with L12 regularization">
            <a:extLst>
              <a:ext uri="{FF2B5EF4-FFF2-40B4-BE49-F238E27FC236}">
                <a16:creationId xmlns:a16="http://schemas.microsoft.com/office/drawing/2014/main" id="{C4284D65-3A16-4166-AAE0-A3DD224E2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671" y="136525"/>
            <a:ext cx="6052657" cy="6052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80054E-F2F0-8C3A-075D-38B66C91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Plot of minima of loss with L12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3547504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34</a:t>
            </a:fld>
            <a:endParaRPr lang="en-US"/>
          </a:p>
        </p:txBody>
      </p:sp>
      <p:pic>
        <p:nvPicPr>
          <p:cNvPr id="3" name="Picture 2" descr="Contour plot with minima of loss with L infinity regularization">
            <a:extLst>
              <a:ext uri="{FF2B5EF4-FFF2-40B4-BE49-F238E27FC236}">
                <a16:creationId xmlns:a16="http://schemas.microsoft.com/office/drawing/2014/main" id="{3A33E332-7644-4DE4-9965-ECA02E29A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314" y="136525"/>
            <a:ext cx="6115371" cy="61153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79C2DE-5E6B-3AEF-3FF9-FDB98A084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Plot of minima of loss with Lꝏ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853666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35</a:t>
            </a:fld>
            <a:endParaRPr lang="en-US"/>
          </a:p>
        </p:txBody>
      </p:sp>
      <p:pic>
        <p:nvPicPr>
          <p:cNvPr id="3" name="Picture 2" descr="Contour plot with minima of loss with various regularizations">
            <a:extLst>
              <a:ext uri="{FF2B5EF4-FFF2-40B4-BE49-F238E27FC236}">
                <a16:creationId xmlns:a16="http://schemas.microsoft.com/office/drawing/2014/main" id="{FF9ADA3B-EA90-446E-B595-9E35FDCEA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088" y="136525"/>
            <a:ext cx="6077824" cy="60537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373E96-5026-4429-652F-001F94B1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Plot of minima of loss with various regularizations </a:t>
            </a:r>
            <a:r>
              <a:rPr lang="en-US" sz="2200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2144587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96562-D3F8-4997-B6F7-2857A88C9625}" type="slidenum">
              <a:rPr lang="en-US" smtClean="0"/>
              <a:t>36</a:t>
            </a:fld>
            <a:endParaRPr lang="en-US"/>
          </a:p>
        </p:txBody>
      </p:sp>
      <p:pic>
        <p:nvPicPr>
          <p:cNvPr id="3" name="Picture 2" descr="Contour plot with minima of loss with various regularizations">
            <a:extLst>
              <a:ext uri="{FF2B5EF4-FFF2-40B4-BE49-F238E27FC236}">
                <a16:creationId xmlns:a16="http://schemas.microsoft.com/office/drawing/2014/main" id="{4E186346-6F1F-4704-9ADF-70C7B058C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240" y="222816"/>
            <a:ext cx="6157519" cy="60137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12157E-BBFC-D741-CF0B-C35490607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527"/>
            <a:ext cx="7886700" cy="6455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Plot of minima of loss with various regularizations </a:t>
            </a:r>
            <a:r>
              <a:rPr lang="en-US" sz="2200" dirty="0"/>
              <a:t>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07516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L 4.pptx" id="{64B2721A-5DC7-49C9-80C0-1FCBF9A53174}" vid="{30ECEC55-8025-4063-B582-643B68783D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5325</TotalTime>
  <Words>440</Words>
  <Application>Microsoft Office PowerPoint</Application>
  <PresentationFormat>On-screen Show (4:3)</PresentationFormat>
  <Paragraphs>135</Paragraphs>
  <Slides>36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 Math</vt:lpstr>
      <vt:lpstr>Times New Roman</vt:lpstr>
      <vt:lpstr>1_Office Theme</vt:lpstr>
      <vt:lpstr>Equation</vt:lpstr>
      <vt:lpstr>     Introduction to Regularization</vt:lpstr>
      <vt:lpstr>Regularization (1)</vt:lpstr>
      <vt:lpstr>Regularization (2)</vt:lpstr>
      <vt:lpstr>Regularization (3)</vt:lpstr>
      <vt:lpstr>Vector norms</vt:lpstr>
      <vt:lpstr>Various vector norms</vt:lpstr>
      <vt:lpstr>LP norm or Minkowski norm (1)</vt:lpstr>
      <vt:lpstr>LP norm or Minkowski norm (2)</vt:lpstr>
      <vt:lpstr>L2 norm (Euclidean norm) (1)</vt:lpstr>
      <vt:lpstr>L2 norm (Euclidean norm) (2)</vt:lpstr>
      <vt:lpstr>L1 norm (Taxicab norm, Manhattan norm) (1)</vt:lpstr>
      <vt:lpstr>L1 norm (Taxicab norm, Manhattan norm) (2)</vt:lpstr>
      <vt:lpstr>L0 norm (1)</vt:lpstr>
      <vt:lpstr>L0 norm (2)</vt:lpstr>
      <vt:lpstr>L∞ norm (Maximum norm, sup norm) (1)</vt:lpstr>
      <vt:lpstr>L∞ norm (Maximum norm, sup norm) (2)</vt:lpstr>
      <vt:lpstr>Norm examples</vt:lpstr>
      <vt:lpstr>L12 regularization (aka Elastic Net)</vt:lpstr>
      <vt:lpstr>Cost function without regularization</vt:lpstr>
      <vt:lpstr>Cost function with L2 regularization</vt:lpstr>
      <vt:lpstr>Plot of loss without regularization (1)</vt:lpstr>
      <vt:lpstr>Plot of L0 regularization</vt:lpstr>
      <vt:lpstr>Plot of L1 regularization</vt:lpstr>
      <vt:lpstr>Plot of L2 regularization</vt:lpstr>
      <vt:lpstr>Plot of L12 regularization</vt:lpstr>
      <vt:lpstr>Plot of Lꝏ regularization</vt:lpstr>
      <vt:lpstr>Plot of loss without regularization (2)</vt:lpstr>
      <vt:lpstr>Plot of loss with L1 regularization</vt:lpstr>
      <vt:lpstr>Plot of loss with L2 regularization</vt:lpstr>
      <vt:lpstr>Plot of loss with L12 regularization</vt:lpstr>
      <vt:lpstr>Plot of minima of loss with L1 regularization</vt:lpstr>
      <vt:lpstr>Plot of minima of loss with L2 regularization</vt:lpstr>
      <vt:lpstr>Plot of minima of loss with L12 regularization</vt:lpstr>
      <vt:lpstr>Plot of minima of loss with Lꝏ regularization</vt:lpstr>
      <vt:lpstr>Plot of minima of loss with various regularizations (1)</vt:lpstr>
      <vt:lpstr>Plot of minima of loss with various regularizations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Grimmelmann</dc:creator>
  <cp:lastModifiedBy>Erik Grimmelmann</cp:lastModifiedBy>
  <cp:revision>392</cp:revision>
  <cp:lastPrinted>2018-02-17T23:34:22Z</cp:lastPrinted>
  <dcterms:created xsi:type="dcterms:W3CDTF">2017-02-25T17:52:53Z</dcterms:created>
  <dcterms:modified xsi:type="dcterms:W3CDTF">2026-07-21T18:08:55Z</dcterms:modified>
</cp:coreProperties>
</file>