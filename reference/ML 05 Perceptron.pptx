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74"/>
  </p:notesMasterIdLst>
  <p:handoutMasterIdLst>
    <p:handoutMasterId r:id="rId75"/>
  </p:handoutMasterIdLst>
  <p:sldIdLst>
    <p:sldId id="258" r:id="rId2"/>
    <p:sldId id="259" r:id="rId3"/>
    <p:sldId id="260" r:id="rId4"/>
    <p:sldId id="261" r:id="rId5"/>
    <p:sldId id="288" r:id="rId6"/>
    <p:sldId id="262" r:id="rId7"/>
    <p:sldId id="268" r:id="rId8"/>
    <p:sldId id="270" r:id="rId9"/>
    <p:sldId id="272" r:id="rId10"/>
    <p:sldId id="271" r:id="rId11"/>
    <p:sldId id="309" r:id="rId12"/>
    <p:sldId id="273" r:id="rId13"/>
    <p:sldId id="296" r:id="rId14"/>
    <p:sldId id="274" r:id="rId15"/>
    <p:sldId id="297" r:id="rId16"/>
    <p:sldId id="282" r:id="rId17"/>
    <p:sldId id="283" r:id="rId18"/>
    <p:sldId id="289" r:id="rId19"/>
    <p:sldId id="290" r:id="rId20"/>
    <p:sldId id="291" r:id="rId21"/>
    <p:sldId id="275" r:id="rId22"/>
    <p:sldId id="298" r:id="rId23"/>
    <p:sldId id="285" r:id="rId24"/>
    <p:sldId id="284" r:id="rId25"/>
    <p:sldId id="292" r:id="rId26"/>
    <p:sldId id="293" r:id="rId27"/>
    <p:sldId id="294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94" r:id="rId39"/>
    <p:sldId id="395" r:id="rId40"/>
    <p:sldId id="396" r:id="rId41"/>
    <p:sldId id="397" r:id="rId42"/>
    <p:sldId id="310" r:id="rId43"/>
    <p:sldId id="276" r:id="rId44"/>
    <p:sldId id="278" r:id="rId45"/>
    <p:sldId id="277" r:id="rId46"/>
    <p:sldId id="280" r:id="rId47"/>
    <p:sldId id="279" r:id="rId48"/>
    <p:sldId id="314" r:id="rId49"/>
    <p:sldId id="320" r:id="rId50"/>
    <p:sldId id="384" r:id="rId51"/>
    <p:sldId id="383" r:id="rId52"/>
    <p:sldId id="385" r:id="rId53"/>
    <p:sldId id="386" r:id="rId54"/>
    <p:sldId id="387" r:id="rId55"/>
    <p:sldId id="388" r:id="rId56"/>
    <p:sldId id="357" r:id="rId57"/>
    <p:sldId id="319" r:id="rId58"/>
    <p:sldId id="312" r:id="rId59"/>
    <p:sldId id="393" r:id="rId60"/>
    <p:sldId id="313" r:id="rId61"/>
    <p:sldId id="358" r:id="rId62"/>
    <p:sldId id="359" r:id="rId63"/>
    <p:sldId id="360" r:id="rId64"/>
    <p:sldId id="362" r:id="rId65"/>
    <p:sldId id="363" r:id="rId66"/>
    <p:sldId id="364" r:id="rId67"/>
    <p:sldId id="365" r:id="rId68"/>
    <p:sldId id="389" r:id="rId69"/>
    <p:sldId id="390" r:id="rId70"/>
    <p:sldId id="377" r:id="rId71"/>
    <p:sldId id="392" r:id="rId72"/>
    <p:sldId id="391" r:id="rId73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03" autoAdjust="0"/>
    <p:restoredTop sz="86420" autoAdjust="0"/>
  </p:normalViewPr>
  <p:slideViewPr>
    <p:cSldViewPr snapToGrid="0">
      <p:cViewPr varScale="1">
        <p:scale>
          <a:sx n="83" d="100"/>
          <a:sy n="83" d="100"/>
        </p:scale>
        <p:origin x="1614" y="48"/>
      </p:cViewPr>
      <p:guideLst/>
    </p:cSldViewPr>
  </p:slideViewPr>
  <p:outlineViewPr>
    <p:cViewPr>
      <p:scale>
        <a:sx n="33" d="100"/>
        <a:sy n="33" d="100"/>
      </p:scale>
      <p:origin x="0" y="-72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6" d="100"/>
          <a:sy n="116" d="100"/>
        </p:scale>
        <p:origin x="2130" y="102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7637" y="1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/>
          <a:lstStyle>
            <a:lvl1pPr algn="r">
              <a:defRPr sz="1200"/>
            </a:lvl1pPr>
          </a:lstStyle>
          <a:p>
            <a:fld id="{085BC133-C6D8-48A3-B4EA-C942741A44E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947942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7637" y="6947942"/>
            <a:ext cx="4161390" cy="367259"/>
          </a:xfrm>
          <a:prstGeom prst="rect">
            <a:avLst/>
          </a:prstGeom>
        </p:spPr>
        <p:txBody>
          <a:bodyPr vert="horz" lIns="94851" tIns="47425" rIns="94851" bIns="47425" rtlCol="0" anchor="b"/>
          <a:lstStyle>
            <a:lvl1pPr algn="r">
              <a:defRPr sz="1200"/>
            </a:lvl1pPr>
          </a:lstStyle>
          <a:p>
            <a:fld id="{2958B6B9-6C5B-4AC1-8EA5-52242FF98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B2368CC4-54C5-461B-B50D-044FC93C64E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5950" y="914400"/>
            <a:ext cx="328930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1"/>
            <a:ext cx="7680960" cy="2880360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9ACD95F9-BF71-4FF4-A282-A7226EE08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52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57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82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68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9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79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70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88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28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07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26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2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83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40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21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5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54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62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84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2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201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52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11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123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29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95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081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92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916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278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065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5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97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64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4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21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412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737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348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970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835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37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223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30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039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651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624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347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238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592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448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50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808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148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862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77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660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586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4424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002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3023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134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382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080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88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0908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025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4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2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244D-8788-4320-B84E-8A5700A1F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8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1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2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57099" y="6233263"/>
            <a:ext cx="3029802" cy="48291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050" dirty="0"/>
              <a:t>The City College of New York</a:t>
            </a:r>
          </a:p>
          <a:p>
            <a:pPr algn="ctr"/>
            <a:r>
              <a:rPr lang="en-US" sz="1050" dirty="0"/>
              <a:t>CSc</a:t>
            </a:r>
            <a:r>
              <a:rPr lang="en-US" sz="1050" baseline="0" dirty="0"/>
              <a:t> 44700</a:t>
            </a:r>
            <a:r>
              <a:rPr lang="en-US" sz="1050" dirty="0"/>
              <a:t> – Introduction to Machine Learning</a:t>
            </a:r>
          </a:p>
          <a:p>
            <a:pPr algn="ctr"/>
            <a:r>
              <a:rPr lang="en-US" sz="1050" dirty="0"/>
              <a:t>Fall 2026 – © 2026 Erik K. Grimmelmann, Ph.D..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96562-D3F8-4997-B6F7-2857A88C9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6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0" r:id="rId3"/>
    <p:sldLayoutId id="2147483692" r:id="rId4"/>
    <p:sldLayoutId id="214748369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0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9.wmf"/><Relationship Id="rId26" Type="http://schemas.openxmlformats.org/officeDocument/2006/relationships/image" Target="../media/image20.e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21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9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13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3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13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4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4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4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1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9.w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48.bin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9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image" Target="../media/image5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79.png"/><Relationship Id="rId4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Perceptron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F449FF-2115-4BD9-B4C1-1E648C9CE4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5294"/>
            <a:ext cx="7886700" cy="677093"/>
          </a:xfrm>
        </p:spPr>
        <p:txBody>
          <a:bodyPr/>
          <a:lstStyle/>
          <a:p>
            <a:r>
              <a:rPr lang="en-US" dirty="0"/>
              <a:t>Typical neuron</a:t>
            </a:r>
          </a:p>
        </p:txBody>
      </p:sp>
      <p:pic>
        <p:nvPicPr>
          <p:cNvPr id="4" name="Content Placeholder 3" descr="Image of the structure of a typical neuron cell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055813"/>
            <a:ext cx="4953000" cy="3009900"/>
          </a:xfrm>
        </p:spPr>
      </p:pic>
      <p:sp>
        <p:nvSpPr>
          <p:cNvPr id="5" name="TextBox 4"/>
          <p:cNvSpPr txBox="1"/>
          <p:nvPr/>
        </p:nvSpPr>
        <p:spPr>
          <a:xfrm>
            <a:off x="641322" y="3278204"/>
            <a:ext cx="2696570" cy="13074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Dendrites receive inputs</a:t>
            </a:r>
          </a:p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Axon terminals pass on outputs</a:t>
            </a:r>
            <a:endParaRPr lang="en-US" dirty="0"/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4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179" y="317360"/>
            <a:ext cx="7886700" cy="778647"/>
          </a:xfrm>
        </p:spPr>
        <p:txBody>
          <a:bodyPr/>
          <a:lstStyle/>
          <a:p>
            <a:r>
              <a:rPr lang="en-US" dirty="0"/>
              <a:t>MCP neuron</a:t>
            </a:r>
          </a:p>
        </p:txBody>
      </p:sp>
      <p:pic>
        <p:nvPicPr>
          <p:cNvPr id="4" name="Content Placeholder 3" descr="Image of the structure of a typical neuron cell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529" y="1357952"/>
            <a:ext cx="3869157" cy="2350473"/>
          </a:xfrm>
        </p:spPr>
      </p:pic>
      <p:sp>
        <p:nvSpPr>
          <p:cNvPr id="3" name="TextBox 2"/>
          <p:cNvSpPr txBox="1"/>
          <p:nvPr/>
        </p:nvSpPr>
        <p:spPr>
          <a:xfrm>
            <a:off x="558496" y="3864614"/>
            <a:ext cx="7769916" cy="18973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Described by McCulloch and Pitts in 1943</a:t>
            </a:r>
          </a:p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Simple logic gate with binary outputs</a:t>
            </a:r>
          </a:p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Multiple signals arrive at the dendrites and are accumulated in the cell body</a:t>
            </a:r>
          </a:p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If the accumulated signal exceeds a certain threshold, then an output signal will be generated and passed on by the axon.</a:t>
            </a:r>
          </a:p>
          <a:p>
            <a:endParaRPr lang="en-US" dirty="0"/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0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5852"/>
          </a:xfrm>
        </p:spPr>
        <p:txBody>
          <a:bodyPr/>
          <a:lstStyle/>
          <a:p>
            <a:r>
              <a:rPr lang="en-US" dirty="0"/>
              <a:t>Perceptron </a:t>
            </a:r>
            <a:r>
              <a:rPr lang="en-US" sz="2000" dirty="0"/>
              <a:t>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4229478"/>
            <a:ext cx="7769916" cy="1448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Proposed by Rosenblatt in 1957</a:t>
            </a:r>
          </a:p>
          <a:p>
            <a:pPr marL="257168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Includes</a:t>
            </a:r>
          </a:p>
          <a:p>
            <a:pPr marL="600060" lvl="1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How the input signals are accumulated</a:t>
            </a:r>
          </a:p>
          <a:p>
            <a:pPr marL="600060" lvl="1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How the output is determined</a:t>
            </a:r>
          </a:p>
          <a:p>
            <a:pPr marL="600060" lvl="1" indent="-257168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An algorithm for training</a:t>
            </a:r>
          </a:p>
          <a:p>
            <a:endParaRPr lang="en-US" dirty="0"/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</a:t>
            </a:fld>
            <a:endParaRPr lang="en-US"/>
          </a:p>
        </p:txBody>
      </p:sp>
      <p:grpSp>
        <p:nvGrpSpPr>
          <p:cNvPr id="56" name="Group 55" descr="Diagram of a perceptron">
            <a:extLst>
              <a:ext uri="{FF2B5EF4-FFF2-40B4-BE49-F238E27FC236}">
                <a16:creationId xmlns:a16="http://schemas.microsoft.com/office/drawing/2014/main" id="{AD4B563D-998A-2F3B-4132-2FCEBF8623EF}"/>
              </a:ext>
            </a:extLst>
          </p:cNvPr>
          <p:cNvGrpSpPr/>
          <p:nvPr/>
        </p:nvGrpSpPr>
        <p:grpSpPr>
          <a:xfrm>
            <a:off x="1427396" y="1548387"/>
            <a:ext cx="5925687" cy="2160269"/>
            <a:chOff x="1427396" y="1548387"/>
            <a:chExt cx="5925687" cy="21602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445A44-7324-5DDC-36D8-4213A534775B}"/>
                </a:ext>
              </a:extLst>
            </p:cNvPr>
            <p:cNvSpPr/>
            <p:nvPr/>
          </p:nvSpPr>
          <p:spPr>
            <a:xfrm>
              <a:off x="3542097" y="1548387"/>
              <a:ext cx="2241274" cy="216026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AFCB19-9C77-4B84-FE52-8F57902CBDD4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5783371" y="2628520"/>
              <a:ext cx="531494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ontent Placeholder 4">
              <a:extLst>
                <a:ext uri="{FF2B5EF4-FFF2-40B4-BE49-F238E27FC236}">
                  <a16:creationId xmlns:a16="http://schemas.microsoft.com/office/drawing/2014/main" id="{2AA4085F-F164-03A7-0B86-26022F780A40}"/>
                </a:ext>
              </a:extLst>
            </p:cNvPr>
            <p:cNvSpPr txBox="1">
              <a:spLocks/>
            </p:cNvSpPr>
            <p:nvPr/>
          </p:nvSpPr>
          <p:spPr>
            <a:xfrm>
              <a:off x="1427396" y="2423691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>
                  <a:latin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4B2A36-0037-4C70-9A20-7967AC2DF398}"/>
                </a:ext>
              </a:extLst>
            </p:cNvPr>
            <p:cNvSpPr/>
            <p:nvPr/>
          </p:nvSpPr>
          <p:spPr>
            <a:xfrm>
              <a:off x="2437267" y="186287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85A6B475-61E2-6350-9DD2-9337EE786C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593816"/>
                </p:ext>
              </p:extLst>
            </p:nvPr>
          </p:nvGraphicFramePr>
          <p:xfrm>
            <a:off x="2521797" y="1862711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28600" progId="Equation.DSMT4">
                    <p:embed/>
                  </p:oleObj>
                </mc:Choice>
                <mc:Fallback>
                  <p:oleObj name="Equation" r:id="rId3" imgW="152280" imgH="228600" progId="Equation.DSMT4">
                    <p:embed/>
                    <p:pic>
                      <p:nvPicPr>
                        <p:cNvPr id="11" name="Object 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21797" y="1862711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1AF15D03-EE02-3ECE-A980-8B6E5BFF7E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6436476"/>
                </p:ext>
              </p:extLst>
            </p:nvPr>
          </p:nvGraphicFramePr>
          <p:xfrm>
            <a:off x="2488461" y="2970313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14" name="Object 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88461" y="2970313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81C1E2AD-4B58-87A3-04E8-8E571ACF40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589472"/>
                </p:ext>
              </p:extLst>
            </p:nvPr>
          </p:nvGraphicFramePr>
          <p:xfrm>
            <a:off x="2510486" y="2283240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17" name="Object 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10486" y="2283240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F45D6F-48CB-C89F-FD2A-C7FA3F5F76EE}"/>
                </a:ext>
              </a:extLst>
            </p:cNvPr>
            <p:cNvSpPr/>
            <p:nvPr/>
          </p:nvSpPr>
          <p:spPr>
            <a:xfrm>
              <a:off x="2437266" y="3017728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5D89920-F7EB-F881-AD96-169307A23421}"/>
                </a:ext>
              </a:extLst>
            </p:cNvPr>
            <p:cNvSpPr/>
            <p:nvPr/>
          </p:nvSpPr>
          <p:spPr>
            <a:xfrm>
              <a:off x="2437267" y="2316822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034AF0-36E8-048B-5D20-10F6275CCFA9}"/>
                </a:ext>
              </a:extLst>
            </p:cNvPr>
            <p:cNvSpPr txBox="1"/>
            <p:nvPr/>
          </p:nvSpPr>
          <p:spPr>
            <a:xfrm rot="5400000">
              <a:off x="2570590" y="2614465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4C06969-E48F-2CB9-4DE5-581CD9964792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>
              <a:off x="2873030" y="2062817"/>
              <a:ext cx="6690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D166F9D-A6E2-51F1-C8C7-FE57E5FC72AA}"/>
                </a:ext>
              </a:extLst>
            </p:cNvPr>
            <p:cNvCxnSpPr>
              <a:cxnSpLocks/>
            </p:cNvCxnSpPr>
            <p:nvPr/>
          </p:nvCxnSpPr>
          <p:spPr>
            <a:xfrm>
              <a:off x="2873028" y="2511051"/>
              <a:ext cx="66906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AD2EBD-D1D9-A6D7-8259-740CFDF2B25E}"/>
                </a:ext>
              </a:extLst>
            </p:cNvPr>
            <p:cNvCxnSpPr>
              <a:cxnSpLocks/>
            </p:cNvCxnSpPr>
            <p:nvPr/>
          </p:nvCxnSpPr>
          <p:spPr>
            <a:xfrm>
              <a:off x="2873028" y="3217672"/>
              <a:ext cx="66906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Content Placeholder 4">
              <a:extLst>
                <a:ext uri="{FF2B5EF4-FFF2-40B4-BE49-F238E27FC236}">
                  <a16:creationId xmlns:a16="http://schemas.microsoft.com/office/drawing/2014/main" id="{9672615D-6242-1439-6131-7FF3CC421684}"/>
                </a:ext>
              </a:extLst>
            </p:cNvPr>
            <p:cNvSpPr txBox="1">
              <a:spLocks/>
            </p:cNvSpPr>
            <p:nvPr/>
          </p:nvSpPr>
          <p:spPr>
            <a:xfrm>
              <a:off x="6198229" y="2332632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84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49268"/>
          </a:xfrm>
        </p:spPr>
        <p:txBody>
          <a:bodyPr/>
          <a:lstStyle/>
          <a:p>
            <a:r>
              <a:rPr lang="en-US" dirty="0"/>
              <a:t>Perceptron </a:t>
            </a:r>
            <a:r>
              <a:rPr lang="en-US" sz="2000" dirty="0"/>
              <a:t>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4246424"/>
            <a:ext cx="7769916" cy="14905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7168" indent="-257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</a:rPr>
              <a:t>Binary Classifier</a:t>
            </a:r>
          </a:p>
          <a:p>
            <a:pPr marL="257168" indent="-257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Inputs are the </a:t>
            </a:r>
            <a:r>
              <a:rPr lang="en-US" b="1" dirty="0">
                <a:latin typeface="Times New Roman" panose="02020603050405020304" pitchFamily="18" charset="0"/>
              </a:rPr>
              <a:t>Features</a:t>
            </a:r>
            <a:r>
              <a:rPr lang="en-US" dirty="0">
                <a:latin typeface="Times New Roman" panose="02020603050405020304" pitchFamily="18" charset="0"/>
              </a:rPr>
              <a:t> of the object to be classified</a:t>
            </a:r>
          </a:p>
          <a:p>
            <a:pPr marL="257168" indent="-257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Output is the class of the object {1,0}</a:t>
            </a:r>
          </a:p>
          <a:p>
            <a:pPr marL="257168" indent="-257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</a:rPr>
              <a:t>Single Layer Neural Network</a:t>
            </a:r>
          </a:p>
          <a:p>
            <a:endParaRPr lang="en-US" dirty="0"/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 descr="Diagram of a perceptron">
            <a:extLst>
              <a:ext uri="{FF2B5EF4-FFF2-40B4-BE49-F238E27FC236}">
                <a16:creationId xmlns:a16="http://schemas.microsoft.com/office/drawing/2014/main" id="{C4CFA8FD-C713-118D-9604-DE23FBEFFED9}"/>
              </a:ext>
            </a:extLst>
          </p:cNvPr>
          <p:cNvGrpSpPr/>
          <p:nvPr/>
        </p:nvGrpSpPr>
        <p:grpSpPr>
          <a:xfrm>
            <a:off x="1427396" y="1548387"/>
            <a:ext cx="5925687" cy="2160269"/>
            <a:chOff x="1427396" y="1548387"/>
            <a:chExt cx="5925687" cy="21602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58F38C-C105-5F5B-FF73-CE0BD55428E9}"/>
                </a:ext>
              </a:extLst>
            </p:cNvPr>
            <p:cNvSpPr/>
            <p:nvPr/>
          </p:nvSpPr>
          <p:spPr>
            <a:xfrm>
              <a:off x="3542097" y="1548387"/>
              <a:ext cx="2241274" cy="216026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06ABA0F-A2CA-DC51-EF04-3D37F65E393E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5783371" y="2628520"/>
              <a:ext cx="531494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ontent Placeholder 4">
              <a:extLst>
                <a:ext uri="{FF2B5EF4-FFF2-40B4-BE49-F238E27FC236}">
                  <a16:creationId xmlns:a16="http://schemas.microsoft.com/office/drawing/2014/main" id="{8A4AB6B8-96E9-C523-093F-349079F9CA8D}"/>
                </a:ext>
              </a:extLst>
            </p:cNvPr>
            <p:cNvSpPr txBox="1">
              <a:spLocks/>
            </p:cNvSpPr>
            <p:nvPr/>
          </p:nvSpPr>
          <p:spPr>
            <a:xfrm>
              <a:off x="1427396" y="2423691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>
                  <a:latin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5653E0-E755-D29A-031F-7763D572DBE0}"/>
                </a:ext>
              </a:extLst>
            </p:cNvPr>
            <p:cNvSpPr/>
            <p:nvPr/>
          </p:nvSpPr>
          <p:spPr>
            <a:xfrm>
              <a:off x="2437267" y="186287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E128B305-8D69-3C9A-16F5-BD47BB2511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1177860"/>
                </p:ext>
              </p:extLst>
            </p:nvPr>
          </p:nvGraphicFramePr>
          <p:xfrm>
            <a:off x="2521797" y="1862711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28600" progId="Equation.DSMT4">
                    <p:embed/>
                  </p:oleObj>
                </mc:Choice>
                <mc:Fallback>
                  <p:oleObj name="Equation" r:id="rId3" imgW="152280" imgH="228600" progId="Equation.DSMT4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85A6B475-61E2-6350-9DD2-9337EE786C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21797" y="1862711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A1933113-88A8-2AA3-1AF1-CF9A884925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43409"/>
                </p:ext>
              </p:extLst>
            </p:nvPr>
          </p:nvGraphicFramePr>
          <p:xfrm>
            <a:off x="2488461" y="2970313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1AF15D03-EE02-3ECE-A980-8B6E5BFF7E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88461" y="2970313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69B7DB67-784C-1E21-B6B1-3BCE77AAD5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859962"/>
                </p:ext>
              </p:extLst>
            </p:nvPr>
          </p:nvGraphicFramePr>
          <p:xfrm>
            <a:off x="2510486" y="2283240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24" name="Object 23">
                          <a:extLst>
                            <a:ext uri="{FF2B5EF4-FFF2-40B4-BE49-F238E27FC236}">
                              <a16:creationId xmlns:a16="http://schemas.microsoft.com/office/drawing/2014/main" id="{81C1E2AD-4B58-87A3-04E8-8E571ACF40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10486" y="2283240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B9DCD26-2B90-BA40-F9E1-F984DC7235C1}"/>
                </a:ext>
              </a:extLst>
            </p:cNvPr>
            <p:cNvSpPr/>
            <p:nvPr/>
          </p:nvSpPr>
          <p:spPr>
            <a:xfrm>
              <a:off x="2437266" y="3017728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D79934-A6FF-F86C-CE58-D91EC2D331B5}"/>
                </a:ext>
              </a:extLst>
            </p:cNvPr>
            <p:cNvSpPr/>
            <p:nvPr/>
          </p:nvSpPr>
          <p:spPr>
            <a:xfrm>
              <a:off x="2437267" y="2316822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TextBox 28" descr="Diagram of a perceptron">
              <a:extLst>
                <a:ext uri="{FF2B5EF4-FFF2-40B4-BE49-F238E27FC236}">
                  <a16:creationId xmlns:a16="http://schemas.microsoft.com/office/drawing/2014/main" id="{3A2FF326-8C00-6908-4591-F78513593B27}"/>
                </a:ext>
              </a:extLst>
            </p:cNvPr>
            <p:cNvSpPr txBox="1"/>
            <p:nvPr/>
          </p:nvSpPr>
          <p:spPr>
            <a:xfrm rot="5400000">
              <a:off x="2570590" y="2614465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165487C-C2D5-BAF5-35D2-13C7EFB1EBC0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>
              <a:off x="2873030" y="2062817"/>
              <a:ext cx="6690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61275E-FCB5-44D7-782F-70CB28B77E77}"/>
                </a:ext>
              </a:extLst>
            </p:cNvPr>
            <p:cNvCxnSpPr>
              <a:cxnSpLocks/>
            </p:cNvCxnSpPr>
            <p:nvPr/>
          </p:nvCxnSpPr>
          <p:spPr>
            <a:xfrm>
              <a:off x="2873028" y="2511051"/>
              <a:ext cx="66906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C7571E0-CFA3-A8B5-618E-EFED50E28BF8}"/>
                </a:ext>
              </a:extLst>
            </p:cNvPr>
            <p:cNvCxnSpPr>
              <a:cxnSpLocks/>
            </p:cNvCxnSpPr>
            <p:nvPr/>
          </p:nvCxnSpPr>
          <p:spPr>
            <a:xfrm>
              <a:off x="2873028" y="3217672"/>
              <a:ext cx="66906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Content Placeholder 4">
              <a:extLst>
                <a:ext uri="{FF2B5EF4-FFF2-40B4-BE49-F238E27FC236}">
                  <a16:creationId xmlns:a16="http://schemas.microsoft.com/office/drawing/2014/main" id="{6D8C9970-77B6-DDDA-0F85-FDDABC8CD84D}"/>
                </a:ext>
              </a:extLst>
            </p:cNvPr>
            <p:cNvSpPr txBox="1">
              <a:spLocks/>
            </p:cNvSpPr>
            <p:nvPr/>
          </p:nvSpPr>
          <p:spPr>
            <a:xfrm>
              <a:off x="6198229" y="2332632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2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8684"/>
          </a:xfrm>
        </p:spPr>
        <p:txBody>
          <a:bodyPr>
            <a:normAutofit/>
          </a:bodyPr>
          <a:lstStyle/>
          <a:p>
            <a:r>
              <a:rPr lang="en-US" dirty="0"/>
              <a:t>Inside the Perceptron black box</a:t>
            </a:r>
          </a:p>
        </p:txBody>
      </p:sp>
      <p:graphicFrame>
        <p:nvGraphicFramePr>
          <p:cNvPr id="70" name="Object 69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54301"/>
              </p:ext>
            </p:extLst>
          </p:nvPr>
        </p:nvGraphicFramePr>
        <p:xfrm>
          <a:off x="762263" y="4466608"/>
          <a:ext cx="2778126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888840" progId="Equation.DSMT4">
                  <p:embed/>
                </p:oleObj>
              </mc:Choice>
              <mc:Fallback>
                <p:oleObj name="Equation" r:id="rId3" imgW="15872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263" y="4466608"/>
                        <a:ext cx="2778126" cy="155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 descr="Diagram of a perceptron showing what's inside the black box.">
            <a:extLst>
              <a:ext uri="{FF2B5EF4-FFF2-40B4-BE49-F238E27FC236}">
                <a16:creationId xmlns:a16="http://schemas.microsoft.com/office/drawing/2014/main" id="{4EE5E73D-3DDE-9BED-07CC-0C7DBAF5183C}"/>
              </a:ext>
            </a:extLst>
          </p:cNvPr>
          <p:cNvGrpSpPr/>
          <p:nvPr/>
        </p:nvGrpSpPr>
        <p:grpSpPr>
          <a:xfrm>
            <a:off x="2457299" y="2343614"/>
            <a:ext cx="5925687" cy="2160269"/>
            <a:chOff x="2457299" y="2343614"/>
            <a:chExt cx="5925687" cy="2160269"/>
          </a:xfrm>
        </p:grpSpPr>
        <p:sp>
          <p:nvSpPr>
            <p:cNvPr id="6" name="Rectangle 5"/>
            <p:cNvSpPr/>
            <p:nvPr/>
          </p:nvSpPr>
          <p:spPr>
            <a:xfrm>
              <a:off x="4572000" y="2343614"/>
              <a:ext cx="2241274" cy="216026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>
              <a:stCxn id="50" idx="6"/>
            </p:cNvCxnSpPr>
            <p:nvPr/>
          </p:nvCxnSpPr>
          <p:spPr>
            <a:xfrm>
              <a:off x="6620982" y="3423747"/>
              <a:ext cx="72378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457299" y="3218918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>
                  <a:latin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67170" y="2658100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462527"/>
                </p:ext>
              </p:extLst>
            </p:nvPr>
          </p:nvGraphicFramePr>
          <p:xfrm>
            <a:off x="3551700" y="2657938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51700" y="2657938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9391125"/>
                </p:ext>
              </p:extLst>
            </p:nvPr>
          </p:nvGraphicFramePr>
          <p:xfrm>
            <a:off x="3518364" y="3765540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18364" y="3765540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0048688"/>
                </p:ext>
              </p:extLst>
            </p:nvPr>
          </p:nvGraphicFramePr>
          <p:xfrm>
            <a:off x="3540389" y="3078467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0389" y="3078467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67169" y="381295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67170" y="311204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600493" y="3409692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  <a:endCxn id="31" idx="2"/>
            </p:cNvCxnSpPr>
            <p:nvPr/>
          </p:nvCxnSpPr>
          <p:spPr>
            <a:xfrm>
              <a:off x="3902931" y="2858044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4856498" y="2658100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5954690"/>
                </p:ext>
              </p:extLst>
            </p:nvPr>
          </p:nvGraphicFramePr>
          <p:xfrm>
            <a:off x="4919611" y="2657938"/>
            <a:ext cx="31075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480" imgH="228600" progId="Equation.DSMT4">
                    <p:embed/>
                  </p:oleObj>
                </mc:Choice>
                <mc:Fallback>
                  <p:oleObj name="Equation" r:id="rId11" imgW="177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19611" y="2657938"/>
                          <a:ext cx="31075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701348"/>
                </p:ext>
              </p:extLst>
            </p:nvPr>
          </p:nvGraphicFramePr>
          <p:xfrm>
            <a:off x="4886272" y="3765219"/>
            <a:ext cx="37742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86272" y="3765219"/>
                          <a:ext cx="37742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1160485"/>
                </p:ext>
              </p:extLst>
            </p:nvPr>
          </p:nvGraphicFramePr>
          <p:xfrm>
            <a:off x="4907703" y="3078229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07703" y="3078229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34"/>
            <p:cNvSpPr/>
            <p:nvPr/>
          </p:nvSpPr>
          <p:spPr>
            <a:xfrm>
              <a:off x="4856497" y="381295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856498" y="311204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514255" y="3218918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902931" y="3306278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902931" y="4012899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1" idx="6"/>
              <a:endCxn id="37" idx="1"/>
            </p:cNvCxnSpPr>
            <p:nvPr/>
          </p:nvCxnSpPr>
          <p:spPr>
            <a:xfrm>
              <a:off x="5292261" y="2858044"/>
              <a:ext cx="285810" cy="4194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37" idx="3"/>
              <a:endCxn id="35" idx="7"/>
            </p:cNvCxnSpPr>
            <p:nvPr/>
          </p:nvCxnSpPr>
          <p:spPr>
            <a:xfrm flipH="1">
              <a:off x="5228443" y="3560243"/>
              <a:ext cx="349628" cy="3112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6" idx="6"/>
              <a:endCxn id="37" idx="2"/>
            </p:cNvCxnSpPr>
            <p:nvPr/>
          </p:nvCxnSpPr>
          <p:spPr>
            <a:xfrm>
              <a:off x="5292260" y="3311995"/>
              <a:ext cx="221995" cy="1068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9252200"/>
                </p:ext>
              </p:extLst>
            </p:nvPr>
          </p:nvGraphicFramePr>
          <p:xfrm>
            <a:off x="5627964" y="3288501"/>
            <a:ext cx="267653" cy="23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1960" imgH="253800" progId="Equation.DSMT4">
                    <p:embed/>
                  </p:oleObj>
                </mc:Choice>
                <mc:Fallback>
                  <p:oleObj name="Equation" r:id="rId17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27964" y="3288501"/>
                          <a:ext cx="267653" cy="23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9"/>
            <p:cNvSpPr/>
            <p:nvPr/>
          </p:nvSpPr>
          <p:spPr>
            <a:xfrm>
              <a:off x="6185220" y="322380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52" name="Straight Arrow Connector 51"/>
            <p:cNvCxnSpPr>
              <a:endCxn id="50" idx="2"/>
            </p:cNvCxnSpPr>
            <p:nvPr/>
          </p:nvCxnSpPr>
          <p:spPr>
            <a:xfrm>
              <a:off x="5950018" y="3423747"/>
              <a:ext cx="2352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506019"/>
                </p:ext>
              </p:extLst>
            </p:nvPr>
          </p:nvGraphicFramePr>
          <p:xfrm>
            <a:off x="6288335" y="3254061"/>
            <a:ext cx="212109" cy="339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203040" progId="Equation.DSMT4">
                    <p:embed/>
                  </p:oleObj>
                </mc:Choice>
                <mc:Fallback>
                  <p:oleObj name="Equation" r:id="rId19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288335" y="3254061"/>
                          <a:ext cx="212109" cy="339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Content Placeholder 4"/>
            <p:cNvSpPr txBox="1">
              <a:spLocks/>
            </p:cNvSpPr>
            <p:nvPr/>
          </p:nvSpPr>
          <p:spPr>
            <a:xfrm>
              <a:off x="7228132" y="3127859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6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9729"/>
            <a:ext cx="7886700" cy="703919"/>
          </a:xfrm>
        </p:spPr>
        <p:txBody>
          <a:bodyPr>
            <a:normAutofit/>
          </a:bodyPr>
          <a:lstStyle/>
          <a:p>
            <a:r>
              <a:rPr lang="en-US" dirty="0"/>
              <a:t>Perceptron activation function</a:t>
            </a:r>
          </a:p>
        </p:txBody>
      </p:sp>
      <p:graphicFrame>
        <p:nvGraphicFramePr>
          <p:cNvPr id="4" name="Object 3" descr="MATHML ojb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025163"/>
              </p:ext>
            </p:extLst>
          </p:nvPr>
        </p:nvGraphicFramePr>
        <p:xfrm>
          <a:off x="1039813" y="2085975"/>
          <a:ext cx="3324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431640" progId="Equation.DSMT4">
                  <p:embed/>
                </p:oleObj>
              </mc:Choice>
              <mc:Fallback>
                <p:oleObj name="Equation" r:id="rId3" imgW="1536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085975"/>
                        <a:ext cx="33242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054627"/>
              </p:ext>
            </p:extLst>
          </p:nvPr>
        </p:nvGraphicFramePr>
        <p:xfrm>
          <a:off x="1082675" y="3313113"/>
          <a:ext cx="2205038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457200" progId="Equation.DSMT4">
                  <p:embed/>
                </p:oleObj>
              </mc:Choice>
              <mc:Fallback>
                <p:oleObj name="Equation" r:id="rId5" imgW="12571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2675" y="3313113"/>
                        <a:ext cx="2205038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 descr="Image of the perceptron activation function">
            <a:extLst>
              <a:ext uri="{FF2B5EF4-FFF2-40B4-BE49-F238E27FC236}">
                <a16:creationId xmlns:a16="http://schemas.microsoft.com/office/drawing/2014/main" id="{2ACB8054-62BB-E1D3-DA5B-817C9377F977}"/>
              </a:ext>
            </a:extLst>
          </p:cNvPr>
          <p:cNvGrpSpPr/>
          <p:nvPr/>
        </p:nvGrpSpPr>
        <p:grpSpPr>
          <a:xfrm>
            <a:off x="5542915" y="3207224"/>
            <a:ext cx="1765461" cy="1937468"/>
            <a:chOff x="5542915" y="3207224"/>
            <a:chExt cx="1765461" cy="1937468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6393976" y="3207224"/>
              <a:ext cx="6824" cy="135795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5842522" y="3908494"/>
              <a:ext cx="1315730" cy="1250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6269440" y="3438778"/>
              <a:ext cx="249071" cy="45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6269441" y="4346811"/>
              <a:ext cx="286603" cy="227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126870"/>
                </p:ext>
              </p:extLst>
            </p:nvPr>
          </p:nvGraphicFramePr>
          <p:xfrm>
            <a:off x="5571780" y="3305713"/>
            <a:ext cx="132770" cy="246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8560" imgH="164880" progId="Equation.DSMT4">
                    <p:embed/>
                  </p:oleObj>
                </mc:Choice>
                <mc:Fallback>
                  <p:oleObj name="Equation" r:id="rId7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71780" y="3305713"/>
                          <a:ext cx="132770" cy="2465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849401"/>
                </p:ext>
              </p:extLst>
            </p:nvPr>
          </p:nvGraphicFramePr>
          <p:xfrm>
            <a:off x="5542915" y="3798888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177480" progId="Equation.DSMT4">
                    <p:embed/>
                  </p:oleObj>
                </mc:Choice>
                <mc:Fallback>
                  <p:oleObj name="Equation" r:id="rId9" imgW="126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42915" y="3798888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Straight Connector 28"/>
            <p:cNvCxnSpPr/>
            <p:nvPr/>
          </p:nvCxnSpPr>
          <p:spPr>
            <a:xfrm flipH="1">
              <a:off x="6796585" y="3790896"/>
              <a:ext cx="5117" cy="23519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302818"/>
                </p:ext>
              </p:extLst>
            </p:nvPr>
          </p:nvGraphicFramePr>
          <p:xfrm>
            <a:off x="6689725" y="4065588"/>
            <a:ext cx="209550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77480" progId="Equation.DSMT4">
                    <p:embed/>
                  </p:oleObj>
                </mc:Choice>
                <mc:Fallback>
                  <p:oleObj name="Equation" r:id="rId11" imgW="1396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689725" y="4065588"/>
                          <a:ext cx="209550" cy="2651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5" name="Straight Connector 34"/>
            <p:cNvCxnSpPr/>
            <p:nvPr/>
          </p:nvCxnSpPr>
          <p:spPr>
            <a:xfrm flipV="1">
              <a:off x="5842522" y="3906672"/>
              <a:ext cx="951978" cy="102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6801702" y="3442647"/>
              <a:ext cx="506674" cy="51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6796726" y="3429000"/>
              <a:ext cx="0" cy="48449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2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1984138"/>
                </p:ext>
              </p:extLst>
            </p:nvPr>
          </p:nvGraphicFramePr>
          <p:xfrm>
            <a:off x="6124354" y="4760603"/>
            <a:ext cx="576776" cy="384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04560" imgH="203040" progId="Equation.DSMT4">
                    <p:embed/>
                  </p:oleObj>
                </mc:Choice>
                <mc:Fallback>
                  <p:oleObj name="Equation" r:id="rId13" imgW="3045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24354" y="4760603"/>
                          <a:ext cx="576776" cy="3840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9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5502"/>
            <a:ext cx="7886700" cy="581270"/>
          </a:xfrm>
        </p:spPr>
        <p:txBody>
          <a:bodyPr>
            <a:normAutofit/>
          </a:bodyPr>
          <a:lstStyle/>
          <a:p>
            <a:r>
              <a:rPr lang="en-US" dirty="0"/>
              <a:t>Slightly improved Perceptron black box</a:t>
            </a:r>
          </a:p>
        </p:txBody>
      </p:sp>
      <p:graphicFrame>
        <p:nvGraphicFramePr>
          <p:cNvPr id="53" name="Object 52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38990"/>
              </p:ext>
            </p:extLst>
          </p:nvPr>
        </p:nvGraphicFramePr>
        <p:xfrm>
          <a:off x="5157635" y="4691102"/>
          <a:ext cx="9334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457200" progId="Equation.DSMT4">
                  <p:embed/>
                </p:oleObj>
              </mc:Choice>
              <mc:Fallback>
                <p:oleObj name="Equation" r:id="rId3" imgW="5331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7635" y="4691102"/>
                        <a:ext cx="9334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 descr="Diagram of a perceptron showing what's inside the black box, including the addition of X sub 0 and W sub 0.">
            <a:extLst>
              <a:ext uri="{FF2B5EF4-FFF2-40B4-BE49-F238E27FC236}">
                <a16:creationId xmlns:a16="http://schemas.microsoft.com/office/drawing/2014/main" id="{18D0CF7A-F101-DB70-4D19-C6F1FE8FDB5D}"/>
              </a:ext>
            </a:extLst>
          </p:cNvPr>
          <p:cNvGrpSpPr/>
          <p:nvPr/>
        </p:nvGrpSpPr>
        <p:grpSpPr>
          <a:xfrm>
            <a:off x="2385218" y="1862919"/>
            <a:ext cx="6021211" cy="2589323"/>
            <a:chOff x="2385218" y="1862919"/>
            <a:chExt cx="6021211" cy="2589323"/>
          </a:xfrm>
        </p:grpSpPr>
        <p:sp>
          <p:nvSpPr>
            <p:cNvPr id="6" name="Rectangle 5"/>
            <p:cNvSpPr/>
            <p:nvPr/>
          </p:nvSpPr>
          <p:spPr>
            <a:xfrm>
              <a:off x="4575850" y="1862919"/>
              <a:ext cx="2241274" cy="258932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>
              <a:stCxn id="50" idx="6"/>
            </p:cNvCxnSpPr>
            <p:nvPr/>
          </p:nvCxnSpPr>
          <p:spPr>
            <a:xfrm>
              <a:off x="6624832" y="3146913"/>
              <a:ext cx="72378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385218" y="2829983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71020" y="2606458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268864"/>
                </p:ext>
              </p:extLst>
            </p:nvPr>
          </p:nvGraphicFramePr>
          <p:xfrm>
            <a:off x="3555550" y="2606296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55550" y="2606296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2792363"/>
                </p:ext>
              </p:extLst>
            </p:nvPr>
          </p:nvGraphicFramePr>
          <p:xfrm>
            <a:off x="3522214" y="3713898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22214" y="3713898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3347881"/>
                </p:ext>
              </p:extLst>
            </p:nvPr>
          </p:nvGraphicFramePr>
          <p:xfrm>
            <a:off x="3544239" y="3026825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44239" y="3026825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71019" y="376131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71020" y="3060407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604343" y="3358050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  <a:endCxn id="31" idx="2"/>
            </p:cNvCxnSpPr>
            <p:nvPr/>
          </p:nvCxnSpPr>
          <p:spPr>
            <a:xfrm>
              <a:off x="3906781" y="2806402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4860348" y="2606458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5407057"/>
                </p:ext>
              </p:extLst>
            </p:nvPr>
          </p:nvGraphicFramePr>
          <p:xfrm>
            <a:off x="4923461" y="2606296"/>
            <a:ext cx="31075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480" imgH="228600" progId="Equation.DSMT4">
                    <p:embed/>
                  </p:oleObj>
                </mc:Choice>
                <mc:Fallback>
                  <p:oleObj name="Equation" r:id="rId11" imgW="177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23461" y="2606296"/>
                          <a:ext cx="31075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2222871"/>
                </p:ext>
              </p:extLst>
            </p:nvPr>
          </p:nvGraphicFramePr>
          <p:xfrm>
            <a:off x="4890122" y="3713577"/>
            <a:ext cx="37742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90122" y="3713577"/>
                          <a:ext cx="37742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233938"/>
                </p:ext>
              </p:extLst>
            </p:nvPr>
          </p:nvGraphicFramePr>
          <p:xfrm>
            <a:off x="4911553" y="3026587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11553" y="3026587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34"/>
            <p:cNvSpPr/>
            <p:nvPr/>
          </p:nvSpPr>
          <p:spPr>
            <a:xfrm>
              <a:off x="4860347" y="376131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860348" y="3060407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518105" y="294208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906781" y="3254636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906781" y="3961257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37" idx="0"/>
            </p:cNvCxnSpPr>
            <p:nvPr/>
          </p:nvCxnSpPr>
          <p:spPr>
            <a:xfrm>
              <a:off x="5280808" y="2360562"/>
              <a:ext cx="455179" cy="5815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35" idx="7"/>
            </p:cNvCxnSpPr>
            <p:nvPr/>
          </p:nvCxnSpPr>
          <p:spPr>
            <a:xfrm flipH="1">
              <a:off x="5232294" y="3299267"/>
              <a:ext cx="392066" cy="520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1" idx="6"/>
              <a:endCxn id="37" idx="1"/>
            </p:cNvCxnSpPr>
            <p:nvPr/>
          </p:nvCxnSpPr>
          <p:spPr>
            <a:xfrm>
              <a:off x="5296111" y="2806402"/>
              <a:ext cx="285810" cy="1942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7857617"/>
                </p:ext>
              </p:extLst>
            </p:nvPr>
          </p:nvGraphicFramePr>
          <p:xfrm>
            <a:off x="5631814" y="3011667"/>
            <a:ext cx="267653" cy="23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1960" imgH="253800" progId="Equation.DSMT4">
                    <p:embed/>
                  </p:oleObj>
                </mc:Choice>
                <mc:Fallback>
                  <p:oleObj name="Equation" r:id="rId17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31814" y="3011667"/>
                          <a:ext cx="267653" cy="23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9"/>
            <p:cNvSpPr/>
            <p:nvPr/>
          </p:nvSpPr>
          <p:spPr>
            <a:xfrm>
              <a:off x="6189070" y="294696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52" name="Straight Arrow Connector 51"/>
            <p:cNvCxnSpPr>
              <a:endCxn id="50" idx="2"/>
            </p:cNvCxnSpPr>
            <p:nvPr/>
          </p:nvCxnSpPr>
          <p:spPr>
            <a:xfrm>
              <a:off x="5953868" y="3146913"/>
              <a:ext cx="2352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118064"/>
                </p:ext>
              </p:extLst>
            </p:nvPr>
          </p:nvGraphicFramePr>
          <p:xfrm>
            <a:off x="6292185" y="2977227"/>
            <a:ext cx="212109" cy="339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203040" progId="Equation.DSMT4">
                    <p:embed/>
                  </p:oleObj>
                </mc:Choice>
                <mc:Fallback>
                  <p:oleObj name="Equation" r:id="rId19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292185" y="2977227"/>
                          <a:ext cx="212109" cy="339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42"/>
            <p:cNvSpPr/>
            <p:nvPr/>
          </p:nvSpPr>
          <p:spPr>
            <a:xfrm>
              <a:off x="3457029" y="2151495"/>
              <a:ext cx="435763" cy="399888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4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0796242"/>
                </p:ext>
              </p:extLst>
            </p:nvPr>
          </p:nvGraphicFramePr>
          <p:xfrm>
            <a:off x="3530552" y="2151063"/>
            <a:ext cx="2889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28600" progId="Equation.DSMT4">
                    <p:embed/>
                  </p:oleObj>
                </mc:Choice>
                <mc:Fallback>
                  <p:oleObj name="Equation" r:id="rId21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530552" y="2151063"/>
                          <a:ext cx="2889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" name="Straight Arrow Connector 45"/>
            <p:cNvCxnSpPr>
              <a:stCxn id="43" idx="6"/>
              <a:endCxn id="47" idx="2"/>
            </p:cNvCxnSpPr>
            <p:nvPr/>
          </p:nvCxnSpPr>
          <p:spPr>
            <a:xfrm flipV="1">
              <a:off x="3892792" y="2351169"/>
              <a:ext cx="951422" cy="2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844214" y="2151225"/>
              <a:ext cx="435763" cy="399888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41997"/>
                </p:ext>
              </p:extLst>
            </p:nvPr>
          </p:nvGraphicFramePr>
          <p:xfrm>
            <a:off x="4900565" y="2151063"/>
            <a:ext cx="33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900565" y="2151063"/>
                          <a:ext cx="330200" cy="40005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1" name="Straight Arrow Connector 50"/>
            <p:cNvCxnSpPr>
              <a:endCxn id="37" idx="2"/>
            </p:cNvCxnSpPr>
            <p:nvPr/>
          </p:nvCxnSpPr>
          <p:spPr>
            <a:xfrm flipV="1">
              <a:off x="5298985" y="3142028"/>
              <a:ext cx="219120" cy="1102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Content Placeholder 4"/>
            <p:cNvSpPr txBox="1">
              <a:spLocks/>
            </p:cNvSpPr>
            <p:nvPr/>
          </p:nvSpPr>
          <p:spPr>
            <a:xfrm>
              <a:off x="7251575" y="2861132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Object 4" descr="MATHML object">
            <a:extLst>
              <a:ext uri="{FF2B5EF4-FFF2-40B4-BE49-F238E27FC236}">
                <a16:creationId xmlns:a16="http://schemas.microsoft.com/office/drawing/2014/main" id="{F6FD0A7C-47B8-6994-688D-4A2B4FAA02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764399"/>
              </p:ext>
            </p:extLst>
          </p:nvPr>
        </p:nvGraphicFramePr>
        <p:xfrm>
          <a:off x="958975" y="4462219"/>
          <a:ext cx="2778125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78273" imgH="1555988" progId="Equation.DSMT4">
                  <p:embed/>
                </p:oleObj>
              </mc:Choice>
              <mc:Fallback>
                <p:oleObj name="Equation" r:id="rId25" imgW="2778273" imgH="155598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8975" y="4462219"/>
                        <a:ext cx="2778125" cy="155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218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2351"/>
            <a:ext cx="7886700" cy="720440"/>
          </a:xfrm>
        </p:spPr>
        <p:txBody>
          <a:bodyPr>
            <a:normAutofit/>
          </a:bodyPr>
          <a:lstStyle/>
          <a:p>
            <a:r>
              <a:rPr lang="en-US" dirty="0"/>
              <a:t>Perceptron activation functions</a:t>
            </a:r>
          </a:p>
        </p:txBody>
      </p:sp>
      <p:graphicFrame>
        <p:nvGraphicFramePr>
          <p:cNvPr id="25" name="Object 24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790592"/>
              </p:ext>
            </p:extLst>
          </p:nvPr>
        </p:nvGraphicFramePr>
        <p:xfrm>
          <a:off x="1155794" y="1728281"/>
          <a:ext cx="2108200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1752480" progId="Equation.DSMT4">
                  <p:embed/>
                </p:oleObj>
              </mc:Choice>
              <mc:Fallback>
                <p:oleObj name="Equation" r:id="rId3" imgW="1346040" imgH="1752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5794" y="1728281"/>
                        <a:ext cx="2108200" cy="2747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87883"/>
              </p:ext>
            </p:extLst>
          </p:nvPr>
        </p:nvGraphicFramePr>
        <p:xfrm>
          <a:off x="5025415" y="1865312"/>
          <a:ext cx="2501900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160" imgH="2095200" progId="Equation.DSMT4">
                  <p:embed/>
                </p:oleObj>
              </mc:Choice>
              <mc:Fallback>
                <p:oleObj name="Equation" r:id="rId5" imgW="1676160" imgH="2095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5415" y="1865312"/>
                        <a:ext cx="2501900" cy="312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4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11265"/>
          </a:xfrm>
        </p:spPr>
        <p:txBody>
          <a:bodyPr>
            <a:noAutofit/>
          </a:bodyPr>
          <a:lstStyle/>
          <a:p>
            <a:r>
              <a:rPr lang="en-US" dirty="0"/>
              <a:t>Revised Perceptron activation function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223154"/>
              </p:ext>
            </p:extLst>
          </p:nvPr>
        </p:nvGraphicFramePr>
        <p:xfrm>
          <a:off x="1039813" y="2085975"/>
          <a:ext cx="3324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431640" progId="Equation.DSMT4">
                  <p:embed/>
                </p:oleObj>
              </mc:Choice>
              <mc:Fallback>
                <p:oleObj name="Equation" r:id="rId3" imgW="1536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085975"/>
                        <a:ext cx="33242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666234"/>
              </p:ext>
            </p:extLst>
          </p:nvPr>
        </p:nvGraphicFramePr>
        <p:xfrm>
          <a:off x="1542196" y="3305713"/>
          <a:ext cx="218281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457200" progId="Equation.DSMT4">
                  <p:embed/>
                </p:oleObj>
              </mc:Choice>
              <mc:Fallback>
                <p:oleObj name="Equation" r:id="rId5" imgW="12445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2196" y="3305713"/>
                        <a:ext cx="2182812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 descr="Plot of the activation function as a function of z.">
            <a:extLst>
              <a:ext uri="{FF2B5EF4-FFF2-40B4-BE49-F238E27FC236}">
                <a16:creationId xmlns:a16="http://schemas.microsoft.com/office/drawing/2014/main" id="{1E82B5A6-CE06-CED8-2302-E620EA068A63}"/>
              </a:ext>
            </a:extLst>
          </p:cNvPr>
          <p:cNvGrpSpPr/>
          <p:nvPr/>
        </p:nvGrpSpPr>
        <p:grpSpPr>
          <a:xfrm>
            <a:off x="4478006" y="2431803"/>
            <a:ext cx="4156075" cy="2717124"/>
            <a:chOff x="4478006" y="2431803"/>
            <a:chExt cx="4156075" cy="2717124"/>
          </a:xfrm>
        </p:grpSpPr>
        <p:graphicFrame>
          <p:nvGraphicFramePr>
            <p:cNvPr id="9" name="Object 8" descr="MATHML objec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259052"/>
                </p:ext>
              </p:extLst>
            </p:nvPr>
          </p:nvGraphicFramePr>
          <p:xfrm>
            <a:off x="4478006" y="4666327"/>
            <a:ext cx="4156075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97080" imgH="253800" progId="Equation.DSMT4">
                    <p:embed/>
                  </p:oleObj>
                </mc:Choice>
                <mc:Fallback>
                  <p:oleObj name="Equation" r:id="rId7" imgW="21970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78006" y="4666327"/>
                          <a:ext cx="4156075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9" descr="Image of the Heaviside step function">
              <a:extLst>
                <a:ext uri="{FF2B5EF4-FFF2-40B4-BE49-F238E27FC236}">
                  <a16:creationId xmlns:a16="http://schemas.microsoft.com/office/drawing/2014/main" id="{177F0245-2E45-76A2-9EBF-85D926DAEB78}"/>
                </a:ext>
              </a:extLst>
            </p:cNvPr>
            <p:cNvGrpSpPr/>
            <p:nvPr/>
          </p:nvGrpSpPr>
          <p:grpSpPr>
            <a:xfrm>
              <a:off x="5657967" y="2857232"/>
              <a:ext cx="1943837" cy="1698647"/>
              <a:chOff x="5553075" y="2866529"/>
              <a:chExt cx="1943837" cy="1698647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6393976" y="3207224"/>
                <a:ext cx="6824" cy="135795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H="1">
                <a:off x="5842522" y="3908494"/>
                <a:ext cx="1315730" cy="1250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269440" y="3438778"/>
                <a:ext cx="249071" cy="454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6269441" y="4346811"/>
                <a:ext cx="286603" cy="227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7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5681763"/>
                  </p:ext>
                </p:extLst>
              </p:nvPr>
            </p:nvGraphicFramePr>
            <p:xfrm>
              <a:off x="5571780" y="3305713"/>
              <a:ext cx="132770" cy="2465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88560" imgH="164880" progId="Equation.DSMT4">
                      <p:embed/>
                    </p:oleObj>
                  </mc:Choice>
                  <mc:Fallback>
                    <p:oleObj name="Equation" r:id="rId9" imgW="8856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571780" y="3305713"/>
                            <a:ext cx="132770" cy="24657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1396950"/>
                  </p:ext>
                </p:extLst>
              </p:nvPr>
            </p:nvGraphicFramePr>
            <p:xfrm>
              <a:off x="5553075" y="3795713"/>
              <a:ext cx="1905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26720" imgH="177480" progId="Equation.DSMT4">
                      <p:embed/>
                    </p:oleObj>
                  </mc:Choice>
                  <mc:Fallback>
                    <p:oleObj name="Equation" r:id="rId11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553075" y="3795713"/>
                            <a:ext cx="1905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9" name="Straight Connector 28"/>
              <p:cNvCxnSpPr/>
              <p:nvPr/>
            </p:nvCxnSpPr>
            <p:spPr>
              <a:xfrm flipH="1">
                <a:off x="681023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5842522" y="3914746"/>
                <a:ext cx="570220" cy="21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V="1">
                <a:off x="6385872" y="3448445"/>
                <a:ext cx="772380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6400800" y="3445206"/>
                <a:ext cx="0" cy="48449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2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2966988"/>
                  </p:ext>
                </p:extLst>
              </p:nvPr>
            </p:nvGraphicFramePr>
            <p:xfrm>
              <a:off x="7257199" y="3808413"/>
              <a:ext cx="239713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26720" imgH="126720" progId="Equation.DSMT4">
                      <p:embed/>
                    </p:oleObj>
                  </mc:Choice>
                  <mc:Fallback>
                    <p:oleObj name="Equation" r:id="rId13" imgW="126720" imgH="126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257199" y="3808413"/>
                            <a:ext cx="239713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1" name="Straight Connector 20"/>
              <p:cNvCxnSpPr/>
              <p:nvPr/>
            </p:nvCxnSpPr>
            <p:spPr>
              <a:xfrm flipH="1">
                <a:off x="602804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370539"/>
                  </p:ext>
                </p:extLst>
              </p:nvPr>
            </p:nvGraphicFramePr>
            <p:xfrm>
              <a:off x="6299200" y="2866529"/>
              <a:ext cx="190500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177480" progId="Equation.DSMT4">
                      <p:embed/>
                    </p:oleObj>
                  </mc:Choice>
                  <mc:Fallback>
                    <p:oleObj name="Equation" r:id="rId15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299200" y="2866529"/>
                            <a:ext cx="190500" cy="2651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" name="Object 22" descr="MATHML objec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201446"/>
                </p:ext>
              </p:extLst>
            </p:nvPr>
          </p:nvGraphicFramePr>
          <p:xfrm>
            <a:off x="6210479" y="2431803"/>
            <a:ext cx="576776" cy="384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04560" imgH="203040" progId="Equation.DSMT4">
                    <p:embed/>
                  </p:oleObj>
                </mc:Choice>
                <mc:Fallback>
                  <p:oleObj name="Equation" r:id="rId17" imgW="3045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10479" y="2431803"/>
                          <a:ext cx="576776" cy="3840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00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314" y="326047"/>
            <a:ext cx="8184986" cy="673029"/>
          </a:xfrm>
        </p:spPr>
        <p:txBody>
          <a:bodyPr>
            <a:normAutofit/>
          </a:bodyPr>
          <a:lstStyle/>
          <a:p>
            <a:r>
              <a:rPr lang="en-US" dirty="0"/>
              <a:t>Alternate Perceptron activation function 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079540"/>
              </p:ext>
            </p:extLst>
          </p:nvPr>
        </p:nvGraphicFramePr>
        <p:xfrm>
          <a:off x="1039813" y="2085975"/>
          <a:ext cx="3324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431640" progId="Equation.DSMT4">
                  <p:embed/>
                </p:oleObj>
              </mc:Choice>
              <mc:Fallback>
                <p:oleObj name="Equation" r:id="rId3" imgW="1536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085975"/>
                        <a:ext cx="33242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798317"/>
              </p:ext>
            </p:extLst>
          </p:nvPr>
        </p:nvGraphicFramePr>
        <p:xfrm>
          <a:off x="1543844" y="3304637"/>
          <a:ext cx="23161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457200" progId="Equation.DSMT4">
                  <p:embed/>
                </p:oleObj>
              </mc:Choice>
              <mc:Fallback>
                <p:oleObj name="Equation" r:id="rId5" imgW="1320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3844" y="3304637"/>
                        <a:ext cx="2316162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 descr="Plot of the alternate perceptron activation function as a function of z.">
            <a:extLst>
              <a:ext uri="{FF2B5EF4-FFF2-40B4-BE49-F238E27FC236}">
                <a16:creationId xmlns:a16="http://schemas.microsoft.com/office/drawing/2014/main" id="{5776CA1D-CFD7-CACC-D10C-2FF5B80C5E98}"/>
              </a:ext>
            </a:extLst>
          </p:cNvPr>
          <p:cNvGrpSpPr/>
          <p:nvPr/>
        </p:nvGrpSpPr>
        <p:grpSpPr>
          <a:xfrm>
            <a:off x="5607183" y="2399079"/>
            <a:ext cx="2069971" cy="2161701"/>
            <a:chOff x="5426941" y="2403475"/>
            <a:chExt cx="2069971" cy="2161701"/>
          </a:xfrm>
        </p:grpSpPr>
        <p:graphicFrame>
          <p:nvGraphicFramePr>
            <p:cNvPr id="23" name="Object 22" descr="MATHML objec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9896127"/>
                </p:ext>
              </p:extLst>
            </p:nvPr>
          </p:nvGraphicFramePr>
          <p:xfrm>
            <a:off x="6124575" y="2403475"/>
            <a:ext cx="60166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160" imgH="241200" progId="Equation.DSMT4">
                    <p:embed/>
                  </p:oleObj>
                </mc:Choice>
                <mc:Fallback>
                  <p:oleObj name="Equation" r:id="rId7" imgW="317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24575" y="2403475"/>
                          <a:ext cx="601663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4" descr="Plot of an alternate Perceptron activation function.">
              <a:extLst>
                <a:ext uri="{FF2B5EF4-FFF2-40B4-BE49-F238E27FC236}">
                  <a16:creationId xmlns:a16="http://schemas.microsoft.com/office/drawing/2014/main" id="{CF038112-601A-C411-D8ED-2B1F1C98B428}"/>
                </a:ext>
              </a:extLst>
            </p:cNvPr>
            <p:cNvGrpSpPr/>
            <p:nvPr/>
          </p:nvGrpSpPr>
          <p:grpSpPr>
            <a:xfrm>
              <a:off x="5426941" y="2866529"/>
              <a:ext cx="2069971" cy="1698647"/>
              <a:chOff x="5426941" y="2866529"/>
              <a:chExt cx="2069971" cy="1698647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6393976" y="3207224"/>
                <a:ext cx="6824" cy="1357952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H="1">
                <a:off x="5842522" y="3908494"/>
                <a:ext cx="1315730" cy="1250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269440" y="3438778"/>
                <a:ext cx="249071" cy="454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6269441" y="4346811"/>
                <a:ext cx="286603" cy="2276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7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5176002"/>
                  </p:ext>
                </p:extLst>
              </p:nvPr>
            </p:nvGraphicFramePr>
            <p:xfrm>
              <a:off x="5571780" y="3305713"/>
              <a:ext cx="132770" cy="2465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88560" imgH="164880" progId="Equation.DSMT4">
                      <p:embed/>
                    </p:oleObj>
                  </mc:Choice>
                  <mc:Fallback>
                    <p:oleObj name="Equation" r:id="rId9" imgW="8856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571780" y="3305713"/>
                            <a:ext cx="132770" cy="24657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4599629"/>
                  </p:ext>
                </p:extLst>
              </p:nvPr>
            </p:nvGraphicFramePr>
            <p:xfrm>
              <a:off x="5553075" y="3795713"/>
              <a:ext cx="1905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26720" imgH="177480" progId="Equation.DSMT4">
                      <p:embed/>
                    </p:oleObj>
                  </mc:Choice>
                  <mc:Fallback>
                    <p:oleObj name="Equation" r:id="rId11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553075" y="3795713"/>
                            <a:ext cx="1905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9" name="Straight Connector 28"/>
              <p:cNvCxnSpPr/>
              <p:nvPr/>
            </p:nvCxnSpPr>
            <p:spPr>
              <a:xfrm flipH="1">
                <a:off x="681023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5842522" y="4345412"/>
                <a:ext cx="570220" cy="21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V="1">
                <a:off x="6385872" y="3448445"/>
                <a:ext cx="772380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 descr="Image of an alternative activation function"/>
              <p:cNvCxnSpPr/>
              <p:nvPr/>
            </p:nvCxnSpPr>
            <p:spPr>
              <a:xfrm flipV="1">
                <a:off x="6400800" y="3445206"/>
                <a:ext cx="0" cy="9002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2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7899918"/>
                  </p:ext>
                </p:extLst>
              </p:nvPr>
            </p:nvGraphicFramePr>
            <p:xfrm>
              <a:off x="7257199" y="3808413"/>
              <a:ext cx="239713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26720" imgH="126720" progId="Equation.DSMT4">
                      <p:embed/>
                    </p:oleObj>
                  </mc:Choice>
                  <mc:Fallback>
                    <p:oleObj name="Equation" r:id="rId13" imgW="126720" imgH="126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257199" y="3808413"/>
                            <a:ext cx="239713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1" name="Straight Connector 20"/>
              <p:cNvCxnSpPr/>
              <p:nvPr/>
            </p:nvCxnSpPr>
            <p:spPr>
              <a:xfrm flipH="1">
                <a:off x="6028043" y="3790896"/>
                <a:ext cx="5117" cy="23519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9515125"/>
                  </p:ext>
                </p:extLst>
              </p:nvPr>
            </p:nvGraphicFramePr>
            <p:xfrm>
              <a:off x="6299200" y="2866529"/>
              <a:ext cx="190500" cy="265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177480" progId="Equation.DSMT4">
                      <p:embed/>
                    </p:oleObj>
                  </mc:Choice>
                  <mc:Fallback>
                    <p:oleObj name="Equation" r:id="rId15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299200" y="2866529"/>
                            <a:ext cx="190500" cy="2651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2729150"/>
                  </p:ext>
                </p:extLst>
              </p:nvPr>
            </p:nvGraphicFramePr>
            <p:xfrm>
              <a:off x="5426941" y="4217086"/>
              <a:ext cx="280988" cy="2460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90440" imgH="164880" progId="Equation.DSMT4">
                      <p:embed/>
                    </p:oleObj>
                  </mc:Choice>
                  <mc:Fallback>
                    <p:oleObj name="Equation" r:id="rId17" imgW="19044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426941" y="4217086"/>
                            <a:ext cx="280988" cy="24606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0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2880"/>
          </a:xfrm>
        </p:spPr>
        <p:txBody>
          <a:bodyPr/>
          <a:lstStyle/>
          <a:p>
            <a:r>
              <a:rPr lang="en-US" dirty="0"/>
              <a:t>Perceptron </a:t>
            </a:r>
            <a:r>
              <a:rPr lang="en-US" sz="2000" dirty="0"/>
              <a:t>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4329259"/>
            <a:ext cx="7769916" cy="12197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input signals are accumulated</a:t>
            </a:r>
          </a:p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output is determined</a:t>
            </a:r>
          </a:p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for training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 descr="Image of the perceptron">
            <a:extLst>
              <a:ext uri="{FF2B5EF4-FFF2-40B4-BE49-F238E27FC236}">
                <a16:creationId xmlns:a16="http://schemas.microsoft.com/office/drawing/2014/main" id="{12AFB34C-C404-E59D-49A1-EE893377138C}"/>
              </a:ext>
            </a:extLst>
          </p:cNvPr>
          <p:cNvGrpSpPr/>
          <p:nvPr/>
        </p:nvGrpSpPr>
        <p:grpSpPr>
          <a:xfrm>
            <a:off x="2462131" y="1791100"/>
            <a:ext cx="5896043" cy="2160269"/>
            <a:chOff x="2462131" y="1791100"/>
            <a:chExt cx="5896043" cy="2160269"/>
          </a:xfrm>
        </p:grpSpPr>
        <p:sp>
          <p:nvSpPr>
            <p:cNvPr id="6" name="Rectangle 5"/>
            <p:cNvSpPr/>
            <p:nvPr/>
          </p:nvSpPr>
          <p:spPr>
            <a:xfrm>
              <a:off x="4576832" y="1791100"/>
              <a:ext cx="2241274" cy="216026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818105" y="2871233"/>
              <a:ext cx="5314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462131" y="2666404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72002" y="210558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5638937"/>
                </p:ext>
              </p:extLst>
            </p:nvPr>
          </p:nvGraphicFramePr>
          <p:xfrm>
            <a:off x="3546475" y="2105025"/>
            <a:ext cx="2889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46475" y="2105025"/>
                          <a:ext cx="2889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2849145"/>
                </p:ext>
              </p:extLst>
            </p:nvPr>
          </p:nvGraphicFramePr>
          <p:xfrm>
            <a:off x="3523196" y="3213026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23196" y="3213026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5225948"/>
                </p:ext>
              </p:extLst>
            </p:nvPr>
          </p:nvGraphicFramePr>
          <p:xfrm>
            <a:off x="3556000" y="2525713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280" imgH="228600" progId="Equation.DSMT4">
                    <p:embed/>
                  </p:oleObj>
                </mc:Choice>
                <mc:Fallback>
                  <p:oleObj name="Equation" r:id="rId7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56000" y="2525713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72001" y="326044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72002" y="255953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605325" y="2857179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</p:cNvCxnSpPr>
            <p:nvPr/>
          </p:nvCxnSpPr>
          <p:spPr>
            <a:xfrm flipV="1">
              <a:off x="3907764" y="2305448"/>
              <a:ext cx="669068" cy="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3919075" y="2745754"/>
              <a:ext cx="669068" cy="94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3907762" y="3460385"/>
              <a:ext cx="669068" cy="94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4"/>
            <p:cNvSpPr txBox="1">
              <a:spLocks/>
            </p:cNvSpPr>
            <p:nvPr/>
          </p:nvSpPr>
          <p:spPr>
            <a:xfrm>
              <a:off x="7203320" y="2572098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45919"/>
          </a:xfrm>
        </p:spPr>
        <p:txBody>
          <a:bodyPr/>
          <a:lstStyle/>
          <a:p>
            <a:r>
              <a:rPr lang="en-US" dirty="0"/>
              <a:t>Application of Perceptrons to logic gates</a:t>
            </a:r>
          </a:p>
        </p:txBody>
      </p:sp>
      <p:grpSp>
        <p:nvGrpSpPr>
          <p:cNvPr id="3" name="Group 2" descr="Symbol for the NOT logical function">
            <a:extLst>
              <a:ext uri="{FF2B5EF4-FFF2-40B4-BE49-F238E27FC236}">
                <a16:creationId xmlns:a16="http://schemas.microsoft.com/office/drawing/2014/main" id="{8D66BBD7-5AD3-152A-443D-62F0C7874E11}"/>
              </a:ext>
            </a:extLst>
          </p:cNvPr>
          <p:cNvGrpSpPr/>
          <p:nvPr/>
        </p:nvGrpSpPr>
        <p:grpSpPr>
          <a:xfrm>
            <a:off x="1160054" y="3144145"/>
            <a:ext cx="2306471" cy="616850"/>
            <a:chOff x="1160054" y="3144145"/>
            <a:chExt cx="2306471" cy="6168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9022" y="3144145"/>
              <a:ext cx="1233700" cy="61685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160054" y="3215518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22722" y="3191357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out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10430" y="2512952"/>
            <a:ext cx="111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</p:txBody>
      </p:sp>
      <p:grpSp>
        <p:nvGrpSpPr>
          <p:cNvPr id="4" name="Group 3" descr="Symbol for the NAND logical function">
            <a:extLst>
              <a:ext uri="{FF2B5EF4-FFF2-40B4-BE49-F238E27FC236}">
                <a16:creationId xmlns:a16="http://schemas.microsoft.com/office/drawing/2014/main" id="{F7A8D133-AD86-C030-23D1-414B30A8EEFA}"/>
              </a:ext>
            </a:extLst>
          </p:cNvPr>
          <p:cNvGrpSpPr/>
          <p:nvPr/>
        </p:nvGrpSpPr>
        <p:grpSpPr>
          <a:xfrm>
            <a:off x="3657597" y="3026972"/>
            <a:ext cx="2300002" cy="787505"/>
            <a:chOff x="3657597" y="3026972"/>
            <a:chExt cx="2300002" cy="78750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4398" y="3144145"/>
              <a:ext cx="1231566" cy="61578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657597" y="3026972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597" y="3352812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13796" y="3212295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715779" y="2494071"/>
            <a:ext cx="1712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189" y="2494071"/>
            <a:ext cx="1112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</a:p>
        </p:txBody>
      </p:sp>
      <p:grpSp>
        <p:nvGrpSpPr>
          <p:cNvPr id="5" name="Group 4" descr="Symbol for the logical XOR function">
            <a:extLst>
              <a:ext uri="{FF2B5EF4-FFF2-40B4-BE49-F238E27FC236}">
                <a16:creationId xmlns:a16="http://schemas.microsoft.com/office/drawing/2014/main" id="{53FC3EBB-6656-8FD9-84A7-9A7F565D58F9}"/>
              </a:ext>
            </a:extLst>
          </p:cNvPr>
          <p:cNvGrpSpPr/>
          <p:nvPr/>
        </p:nvGrpSpPr>
        <p:grpSpPr>
          <a:xfrm>
            <a:off x="6387511" y="3070776"/>
            <a:ext cx="2300002" cy="787505"/>
            <a:chOff x="6387511" y="3070776"/>
            <a:chExt cx="2300002" cy="787505"/>
          </a:xfrm>
        </p:grpSpPr>
        <p:sp>
          <p:nvSpPr>
            <p:cNvPr id="17" name="TextBox 16"/>
            <p:cNvSpPr txBox="1"/>
            <p:nvPr/>
          </p:nvSpPr>
          <p:spPr>
            <a:xfrm>
              <a:off x="6387511" y="3070776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87511" y="3396616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43710" y="3256099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116" y="3186680"/>
              <a:ext cx="1255594" cy="627797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256C4-F834-4BB2-9598-A7FE550BD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3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54879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(1)</a:t>
            </a:r>
          </a:p>
        </p:txBody>
      </p:sp>
      <p:graphicFrame>
        <p:nvGraphicFramePr>
          <p:cNvPr id="7" name="Table 6" descr="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434957"/>
              </p:ext>
            </p:extLst>
          </p:nvPr>
        </p:nvGraphicFramePr>
        <p:xfrm>
          <a:off x="3838445" y="3070633"/>
          <a:ext cx="1450074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ion">
            <a:extLst>
              <a:ext uri="{FF2B5EF4-FFF2-40B4-BE49-F238E27FC236}">
                <a16:creationId xmlns:a16="http://schemas.microsoft.com/office/drawing/2014/main" id="{252D822B-A1E5-0CEF-83EF-F055BA770274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05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08817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(2)</a:t>
            </a:r>
          </a:p>
        </p:txBody>
      </p:sp>
      <p:graphicFrame>
        <p:nvGraphicFramePr>
          <p:cNvPr id="7" name="Table 6" descr="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233"/>
              </p:ext>
            </p:extLst>
          </p:nvPr>
        </p:nvGraphicFramePr>
        <p:xfrm>
          <a:off x="1955054" y="3429000"/>
          <a:ext cx="1450074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on">
            <a:extLst>
              <a:ext uri="{FF2B5EF4-FFF2-40B4-BE49-F238E27FC236}">
                <a16:creationId xmlns:a16="http://schemas.microsoft.com/office/drawing/2014/main" id="{92D236CE-8313-A686-5EF6-C02C0105D8E0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grpSp>
        <p:nvGrpSpPr>
          <p:cNvPr id="5" name="Group 4" descr="Graphic for the logical not function">
            <a:extLst>
              <a:ext uri="{FF2B5EF4-FFF2-40B4-BE49-F238E27FC236}">
                <a16:creationId xmlns:a16="http://schemas.microsoft.com/office/drawing/2014/main" id="{85C825D9-1554-D845-DF7B-3611BBA2F300}"/>
              </a:ext>
            </a:extLst>
          </p:cNvPr>
          <p:cNvGrpSpPr/>
          <p:nvPr/>
        </p:nvGrpSpPr>
        <p:grpSpPr>
          <a:xfrm>
            <a:off x="5605079" y="3759960"/>
            <a:ext cx="1720465" cy="883286"/>
            <a:chOff x="5605079" y="3759960"/>
            <a:chExt cx="1720465" cy="883286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6239798" y="3759960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 flipV="1">
              <a:off x="6020157" y="4003456"/>
              <a:ext cx="1305387" cy="2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071606" y="3766784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05079" y="381311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089757" y="426433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40187" y="4273914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115427" y="388479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940187" y="3871209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776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(3)</a:t>
            </a:r>
          </a:p>
        </p:txBody>
      </p:sp>
      <p:graphicFrame>
        <p:nvGraphicFramePr>
          <p:cNvPr id="7" name="Table 6" descr="Expanded 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900112"/>
              </p:ext>
            </p:extLst>
          </p:nvPr>
        </p:nvGraphicFramePr>
        <p:xfrm>
          <a:off x="979229" y="3070633"/>
          <a:ext cx="7148015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ion">
            <a:extLst>
              <a:ext uri="{FF2B5EF4-FFF2-40B4-BE49-F238E27FC236}">
                <a16:creationId xmlns:a16="http://schemas.microsoft.com/office/drawing/2014/main" id="{FFEDD5CD-987D-B373-B554-E7C8E2E7426B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94951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9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6851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(4)</a:t>
            </a:r>
          </a:p>
        </p:txBody>
      </p:sp>
      <p:graphicFrame>
        <p:nvGraphicFramePr>
          <p:cNvPr id="7" name="Table 6" descr="Expanded 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72222"/>
              </p:ext>
            </p:extLst>
          </p:nvPr>
        </p:nvGraphicFramePr>
        <p:xfrm>
          <a:off x="979229" y="3070633"/>
          <a:ext cx="7148015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OT function">
            <a:extLst>
              <a:ext uri="{FF2B5EF4-FFF2-40B4-BE49-F238E27FC236}">
                <a16:creationId xmlns:a16="http://schemas.microsoft.com/office/drawing/2014/main" id="{717042FB-1958-EEDE-5F23-C2D2F9452226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90017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graphicFrame>
        <p:nvGraphicFramePr>
          <p:cNvPr id="3" name="Object 2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319736"/>
              </p:ext>
            </p:extLst>
          </p:nvPr>
        </p:nvGraphicFramePr>
        <p:xfrm>
          <a:off x="4177946" y="4683788"/>
          <a:ext cx="7778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457200" progId="Equation.DSMT4">
                  <p:embed/>
                </p:oleObj>
              </mc:Choice>
              <mc:Fallback>
                <p:oleObj name="Equation" r:id="rId4" imgW="4316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7946" y="4683788"/>
                        <a:ext cx="777875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45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6850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(5)</a:t>
            </a:r>
          </a:p>
        </p:txBody>
      </p:sp>
      <p:graphicFrame>
        <p:nvGraphicFramePr>
          <p:cNvPr id="7" name="Table 6" descr="Expanded 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198941"/>
              </p:ext>
            </p:extLst>
          </p:nvPr>
        </p:nvGraphicFramePr>
        <p:xfrm>
          <a:off x="979229" y="3070633"/>
          <a:ext cx="7148015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ion">
            <a:extLst>
              <a:ext uri="{FF2B5EF4-FFF2-40B4-BE49-F238E27FC236}">
                <a16:creationId xmlns:a16="http://schemas.microsoft.com/office/drawing/2014/main" id="{D54C8BA1-5890-AF83-9B2A-B1F21E74683E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93348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373895"/>
              </p:ext>
            </p:extLst>
          </p:nvPr>
        </p:nvGraphicFramePr>
        <p:xfrm>
          <a:off x="3878947" y="4614863"/>
          <a:ext cx="19907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533160" progId="Equation.DSMT4">
                  <p:embed/>
                </p:oleObj>
              </mc:Choice>
              <mc:Fallback>
                <p:oleObj name="Equation" r:id="rId4" imgW="11048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78947" y="4614863"/>
                        <a:ext cx="1990725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55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805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(6)</a:t>
            </a:r>
          </a:p>
        </p:txBody>
      </p:sp>
      <p:graphicFrame>
        <p:nvGraphicFramePr>
          <p:cNvPr id="7" name="Table 6" descr="Expanded 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900007"/>
              </p:ext>
            </p:extLst>
          </p:nvPr>
        </p:nvGraphicFramePr>
        <p:xfrm>
          <a:off x="979229" y="3070633"/>
          <a:ext cx="7148015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ion">
            <a:extLst>
              <a:ext uri="{FF2B5EF4-FFF2-40B4-BE49-F238E27FC236}">
                <a16:creationId xmlns:a16="http://schemas.microsoft.com/office/drawing/2014/main" id="{6B19F708-6BF4-B657-FA54-C1A2482B73F5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93348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32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805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NOT </a:t>
            </a:r>
            <a:r>
              <a:rPr lang="en-US" sz="2200" dirty="0"/>
              <a:t>(7)</a:t>
            </a:r>
          </a:p>
        </p:txBody>
      </p:sp>
      <p:graphicFrame>
        <p:nvGraphicFramePr>
          <p:cNvPr id="7" name="Table 6" descr="Expanded truth table for the logical NOT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43200"/>
              </p:ext>
            </p:extLst>
          </p:nvPr>
        </p:nvGraphicFramePr>
        <p:xfrm>
          <a:off x="979229" y="3070633"/>
          <a:ext cx="7148015" cy="1137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0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NOT function">
            <a:extLst>
              <a:ext uri="{FF2B5EF4-FFF2-40B4-BE49-F238E27FC236}">
                <a16:creationId xmlns:a16="http://schemas.microsoft.com/office/drawing/2014/main" id="{8928D8F6-BB7C-9C47-8299-80C626914543}"/>
              </a:ext>
            </a:extLst>
          </p:cNvPr>
          <p:cNvGrpSpPr/>
          <p:nvPr/>
        </p:nvGrpSpPr>
        <p:grpSpPr>
          <a:xfrm>
            <a:off x="3684896" y="1828800"/>
            <a:ext cx="2306471" cy="616850"/>
            <a:chOff x="3684896" y="1828800"/>
            <a:chExt cx="2306471" cy="6168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864" y="1828800"/>
              <a:ext cx="1233700" cy="61685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684896" y="190017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93348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7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80980" cy="615783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(1)</a:t>
            </a:r>
          </a:p>
        </p:txBody>
      </p:sp>
      <p:graphicFrame>
        <p:nvGraphicFramePr>
          <p:cNvPr id="7" name="Table 6" descr="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589281"/>
              </p:ext>
            </p:extLst>
          </p:nvPr>
        </p:nvGraphicFramePr>
        <p:xfrm>
          <a:off x="3792200" y="3439236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C0F207C1-0BA9-770B-460C-9DCD88D7E639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63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80980" cy="60992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(2)</a:t>
            </a:r>
          </a:p>
        </p:txBody>
      </p:sp>
      <p:graphicFrame>
        <p:nvGraphicFramePr>
          <p:cNvPr id="7" name="Table 6" descr="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92397"/>
              </p:ext>
            </p:extLst>
          </p:nvPr>
        </p:nvGraphicFramePr>
        <p:xfrm>
          <a:off x="1903877" y="3429000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197CDE22-EA9A-0743-2FF8-76A25F912FED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grpSp>
        <p:nvGrpSpPr>
          <p:cNvPr id="6" name="Group 5" descr="Graphic for the logical not function">
            <a:extLst>
              <a:ext uri="{FF2B5EF4-FFF2-40B4-BE49-F238E27FC236}">
                <a16:creationId xmlns:a16="http://schemas.microsoft.com/office/drawing/2014/main" id="{73C3E854-7833-9858-A6B1-93AD0626F962}"/>
              </a:ext>
            </a:extLst>
          </p:cNvPr>
          <p:cNvGrpSpPr/>
          <p:nvPr/>
        </p:nvGrpSpPr>
        <p:grpSpPr>
          <a:xfrm>
            <a:off x="5366290" y="3429000"/>
            <a:ext cx="2153626" cy="1815171"/>
            <a:chOff x="5366290" y="3429000"/>
            <a:chExt cx="2153626" cy="181517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271014" y="3535218"/>
              <a:ext cx="5675" cy="1138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endCxn id="16" idx="0"/>
            </p:cNvCxnSpPr>
            <p:nvPr/>
          </p:nvCxnSpPr>
          <p:spPr>
            <a:xfrm>
              <a:off x="7131226" y="3429000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985400" y="4435525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985400" y="3708361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516282" y="487483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44348" y="467376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94778" y="468334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6290" y="388218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74229" y="353521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83608" y="422915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007630" y="3581073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153093" y="4322817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144348" y="359052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7007630" y="431192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46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33213" cy="615783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(3)</a:t>
            </a:r>
          </a:p>
        </p:txBody>
      </p:sp>
      <p:graphicFrame>
        <p:nvGraphicFramePr>
          <p:cNvPr id="7" name="Table 6" descr="Extended 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9711"/>
              </p:ext>
            </p:extLst>
          </p:nvPr>
        </p:nvGraphicFramePr>
        <p:xfrm>
          <a:off x="1040642" y="2680902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b="1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D7AEB0A0-B944-8DFA-237C-B7A123EF7C83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72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7"/>
            <a:ext cx="8105917" cy="686926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(4)</a:t>
            </a:r>
          </a:p>
        </p:txBody>
      </p:sp>
      <p:graphicFrame>
        <p:nvGraphicFramePr>
          <p:cNvPr id="7" name="Table 6" descr="Extended 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547500"/>
              </p:ext>
            </p:extLst>
          </p:nvPr>
        </p:nvGraphicFramePr>
        <p:xfrm>
          <a:off x="1050882" y="2668025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9BE7657C-FFC2-A1C5-F7DB-96767324246E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9543"/>
              </p:ext>
            </p:extLst>
          </p:nvPr>
        </p:nvGraphicFramePr>
        <p:xfrm>
          <a:off x="4183062" y="4761626"/>
          <a:ext cx="77787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685800" progId="Equation.DSMT4">
                  <p:embed/>
                </p:oleObj>
              </mc:Choice>
              <mc:Fallback>
                <p:oleObj name="Equation" r:id="rId4" imgW="4316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83062" y="4761626"/>
                        <a:ext cx="777875" cy="1233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89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7"/>
            <a:ext cx="8105917" cy="62573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(5)</a:t>
            </a:r>
          </a:p>
        </p:txBody>
      </p:sp>
      <p:graphicFrame>
        <p:nvGraphicFramePr>
          <p:cNvPr id="7" name="Table 6" descr="Extended 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25639"/>
              </p:ext>
            </p:extLst>
          </p:nvPr>
        </p:nvGraphicFramePr>
        <p:xfrm>
          <a:off x="1050882" y="2674842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EE32C77B-10BF-C8DC-FA30-D3DD8344D94F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045075"/>
              </p:ext>
            </p:extLst>
          </p:nvPr>
        </p:nvGraphicFramePr>
        <p:xfrm>
          <a:off x="3878947" y="4908290"/>
          <a:ext cx="19907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533160" progId="Equation.DSMT4">
                  <p:embed/>
                </p:oleObj>
              </mc:Choice>
              <mc:Fallback>
                <p:oleObj name="Equation" r:id="rId4" imgW="11048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78947" y="4908290"/>
                        <a:ext cx="1990725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29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7"/>
            <a:ext cx="8105917" cy="61578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(6)</a:t>
            </a:r>
          </a:p>
        </p:txBody>
      </p:sp>
      <p:graphicFrame>
        <p:nvGraphicFramePr>
          <p:cNvPr id="7" name="Table 6" descr="Extended 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89553"/>
              </p:ext>
            </p:extLst>
          </p:nvPr>
        </p:nvGraphicFramePr>
        <p:xfrm>
          <a:off x="1050882" y="2674845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EF073006-0C43-3598-7F88-117F969C0B4C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47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7"/>
            <a:ext cx="8105917" cy="615784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of a Perceptron to logical NAND </a:t>
            </a:r>
            <a:r>
              <a:rPr lang="en-US" sz="2200" dirty="0"/>
              <a:t>(7)</a:t>
            </a:r>
          </a:p>
        </p:txBody>
      </p:sp>
      <p:graphicFrame>
        <p:nvGraphicFramePr>
          <p:cNvPr id="7" name="Table 6" descr="Extended 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53973"/>
              </p:ext>
            </p:extLst>
          </p:nvPr>
        </p:nvGraphicFramePr>
        <p:xfrm>
          <a:off x="1050882" y="2674846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F813C5C1-49D8-1AF6-D84F-D080C8F21E22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19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80980" cy="627798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(1)</a:t>
            </a:r>
          </a:p>
        </p:txBody>
      </p:sp>
      <p:graphicFrame>
        <p:nvGraphicFramePr>
          <p:cNvPr id="7" name="Table 6" descr="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04672"/>
              </p:ext>
            </p:extLst>
          </p:nvPr>
        </p:nvGraphicFramePr>
        <p:xfrm>
          <a:off x="3792200" y="3439236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91365" y="1690689"/>
            <a:ext cx="32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5" name="Group 4" descr="Symbol for the logical XOR function">
            <a:extLst>
              <a:ext uri="{FF2B5EF4-FFF2-40B4-BE49-F238E27FC236}">
                <a16:creationId xmlns:a16="http://schemas.microsoft.com/office/drawing/2014/main" id="{C8F7C2AD-6A66-27BE-832C-5FD6C8DBF076}"/>
              </a:ext>
            </a:extLst>
          </p:cNvPr>
          <p:cNvGrpSpPr/>
          <p:nvPr/>
        </p:nvGrpSpPr>
        <p:grpSpPr>
          <a:xfrm>
            <a:off x="3691365" y="1806593"/>
            <a:ext cx="2300002" cy="671601"/>
            <a:chOff x="3691365" y="1806593"/>
            <a:chExt cx="2300002" cy="671601"/>
          </a:xfrm>
        </p:grpSpPr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39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80980" cy="627798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(2)</a:t>
            </a:r>
          </a:p>
        </p:txBody>
      </p:sp>
      <p:graphicFrame>
        <p:nvGraphicFramePr>
          <p:cNvPr id="7" name="Table 6" descr="Truth table for the logica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29109"/>
              </p:ext>
            </p:extLst>
          </p:nvPr>
        </p:nvGraphicFramePr>
        <p:xfrm>
          <a:off x="1903877" y="3429000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91365" y="1690689"/>
            <a:ext cx="32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2299C567-5641-BB26-F92E-273694A109EB}"/>
              </a:ext>
            </a:extLst>
          </p:cNvPr>
          <p:cNvGrpSpPr/>
          <p:nvPr/>
        </p:nvGrpSpPr>
        <p:grpSpPr>
          <a:xfrm>
            <a:off x="3691365" y="1806593"/>
            <a:ext cx="2300002" cy="671601"/>
            <a:chOff x="3691365" y="1806593"/>
            <a:chExt cx="2300002" cy="671601"/>
          </a:xfrm>
        </p:grpSpPr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grpSp>
        <p:nvGrpSpPr>
          <p:cNvPr id="5" name="Group 4" descr="Image of the logical XOR function">
            <a:extLst>
              <a:ext uri="{FF2B5EF4-FFF2-40B4-BE49-F238E27FC236}">
                <a16:creationId xmlns:a16="http://schemas.microsoft.com/office/drawing/2014/main" id="{6F32A479-328E-7E06-F002-7FC566F91831}"/>
              </a:ext>
            </a:extLst>
          </p:cNvPr>
          <p:cNvGrpSpPr/>
          <p:nvPr/>
        </p:nvGrpSpPr>
        <p:grpSpPr>
          <a:xfrm>
            <a:off x="5366290" y="3429000"/>
            <a:ext cx="2153626" cy="1815171"/>
            <a:chOff x="5366290" y="3429000"/>
            <a:chExt cx="2153626" cy="181517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290830" y="3429000"/>
              <a:ext cx="9455" cy="124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endCxn id="16" idx="0"/>
            </p:cNvCxnSpPr>
            <p:nvPr/>
          </p:nvCxnSpPr>
          <p:spPr>
            <a:xfrm>
              <a:off x="7131226" y="3429000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953945" y="4411927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985400" y="3708361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516282" y="487483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44348" y="467376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94778" y="468334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6290" y="388218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74229" y="353521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83608" y="422915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7002892" y="3535997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158654" y="3584765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191610" y="4283191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014426" y="430044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11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33213" cy="627797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(3)</a:t>
            </a:r>
          </a:p>
        </p:txBody>
      </p:sp>
      <p:graphicFrame>
        <p:nvGraphicFramePr>
          <p:cNvPr id="7" name="Table 6" descr="Extended truth table for the logical XOR 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85687"/>
              </p:ext>
            </p:extLst>
          </p:nvPr>
        </p:nvGraphicFramePr>
        <p:xfrm>
          <a:off x="1040642" y="2680902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b="1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D3A69445-A646-40CB-9400-C085167FA7ED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88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05917" cy="627797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(4)</a:t>
            </a:r>
          </a:p>
        </p:txBody>
      </p:sp>
      <p:graphicFrame>
        <p:nvGraphicFramePr>
          <p:cNvPr id="7" name="Table 6" descr="Extended 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22478"/>
              </p:ext>
            </p:extLst>
          </p:nvPr>
        </p:nvGraphicFramePr>
        <p:xfrm>
          <a:off x="1050882" y="2668025"/>
          <a:ext cx="6761279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95168"/>
              </p:ext>
            </p:extLst>
          </p:nvPr>
        </p:nvGraphicFramePr>
        <p:xfrm>
          <a:off x="4183062" y="4761626"/>
          <a:ext cx="77787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685800" progId="Equation.DSMT4">
                  <p:embed/>
                </p:oleObj>
              </mc:Choice>
              <mc:Fallback>
                <p:oleObj name="Equation" r:id="rId3" imgW="4316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3062" y="4761626"/>
                        <a:ext cx="777875" cy="1233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50A95A53-D1C3-CEF0-BBD1-C86FD4DDB17E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50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7642" y="365127"/>
            <a:ext cx="8105917" cy="625733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(5)</a:t>
            </a:r>
          </a:p>
        </p:txBody>
      </p:sp>
      <p:graphicFrame>
        <p:nvGraphicFramePr>
          <p:cNvPr id="7" name="Table 6" descr="Extended 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1663"/>
              </p:ext>
            </p:extLst>
          </p:nvPr>
        </p:nvGraphicFramePr>
        <p:xfrm>
          <a:off x="1050882" y="2674842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Object 10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694749"/>
              </p:ext>
            </p:extLst>
          </p:nvPr>
        </p:nvGraphicFramePr>
        <p:xfrm>
          <a:off x="3878947" y="4908290"/>
          <a:ext cx="19907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533160" progId="Equation.DSMT4">
                  <p:embed/>
                </p:oleObj>
              </mc:Choice>
              <mc:Fallback>
                <p:oleObj name="Equation" r:id="rId3" imgW="11048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8947" y="4908290"/>
                        <a:ext cx="1990725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69F71F2E-3F23-0427-1864-B2B088058C5A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96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7475" y="250848"/>
            <a:ext cx="8105917" cy="716421"/>
          </a:xfrm>
        </p:spPr>
        <p:txBody>
          <a:bodyPr>
            <a:normAutofit/>
          </a:bodyPr>
          <a:lstStyle/>
          <a:p>
            <a:r>
              <a:rPr lang="en-US" dirty="0"/>
              <a:t>Application of a Perceptron to logical XOR </a:t>
            </a:r>
            <a:r>
              <a:rPr lang="en-US" sz="2200" dirty="0"/>
              <a:t>(6)</a:t>
            </a:r>
          </a:p>
        </p:txBody>
      </p:sp>
      <p:graphicFrame>
        <p:nvGraphicFramePr>
          <p:cNvPr id="7" name="Table 6" descr="Extended 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67841"/>
              </p:ext>
            </p:extLst>
          </p:nvPr>
        </p:nvGraphicFramePr>
        <p:xfrm>
          <a:off x="1050882" y="2674845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91365" y="1690689"/>
            <a:ext cx="32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2947A2F3-3C93-D71C-04C0-528347980017}"/>
              </a:ext>
            </a:extLst>
          </p:cNvPr>
          <p:cNvGrpSpPr/>
          <p:nvPr/>
        </p:nvGrpSpPr>
        <p:grpSpPr>
          <a:xfrm>
            <a:off x="3691365" y="1806593"/>
            <a:ext cx="2300002" cy="671601"/>
            <a:chOff x="3691365" y="1806593"/>
            <a:chExt cx="2300002" cy="671601"/>
          </a:xfrm>
        </p:grpSpPr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7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3149" y="339472"/>
            <a:ext cx="8255883" cy="62779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Application of a Perceptron to Logical XOR </a:t>
            </a:r>
            <a:r>
              <a:rPr lang="en-US" sz="2200" dirty="0"/>
              <a:t>(7)</a:t>
            </a:r>
          </a:p>
        </p:txBody>
      </p:sp>
      <p:graphicFrame>
        <p:nvGraphicFramePr>
          <p:cNvPr id="7" name="Table 6" descr="Extended 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28502"/>
              </p:ext>
            </p:extLst>
          </p:nvPr>
        </p:nvGraphicFramePr>
        <p:xfrm>
          <a:off x="1050882" y="2674846"/>
          <a:ext cx="7062715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0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4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6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n-US" sz="18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 =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US" sz="1800" i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 i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{}</a:t>
                      </a:r>
                    </a:p>
                  </a:txBody>
                  <a:tcPr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+w</a:t>
                      </a:r>
                      <a:r>
                        <a:rPr lang="en-US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 anchorCtr="1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91365" y="1690689"/>
            <a:ext cx="32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5157F068-6BB5-1F39-7E3E-6D422C42A35D}"/>
              </a:ext>
            </a:extLst>
          </p:cNvPr>
          <p:cNvGrpSpPr/>
          <p:nvPr/>
        </p:nvGrpSpPr>
        <p:grpSpPr>
          <a:xfrm>
            <a:off x="3691365" y="1806593"/>
            <a:ext cx="2300002" cy="671601"/>
            <a:chOff x="3691365" y="1806593"/>
            <a:chExt cx="2300002" cy="671601"/>
          </a:xfrm>
        </p:grpSpPr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79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Symbol for the logical NOT function">
            <a:extLst>
              <a:ext uri="{FF2B5EF4-FFF2-40B4-BE49-F238E27FC236}">
                <a16:creationId xmlns:a16="http://schemas.microsoft.com/office/drawing/2014/main" id="{B062AD0A-E8CB-3A97-83EF-9F6F9ED8FA7D}"/>
              </a:ext>
            </a:extLst>
          </p:cNvPr>
          <p:cNvGrpSpPr/>
          <p:nvPr/>
        </p:nvGrpSpPr>
        <p:grpSpPr>
          <a:xfrm>
            <a:off x="1160054" y="2654492"/>
            <a:ext cx="2306471" cy="616850"/>
            <a:chOff x="1160054" y="2654492"/>
            <a:chExt cx="2306471" cy="6168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9022" y="2654492"/>
              <a:ext cx="1233700" cy="61685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160054" y="2725865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22722" y="2701704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out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10430" y="2023299"/>
            <a:ext cx="111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</p:txBody>
      </p:sp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C3240B9A-4241-40D8-FF9D-E96814D49B3E}"/>
              </a:ext>
            </a:extLst>
          </p:cNvPr>
          <p:cNvGrpSpPr/>
          <p:nvPr/>
        </p:nvGrpSpPr>
        <p:grpSpPr>
          <a:xfrm>
            <a:off x="3657597" y="2537319"/>
            <a:ext cx="2300002" cy="787505"/>
            <a:chOff x="3657597" y="2537319"/>
            <a:chExt cx="2300002" cy="78750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4398" y="2654492"/>
              <a:ext cx="1231566" cy="61578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657597" y="253731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597" y="286315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13796" y="272264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715779" y="2004418"/>
            <a:ext cx="1712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189" y="2004418"/>
            <a:ext cx="1112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</a:p>
        </p:txBody>
      </p:sp>
      <p:grpSp>
        <p:nvGrpSpPr>
          <p:cNvPr id="9" name="Group 8" descr="Symbol for the logical XOR function">
            <a:extLst>
              <a:ext uri="{FF2B5EF4-FFF2-40B4-BE49-F238E27FC236}">
                <a16:creationId xmlns:a16="http://schemas.microsoft.com/office/drawing/2014/main" id="{D5484ADF-D82E-64C3-DEAF-51DC49C4ABD0}"/>
              </a:ext>
            </a:extLst>
          </p:cNvPr>
          <p:cNvGrpSpPr/>
          <p:nvPr/>
        </p:nvGrpSpPr>
        <p:grpSpPr>
          <a:xfrm>
            <a:off x="6387511" y="2581123"/>
            <a:ext cx="2300002" cy="787505"/>
            <a:chOff x="6387511" y="2581123"/>
            <a:chExt cx="2300002" cy="787505"/>
          </a:xfrm>
        </p:grpSpPr>
        <p:sp>
          <p:nvSpPr>
            <p:cNvPr id="17" name="TextBox 16"/>
            <p:cNvSpPr txBox="1"/>
            <p:nvPr/>
          </p:nvSpPr>
          <p:spPr>
            <a:xfrm>
              <a:off x="6387511" y="258112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87511" y="2906963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43710" y="2766446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116" y="2697027"/>
              <a:ext cx="1255594" cy="627797"/>
            </a:xfrm>
            <a:prstGeom prst="rect">
              <a:avLst/>
            </a:prstGeom>
          </p:spPr>
        </p:pic>
      </p:grpSp>
      <p:grpSp>
        <p:nvGrpSpPr>
          <p:cNvPr id="27" name="Group 26" descr="Image for the logical NOT function">
            <a:extLst>
              <a:ext uri="{FF2B5EF4-FFF2-40B4-BE49-F238E27FC236}">
                <a16:creationId xmlns:a16="http://schemas.microsoft.com/office/drawing/2014/main" id="{540EE430-33BA-8C55-0B20-B725F330ADF1}"/>
              </a:ext>
            </a:extLst>
          </p:cNvPr>
          <p:cNvGrpSpPr/>
          <p:nvPr/>
        </p:nvGrpSpPr>
        <p:grpSpPr>
          <a:xfrm>
            <a:off x="1201710" y="4229207"/>
            <a:ext cx="1720465" cy="883286"/>
            <a:chOff x="1201710" y="4229207"/>
            <a:chExt cx="1720465" cy="883286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836429" y="4229207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1616788" y="4472703"/>
              <a:ext cx="1305387" cy="2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680035" y="4236031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1201710" y="428235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686388" y="473357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536818" y="474316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2555130" y="4352772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2" name="Oval 71"/>
            <p:cNvSpPr/>
            <p:nvPr/>
          </p:nvSpPr>
          <p:spPr>
            <a:xfrm>
              <a:off x="1707025" y="4357030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8" name="Group 27" descr="Image for the logical NAND function">
            <a:extLst>
              <a:ext uri="{FF2B5EF4-FFF2-40B4-BE49-F238E27FC236}">
                <a16:creationId xmlns:a16="http://schemas.microsoft.com/office/drawing/2014/main" id="{8B59DB11-41C6-EB00-0995-C5490E9DB19E}"/>
              </a:ext>
            </a:extLst>
          </p:cNvPr>
          <p:cNvGrpSpPr/>
          <p:nvPr/>
        </p:nvGrpSpPr>
        <p:grpSpPr>
          <a:xfrm>
            <a:off x="3327556" y="3859514"/>
            <a:ext cx="2153626" cy="1815171"/>
            <a:chOff x="3327556" y="3859514"/>
            <a:chExt cx="2153626" cy="1815171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4236323" y="3943369"/>
              <a:ext cx="1632" cy="11609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endCxn id="36" idx="0"/>
            </p:cNvCxnSpPr>
            <p:nvPr/>
          </p:nvCxnSpPr>
          <p:spPr>
            <a:xfrm>
              <a:off x="5092492" y="3859514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3946666" y="4866039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946666" y="4138875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4477548" y="5305353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105614" y="510427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956044" y="511386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327556" y="4312701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35495" y="3965732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644874" y="465967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4093354" y="4016242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4968896" y="4751870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4976590" y="4031821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3" name="Oval 72"/>
            <p:cNvSpPr/>
            <p:nvPr/>
          </p:nvSpPr>
          <p:spPr>
            <a:xfrm>
              <a:off x="4090680" y="4735337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9" name="Group 28" descr="Image for the logical XOR function">
            <a:extLst>
              <a:ext uri="{FF2B5EF4-FFF2-40B4-BE49-F238E27FC236}">
                <a16:creationId xmlns:a16="http://schemas.microsoft.com/office/drawing/2014/main" id="{F2F420B1-890D-B90B-C4E7-B262F01773E4}"/>
              </a:ext>
            </a:extLst>
          </p:cNvPr>
          <p:cNvGrpSpPr/>
          <p:nvPr/>
        </p:nvGrpSpPr>
        <p:grpSpPr>
          <a:xfrm>
            <a:off x="6157387" y="3925603"/>
            <a:ext cx="2153626" cy="1815171"/>
            <a:chOff x="6157387" y="3925603"/>
            <a:chExt cx="2153626" cy="1815171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7056160" y="3925603"/>
              <a:ext cx="6883" cy="12155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51" idx="0"/>
            </p:cNvCxnSpPr>
            <p:nvPr/>
          </p:nvCxnSpPr>
          <p:spPr>
            <a:xfrm>
              <a:off x="7922323" y="3925603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6776497" y="4932128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6756078" y="4204964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7307379" y="5371442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935445" y="517036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785875" y="517995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157387" y="437879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465326" y="403182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74705" y="4725759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" name="Oval 66"/>
            <p:cNvSpPr/>
            <p:nvPr/>
          </p:nvSpPr>
          <p:spPr>
            <a:xfrm>
              <a:off x="7805523" y="4112435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68" name="Oval 67"/>
            <p:cNvSpPr/>
            <p:nvPr/>
          </p:nvSpPr>
          <p:spPr>
            <a:xfrm>
              <a:off x="6921683" y="4097774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6932564" y="4780407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4" name="Oval 73"/>
            <p:cNvSpPr/>
            <p:nvPr/>
          </p:nvSpPr>
          <p:spPr>
            <a:xfrm>
              <a:off x="7812320" y="478682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4DFBE-2589-4EF7-99CF-95DF9C3B8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856D72-D9F7-6A79-F932-63678D8D0C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4798" y="171058"/>
            <a:ext cx="8225500" cy="6840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Limits to application of a perceptron 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(1)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5983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880" y="244444"/>
            <a:ext cx="8306602" cy="684028"/>
          </a:xfrm>
        </p:spPr>
        <p:txBody>
          <a:bodyPr>
            <a:normAutofit/>
          </a:bodyPr>
          <a:lstStyle/>
          <a:p>
            <a:r>
              <a:rPr lang="en-US" dirty="0"/>
              <a:t>Limits to application of a perceptron </a:t>
            </a:r>
            <a:r>
              <a:rPr lang="en-US" sz="2200" dirty="0"/>
              <a:t>(2)</a:t>
            </a:r>
          </a:p>
        </p:txBody>
      </p:sp>
      <p:grpSp>
        <p:nvGrpSpPr>
          <p:cNvPr id="5" name="Group 4" descr="Symbol for the logical NOT function">
            <a:extLst>
              <a:ext uri="{FF2B5EF4-FFF2-40B4-BE49-F238E27FC236}">
                <a16:creationId xmlns:a16="http://schemas.microsoft.com/office/drawing/2014/main" id="{15800271-9439-2F2C-EE1E-F433888DAB02}"/>
              </a:ext>
            </a:extLst>
          </p:cNvPr>
          <p:cNvGrpSpPr/>
          <p:nvPr/>
        </p:nvGrpSpPr>
        <p:grpSpPr>
          <a:xfrm>
            <a:off x="1160054" y="2654492"/>
            <a:ext cx="2306471" cy="616850"/>
            <a:chOff x="1160054" y="2654492"/>
            <a:chExt cx="2306471" cy="6168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9022" y="2654492"/>
              <a:ext cx="1233700" cy="61685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160054" y="2725865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22722" y="2701704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out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10430" y="2023299"/>
            <a:ext cx="111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</p:txBody>
      </p:sp>
      <p:grpSp>
        <p:nvGrpSpPr>
          <p:cNvPr id="9" name="Group 8" descr="Symbol for the logical NAND function">
            <a:extLst>
              <a:ext uri="{FF2B5EF4-FFF2-40B4-BE49-F238E27FC236}">
                <a16:creationId xmlns:a16="http://schemas.microsoft.com/office/drawing/2014/main" id="{A0E684F3-848F-AAD8-72A3-CC39854F3A30}"/>
              </a:ext>
            </a:extLst>
          </p:cNvPr>
          <p:cNvGrpSpPr/>
          <p:nvPr/>
        </p:nvGrpSpPr>
        <p:grpSpPr>
          <a:xfrm>
            <a:off x="3657597" y="2537319"/>
            <a:ext cx="2300002" cy="787505"/>
            <a:chOff x="3657597" y="2537319"/>
            <a:chExt cx="2300002" cy="78750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4398" y="2654492"/>
              <a:ext cx="1231566" cy="61578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657597" y="253731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597" y="286315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13796" y="272264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715779" y="2004418"/>
            <a:ext cx="1712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189" y="2004418"/>
            <a:ext cx="1112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</a:p>
        </p:txBody>
      </p:sp>
      <p:grpSp>
        <p:nvGrpSpPr>
          <p:cNvPr id="25" name="Group 24" descr="Symbol for the logical XOR function with the not symbol superimposed on it.">
            <a:extLst>
              <a:ext uri="{FF2B5EF4-FFF2-40B4-BE49-F238E27FC236}">
                <a16:creationId xmlns:a16="http://schemas.microsoft.com/office/drawing/2014/main" id="{3B15567A-46A0-51C6-7BE0-A638BFAFCE37}"/>
              </a:ext>
            </a:extLst>
          </p:cNvPr>
          <p:cNvGrpSpPr/>
          <p:nvPr/>
        </p:nvGrpSpPr>
        <p:grpSpPr>
          <a:xfrm>
            <a:off x="6387511" y="2193941"/>
            <a:ext cx="2300002" cy="1216811"/>
            <a:chOff x="6387511" y="2193941"/>
            <a:chExt cx="2300002" cy="12168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8235" y="2193941"/>
              <a:ext cx="1216811" cy="1216811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85B77B7-AF73-A685-C67D-36A0E7C82D83}"/>
                </a:ext>
              </a:extLst>
            </p:cNvPr>
            <p:cNvGrpSpPr/>
            <p:nvPr/>
          </p:nvGrpSpPr>
          <p:grpSpPr>
            <a:xfrm>
              <a:off x="6387511" y="2581123"/>
              <a:ext cx="2300002" cy="787505"/>
              <a:chOff x="6387511" y="2581123"/>
              <a:chExt cx="2300002" cy="78750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6387511" y="2581123"/>
                <a:ext cx="3289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387511" y="2906963"/>
                <a:ext cx="3289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943710" y="2766446"/>
                <a:ext cx="7438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/>
                  <a:t>out</a:t>
                </a:r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8116" y="2697027"/>
                <a:ext cx="1255594" cy="627797"/>
              </a:xfrm>
              <a:prstGeom prst="rect">
                <a:avLst/>
              </a:prstGeom>
            </p:spPr>
          </p:pic>
        </p:grpSp>
      </p:grpSp>
      <p:grpSp>
        <p:nvGrpSpPr>
          <p:cNvPr id="22" name="Group 21" descr="Image for the logical NOT function">
            <a:extLst>
              <a:ext uri="{FF2B5EF4-FFF2-40B4-BE49-F238E27FC236}">
                <a16:creationId xmlns:a16="http://schemas.microsoft.com/office/drawing/2014/main" id="{CB67A71A-6A7F-CD1E-1124-E599A67E89B4}"/>
              </a:ext>
            </a:extLst>
          </p:cNvPr>
          <p:cNvGrpSpPr/>
          <p:nvPr/>
        </p:nvGrpSpPr>
        <p:grpSpPr>
          <a:xfrm>
            <a:off x="1201710" y="4229207"/>
            <a:ext cx="1720465" cy="883286"/>
            <a:chOff x="1201710" y="4229207"/>
            <a:chExt cx="1720465" cy="883286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1836429" y="4229207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616788" y="4472703"/>
              <a:ext cx="1305387" cy="2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680035" y="4236031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1201710" y="428235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686388" y="473357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536818" y="474316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" name="Oval 84" descr="Image for the logical NOT function"/>
            <p:cNvSpPr/>
            <p:nvPr/>
          </p:nvSpPr>
          <p:spPr>
            <a:xfrm>
              <a:off x="2555130" y="4352772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2" name="Oval 91"/>
            <p:cNvSpPr/>
            <p:nvPr/>
          </p:nvSpPr>
          <p:spPr>
            <a:xfrm>
              <a:off x="1707025" y="4357030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3" name="Group 22" descr="Image for the logical NAND function">
            <a:extLst>
              <a:ext uri="{FF2B5EF4-FFF2-40B4-BE49-F238E27FC236}">
                <a16:creationId xmlns:a16="http://schemas.microsoft.com/office/drawing/2014/main" id="{0E43D7C4-8512-1442-E44C-8F0DECC27CE3}"/>
              </a:ext>
            </a:extLst>
          </p:cNvPr>
          <p:cNvGrpSpPr/>
          <p:nvPr/>
        </p:nvGrpSpPr>
        <p:grpSpPr>
          <a:xfrm>
            <a:off x="3327556" y="3859514"/>
            <a:ext cx="2153626" cy="1815171"/>
            <a:chOff x="3327556" y="3859514"/>
            <a:chExt cx="2153626" cy="1815171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4236323" y="3943369"/>
              <a:ext cx="1632" cy="11609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endCxn id="71" idx="0"/>
            </p:cNvCxnSpPr>
            <p:nvPr/>
          </p:nvCxnSpPr>
          <p:spPr>
            <a:xfrm>
              <a:off x="5092492" y="3859514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H="1">
              <a:off x="3946666" y="4866039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946666" y="4138875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477548" y="5305353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105614" y="510427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956044" y="511386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327556" y="4312701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635495" y="3965732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644874" y="465967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6" name="Oval 85"/>
            <p:cNvSpPr/>
            <p:nvPr/>
          </p:nvSpPr>
          <p:spPr>
            <a:xfrm>
              <a:off x="4093354" y="4016242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0" name="Oval 89"/>
            <p:cNvSpPr/>
            <p:nvPr/>
          </p:nvSpPr>
          <p:spPr>
            <a:xfrm>
              <a:off x="4968896" y="4751870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4976590" y="4031821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4090680" y="4735337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4" name="Group 23" descr="Image for the logical XOR function">
            <a:extLst>
              <a:ext uri="{FF2B5EF4-FFF2-40B4-BE49-F238E27FC236}">
                <a16:creationId xmlns:a16="http://schemas.microsoft.com/office/drawing/2014/main" id="{C1F38949-633D-0B69-B887-334667A24D3E}"/>
              </a:ext>
            </a:extLst>
          </p:cNvPr>
          <p:cNvGrpSpPr/>
          <p:nvPr/>
        </p:nvGrpSpPr>
        <p:grpSpPr>
          <a:xfrm>
            <a:off x="6157387" y="3925603"/>
            <a:ext cx="2153626" cy="1815171"/>
            <a:chOff x="6157387" y="3925603"/>
            <a:chExt cx="2153626" cy="1815171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7056160" y="3925603"/>
              <a:ext cx="6883" cy="12155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endCxn id="81" idx="0"/>
            </p:cNvCxnSpPr>
            <p:nvPr/>
          </p:nvCxnSpPr>
          <p:spPr>
            <a:xfrm>
              <a:off x="7922323" y="3925603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>
              <a:off x="6776497" y="4932128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6756078" y="4204964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/>
            <p:cNvSpPr/>
            <p:nvPr/>
          </p:nvSpPr>
          <p:spPr>
            <a:xfrm>
              <a:off x="7307379" y="5371442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935445" y="517036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785875" y="517995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57387" y="437879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65326" y="403182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474705" y="4725759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7" name="Oval 86"/>
            <p:cNvSpPr/>
            <p:nvPr/>
          </p:nvSpPr>
          <p:spPr>
            <a:xfrm>
              <a:off x="7805523" y="4081368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88" name="Oval 87"/>
            <p:cNvSpPr/>
            <p:nvPr/>
          </p:nvSpPr>
          <p:spPr>
            <a:xfrm>
              <a:off x="6939447" y="4068031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9" name="Oval 88"/>
            <p:cNvSpPr/>
            <p:nvPr/>
          </p:nvSpPr>
          <p:spPr>
            <a:xfrm>
              <a:off x="6948235" y="4811238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4" name="Oval 93"/>
            <p:cNvSpPr/>
            <p:nvPr/>
          </p:nvSpPr>
          <p:spPr>
            <a:xfrm>
              <a:off x="7798727" y="478682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D988A-5BDD-4262-BEBD-FBD10EEF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37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the not symbol superimposed over XO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445" y="1456853"/>
            <a:ext cx="1216811" cy="12168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0755"/>
            <a:ext cx="7886700" cy="694634"/>
          </a:xfrm>
        </p:spPr>
        <p:txBody>
          <a:bodyPr/>
          <a:lstStyle/>
          <a:p>
            <a:r>
              <a:rPr lang="en-US" dirty="0"/>
              <a:t>Linear separability </a:t>
            </a:r>
            <a:r>
              <a:rPr lang="en-US" sz="2000" dirty="0"/>
              <a:t>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0430" y="1799124"/>
            <a:ext cx="1112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779" y="1780243"/>
            <a:ext cx="1712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189" y="1780243"/>
            <a:ext cx="1112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38" y="4882388"/>
            <a:ext cx="7819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classes are said to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 separable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linear boundary (a hyperplane) between their members.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64659" y="433315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339210" y="433315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 descr="Image for logical NOT function including a point that separates the two classes">
            <a:extLst>
              <a:ext uri="{FF2B5EF4-FFF2-40B4-BE49-F238E27FC236}">
                <a16:creationId xmlns:a16="http://schemas.microsoft.com/office/drawing/2014/main" id="{68F09076-B96B-99F2-CD49-6FC2E1CF56C2}"/>
              </a:ext>
            </a:extLst>
          </p:cNvPr>
          <p:cNvGrpSpPr/>
          <p:nvPr/>
        </p:nvGrpSpPr>
        <p:grpSpPr>
          <a:xfrm>
            <a:off x="1478450" y="3257006"/>
            <a:ext cx="1305387" cy="883286"/>
            <a:chOff x="1478450" y="3257006"/>
            <a:chExt cx="1305387" cy="883286"/>
          </a:xfrm>
        </p:grpSpPr>
        <p:sp>
          <p:nvSpPr>
            <p:cNvPr id="4" name="Oval 3"/>
            <p:cNvSpPr/>
            <p:nvPr/>
          </p:nvSpPr>
          <p:spPr>
            <a:xfrm>
              <a:off x="2059016" y="3432161"/>
              <a:ext cx="137017" cy="12680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1698091" y="3257006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 flipV="1">
              <a:off x="1478450" y="3500502"/>
              <a:ext cx="1305387" cy="2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541697" y="3263830"/>
              <a:ext cx="0" cy="5186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1548050" y="376137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398480" y="377096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" name="Oval 86"/>
            <p:cNvSpPr/>
            <p:nvPr/>
          </p:nvSpPr>
          <p:spPr>
            <a:xfrm>
              <a:off x="2416792" y="3380571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4" name="Oval 93"/>
            <p:cNvSpPr/>
            <p:nvPr/>
          </p:nvSpPr>
          <p:spPr>
            <a:xfrm>
              <a:off x="1568687" y="338482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7" name="Group 6" descr="Image for logical NAND function including a line that separates the two classes">
            <a:extLst>
              <a:ext uri="{FF2B5EF4-FFF2-40B4-BE49-F238E27FC236}">
                <a16:creationId xmlns:a16="http://schemas.microsoft.com/office/drawing/2014/main" id="{F93E8B62-8415-6294-DEBC-A23C2F11519C}"/>
              </a:ext>
            </a:extLst>
          </p:cNvPr>
          <p:cNvGrpSpPr/>
          <p:nvPr/>
        </p:nvGrpSpPr>
        <p:grpSpPr>
          <a:xfrm>
            <a:off x="3189218" y="2867407"/>
            <a:ext cx="2235956" cy="1643585"/>
            <a:chOff x="3189218" y="2867407"/>
            <a:chExt cx="2235956" cy="1643585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4172567" y="2867407"/>
              <a:ext cx="1252607" cy="103355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097985" y="2971168"/>
              <a:ext cx="1632" cy="11609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endCxn id="73" idx="0"/>
            </p:cNvCxnSpPr>
            <p:nvPr/>
          </p:nvCxnSpPr>
          <p:spPr>
            <a:xfrm>
              <a:off x="4954154" y="2887313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H="1">
              <a:off x="3808328" y="3893838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808328" y="3166674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3967276" y="413207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817706" y="414166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189218" y="334050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497157" y="2993531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506536" y="3687469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8" name="Oval 87"/>
            <p:cNvSpPr/>
            <p:nvPr/>
          </p:nvSpPr>
          <p:spPr>
            <a:xfrm>
              <a:off x="3955016" y="3044041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2" name="Oval 91"/>
            <p:cNvSpPr/>
            <p:nvPr/>
          </p:nvSpPr>
          <p:spPr>
            <a:xfrm>
              <a:off x="4830558" y="377966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4838252" y="3059620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5" name="Oval 94"/>
            <p:cNvSpPr/>
            <p:nvPr/>
          </p:nvSpPr>
          <p:spPr>
            <a:xfrm>
              <a:off x="3952342" y="376313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8" name="Group 7" descr="Image for logical XOR function including a ? indicating that neither a point not a line can separate the two classes.">
            <a:extLst>
              <a:ext uri="{FF2B5EF4-FFF2-40B4-BE49-F238E27FC236}">
                <a16:creationId xmlns:a16="http://schemas.microsoft.com/office/drawing/2014/main" id="{23E56E9E-8A8F-5F2C-6E0F-C80B38CCB7A1}"/>
              </a:ext>
            </a:extLst>
          </p:cNvPr>
          <p:cNvGrpSpPr/>
          <p:nvPr/>
        </p:nvGrpSpPr>
        <p:grpSpPr>
          <a:xfrm>
            <a:off x="6019049" y="2953402"/>
            <a:ext cx="2153626" cy="1815171"/>
            <a:chOff x="6019049" y="2953402"/>
            <a:chExt cx="2153626" cy="1815171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6917822" y="2953402"/>
              <a:ext cx="6883" cy="12155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endCxn id="83" idx="0"/>
            </p:cNvCxnSpPr>
            <p:nvPr/>
          </p:nvCxnSpPr>
          <p:spPr>
            <a:xfrm>
              <a:off x="7783985" y="2953402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H="1">
              <a:off x="6638159" y="3959927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617740" y="3232763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/>
            <p:cNvSpPr/>
            <p:nvPr/>
          </p:nvSpPr>
          <p:spPr>
            <a:xfrm>
              <a:off x="7169041" y="4399241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797107" y="419816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47537" y="4207749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019049" y="340658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326988" y="3059620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336367" y="375355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9" name="Oval 88"/>
            <p:cNvSpPr/>
            <p:nvPr/>
          </p:nvSpPr>
          <p:spPr>
            <a:xfrm>
              <a:off x="7673982" y="3109167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0" name="Oval 89"/>
            <p:cNvSpPr/>
            <p:nvPr/>
          </p:nvSpPr>
          <p:spPr>
            <a:xfrm>
              <a:off x="6811413" y="312735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6811413" y="3822446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96" name="Oval 95"/>
            <p:cNvSpPr/>
            <p:nvPr/>
          </p:nvSpPr>
          <p:spPr>
            <a:xfrm>
              <a:off x="7673982" y="382244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176188" y="3374548"/>
              <a:ext cx="325730" cy="523220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1B30-CF30-42DE-A073-F67DA4CBE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89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6678"/>
            <a:ext cx="7886700" cy="509944"/>
          </a:xfrm>
        </p:spPr>
        <p:txBody>
          <a:bodyPr>
            <a:normAutofit fontScale="90000"/>
          </a:bodyPr>
          <a:lstStyle/>
          <a:p>
            <a:r>
              <a:rPr lang="en-US" dirty="0"/>
              <a:t>Back to NAND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1B30-CF30-42DE-A073-F67DA4CBE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8" name="Object 7" descr="MATHML object">
            <a:extLst>
              <a:ext uri="{FF2B5EF4-FFF2-40B4-BE49-F238E27FC236}">
                <a16:creationId xmlns:a16="http://schemas.microsoft.com/office/drawing/2014/main" id="{897C6A1D-1B40-0B71-9F2A-7606335FA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610541"/>
              </p:ext>
            </p:extLst>
          </p:nvPr>
        </p:nvGraphicFramePr>
        <p:xfrm>
          <a:off x="6257925" y="2482850"/>
          <a:ext cx="2457450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1346040" progId="Equation.DSMT4">
                  <p:embed/>
                </p:oleObj>
              </mc:Choice>
              <mc:Fallback>
                <p:oleObj name="Equation" r:id="rId3" imgW="15364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57925" y="2482850"/>
                        <a:ext cx="2457450" cy="214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Plot showing the contours defined by a W vector.">
            <a:extLst>
              <a:ext uri="{FF2B5EF4-FFF2-40B4-BE49-F238E27FC236}">
                <a16:creationId xmlns:a16="http://schemas.microsoft.com/office/drawing/2014/main" id="{3049A1E6-336F-AC36-AFD6-798FAD625D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1" y="1132760"/>
            <a:ext cx="4691601" cy="45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29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6678"/>
            <a:ext cx="7886700" cy="509944"/>
          </a:xfrm>
        </p:spPr>
        <p:txBody>
          <a:bodyPr>
            <a:normAutofit fontScale="90000"/>
          </a:bodyPr>
          <a:lstStyle/>
          <a:p>
            <a:r>
              <a:rPr lang="en-US" dirty="0"/>
              <a:t>NAND decision boundary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1B30-CF30-42DE-A073-F67DA4CBE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8" name="Object 7" descr="MATHML object">
            <a:extLst>
              <a:ext uri="{FF2B5EF4-FFF2-40B4-BE49-F238E27FC236}">
                <a16:creationId xmlns:a16="http://schemas.microsoft.com/office/drawing/2014/main" id="{897C6A1D-1B40-0B71-9F2A-7606335FA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146437"/>
              </p:ext>
            </p:extLst>
          </p:nvPr>
        </p:nvGraphicFramePr>
        <p:xfrm>
          <a:off x="6057900" y="2482542"/>
          <a:ext cx="2457450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1346040" progId="Equation.DSMT4">
                  <p:embed/>
                </p:oleObj>
              </mc:Choice>
              <mc:Fallback>
                <p:oleObj name="Equation" r:id="rId3" imgW="1536480" imgH="1346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97C6A1D-1B40-0B71-9F2A-7606335FA7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57900" y="2482542"/>
                        <a:ext cx="2457450" cy="214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Plot showing the contours defined by a W vector and the decision boundary implied by W">
            <a:extLst>
              <a:ext uri="{FF2B5EF4-FFF2-40B4-BE49-F238E27FC236}">
                <a16:creationId xmlns:a16="http://schemas.microsoft.com/office/drawing/2014/main" id="{9C2079EB-C610-A3B1-8C82-3D557307D0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72" y="1120259"/>
            <a:ext cx="4761304" cy="46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55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6678"/>
            <a:ext cx="7886700" cy="509944"/>
          </a:xfrm>
        </p:spPr>
        <p:txBody>
          <a:bodyPr>
            <a:normAutofit fontScale="90000"/>
          </a:bodyPr>
          <a:lstStyle/>
          <a:p>
            <a:r>
              <a:rPr lang="en-US" dirty="0"/>
              <a:t>NAND classification regions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1B30-CF30-42DE-A073-F67DA4CBE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8" name="Object 7" descr="MATHML object">
            <a:extLst>
              <a:ext uri="{FF2B5EF4-FFF2-40B4-BE49-F238E27FC236}">
                <a16:creationId xmlns:a16="http://schemas.microsoft.com/office/drawing/2014/main" id="{897C6A1D-1B40-0B71-9F2A-7606335FA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853234"/>
              </p:ext>
            </p:extLst>
          </p:nvPr>
        </p:nvGraphicFramePr>
        <p:xfrm>
          <a:off x="5871981" y="2482541"/>
          <a:ext cx="2457450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1346040" progId="Equation.DSMT4">
                  <p:embed/>
                </p:oleObj>
              </mc:Choice>
              <mc:Fallback>
                <p:oleObj name="Equation" r:id="rId3" imgW="1536480" imgH="1346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97C6A1D-1B40-0B71-9F2A-7606335FA7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1981" y="2482541"/>
                        <a:ext cx="2457450" cy="214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Plot showing the contours defined by a W vector and the decision boundary implied by W">
            <a:extLst>
              <a:ext uri="{FF2B5EF4-FFF2-40B4-BE49-F238E27FC236}">
                <a16:creationId xmlns:a16="http://schemas.microsoft.com/office/drawing/2014/main" id="{2B494E4C-BDAC-7213-3172-31BC9CFC49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3" y="1184053"/>
            <a:ext cx="4892656" cy="474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78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6678"/>
            <a:ext cx="7886700" cy="509944"/>
          </a:xfrm>
        </p:spPr>
        <p:txBody>
          <a:bodyPr>
            <a:normAutofit fontScale="90000"/>
          </a:bodyPr>
          <a:lstStyle/>
          <a:p>
            <a:r>
              <a:rPr lang="en-US" dirty="0"/>
              <a:t>NAND classifications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1B30-CF30-42DE-A073-F67DA4CBE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8" name="Object 7" descr="MATHML object">
            <a:extLst>
              <a:ext uri="{FF2B5EF4-FFF2-40B4-BE49-F238E27FC236}">
                <a16:creationId xmlns:a16="http://schemas.microsoft.com/office/drawing/2014/main" id="{897C6A1D-1B40-0B71-9F2A-7606335FA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22012"/>
              </p:ext>
            </p:extLst>
          </p:nvPr>
        </p:nvGraphicFramePr>
        <p:xfrm>
          <a:off x="5871981" y="2482541"/>
          <a:ext cx="2457450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1346040" progId="Equation.DSMT4">
                  <p:embed/>
                </p:oleObj>
              </mc:Choice>
              <mc:Fallback>
                <p:oleObj name="Equation" r:id="rId3" imgW="1536480" imgH="1346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97C6A1D-1B40-0B71-9F2A-7606335FA7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1981" y="2482541"/>
                        <a:ext cx="2457450" cy="214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Plot showing the contours defined by a W vector and the decision boundary implied by W">
            <a:extLst>
              <a:ext uri="{FF2B5EF4-FFF2-40B4-BE49-F238E27FC236}">
                <a16:creationId xmlns:a16="http://schemas.microsoft.com/office/drawing/2014/main" id="{B8F108F8-D617-3FE7-F8B9-147C78698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73" y="1236497"/>
            <a:ext cx="4784502" cy="463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00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74959"/>
            <a:ext cx="7886700" cy="591886"/>
          </a:xfrm>
        </p:spPr>
        <p:txBody>
          <a:bodyPr/>
          <a:lstStyle/>
          <a:p>
            <a:r>
              <a:rPr lang="en-US" dirty="0"/>
              <a:t>Linear separability </a:t>
            </a:r>
            <a:r>
              <a:rPr lang="en-US" sz="2000" dirty="0"/>
              <a:t>(2)</a:t>
            </a:r>
          </a:p>
        </p:txBody>
      </p:sp>
      <p:graphicFrame>
        <p:nvGraphicFramePr>
          <p:cNvPr id="5" name="Object 4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412499"/>
              </p:ext>
            </p:extLst>
          </p:nvPr>
        </p:nvGraphicFramePr>
        <p:xfrm>
          <a:off x="628650" y="1479801"/>
          <a:ext cx="7964487" cy="442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27320" imgH="2730240" progId="Equation.DSMT4">
                  <p:embed/>
                </p:oleObj>
              </mc:Choice>
              <mc:Fallback>
                <p:oleObj name="Equation" r:id="rId3" imgW="4927320" imgH="273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479801"/>
                        <a:ext cx="7964487" cy="4421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CC3268-95A5-4E58-8CD3-35BCB352F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42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9764"/>
          </a:xfrm>
        </p:spPr>
        <p:txBody>
          <a:bodyPr/>
          <a:lstStyle/>
          <a:p>
            <a:r>
              <a:rPr lang="en-US" dirty="0"/>
              <a:t>Perceptron </a:t>
            </a:r>
            <a:r>
              <a:rPr lang="en-US" sz="2000" dirty="0"/>
              <a:t>(4)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4329259"/>
            <a:ext cx="7769916" cy="12197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How the input signals are accumulated</a:t>
            </a:r>
          </a:p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How the output is determined</a:t>
            </a:r>
          </a:p>
          <a:p>
            <a:pPr marL="142860" indent="-257168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</a:rPr>
              <a:t>An algorithm for training</a:t>
            </a:r>
          </a:p>
          <a:p>
            <a:endParaRPr lang="en-US" dirty="0"/>
          </a:p>
          <a:p>
            <a:pPr marL="257168" indent="-257168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5" name="Group 4" descr="Image of a perceptron">
            <a:extLst>
              <a:ext uri="{FF2B5EF4-FFF2-40B4-BE49-F238E27FC236}">
                <a16:creationId xmlns:a16="http://schemas.microsoft.com/office/drawing/2014/main" id="{D3F16002-7E19-2753-3071-83DAB665FDE2}"/>
              </a:ext>
            </a:extLst>
          </p:cNvPr>
          <p:cNvGrpSpPr/>
          <p:nvPr/>
        </p:nvGrpSpPr>
        <p:grpSpPr>
          <a:xfrm>
            <a:off x="2502523" y="1791100"/>
            <a:ext cx="5896043" cy="2160269"/>
            <a:chOff x="2502523" y="1791100"/>
            <a:chExt cx="5896043" cy="2160269"/>
          </a:xfrm>
        </p:grpSpPr>
        <p:sp>
          <p:nvSpPr>
            <p:cNvPr id="6" name="Rectangle 5"/>
            <p:cNvSpPr/>
            <p:nvPr/>
          </p:nvSpPr>
          <p:spPr>
            <a:xfrm>
              <a:off x="4617224" y="1791100"/>
              <a:ext cx="2241274" cy="216026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858497" y="2871233"/>
              <a:ext cx="5314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502523" y="2666404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12394" y="210558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721840"/>
                </p:ext>
              </p:extLst>
            </p:nvPr>
          </p:nvGraphicFramePr>
          <p:xfrm>
            <a:off x="3586163" y="2105025"/>
            <a:ext cx="28892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28600" progId="Equation.DSMT4">
                    <p:embed/>
                  </p:oleObj>
                </mc:Choice>
                <mc:Fallback>
                  <p:oleObj name="Equation" r:id="rId3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86163" y="2105025"/>
                          <a:ext cx="28892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2527755"/>
                </p:ext>
              </p:extLst>
            </p:nvPr>
          </p:nvGraphicFramePr>
          <p:xfrm>
            <a:off x="3563588" y="3213026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63588" y="3213026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7141611"/>
                </p:ext>
              </p:extLst>
            </p:nvPr>
          </p:nvGraphicFramePr>
          <p:xfrm>
            <a:off x="3597275" y="2525713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280" imgH="228600" progId="Equation.DSMT4">
                    <p:embed/>
                  </p:oleObj>
                </mc:Choice>
                <mc:Fallback>
                  <p:oleObj name="Equation" r:id="rId7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97275" y="2525713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512393" y="326044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512394" y="255953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645717" y="2857179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</p:cNvCxnSpPr>
            <p:nvPr/>
          </p:nvCxnSpPr>
          <p:spPr>
            <a:xfrm flipV="1">
              <a:off x="3948156" y="2305448"/>
              <a:ext cx="669068" cy="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3959467" y="2745754"/>
              <a:ext cx="669068" cy="94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3948154" y="3460385"/>
              <a:ext cx="669068" cy="94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4"/>
            <p:cNvSpPr txBox="1">
              <a:spLocks/>
            </p:cNvSpPr>
            <p:nvPr/>
          </p:nvSpPr>
          <p:spPr>
            <a:xfrm>
              <a:off x="7243712" y="2572098"/>
              <a:ext cx="1154854" cy="582005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1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Binary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lang="en-US" sz="1800" dirty="0"/>
                <a:t>Output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52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74959"/>
            <a:ext cx="7886700" cy="696758"/>
          </a:xfrm>
        </p:spPr>
        <p:txBody>
          <a:bodyPr/>
          <a:lstStyle/>
          <a:p>
            <a:r>
              <a:rPr lang="en-US" dirty="0"/>
              <a:t>Training a supervised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Supervised learning </a:t>
            </a:r>
            <a:r>
              <a:rPr lang="en-US" dirty="0"/>
              <a:t>is the machine learning task of inferring a function from </a:t>
            </a:r>
            <a:r>
              <a:rPr lang="en-US" b="1" dirty="0"/>
              <a:t>labeled training data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The </a:t>
            </a:r>
            <a:r>
              <a:rPr lang="en-US" b="1" dirty="0"/>
              <a:t>training data </a:t>
            </a:r>
            <a:r>
              <a:rPr lang="en-US" dirty="0"/>
              <a:t>consist of a set of </a:t>
            </a:r>
            <a:r>
              <a:rPr lang="en-US" b="1" dirty="0"/>
              <a:t>training examples</a:t>
            </a:r>
            <a:r>
              <a:rPr lang="en-US" dirty="0"/>
              <a:t>. In supervised learning, each example is a </a:t>
            </a:r>
            <a:r>
              <a:rPr lang="en-US" i="1" dirty="0"/>
              <a:t>pair</a:t>
            </a:r>
            <a:r>
              <a:rPr lang="en-US" dirty="0"/>
              <a:t> consisting of an input object (typically a vector) and a desired output value (also called the </a:t>
            </a:r>
            <a:r>
              <a:rPr lang="en-US" b="1" dirty="0"/>
              <a:t>supervisory signal</a:t>
            </a:r>
            <a:r>
              <a:rPr lang="en-US" dirty="0"/>
              <a:t>). </a:t>
            </a:r>
          </a:p>
          <a:p>
            <a:pPr>
              <a:lnSpc>
                <a:spcPct val="120000"/>
              </a:lnSpc>
            </a:pPr>
            <a:r>
              <a:rPr lang="en-US" dirty="0"/>
              <a:t>A supervised learning algorithm analyzes the training data and produces an inferred function, which can be used for mapping new examples.</a:t>
            </a:r>
          </a:p>
          <a:p>
            <a:pPr>
              <a:lnSpc>
                <a:spcPct val="120000"/>
              </a:lnSpc>
            </a:pPr>
            <a:r>
              <a:rPr lang="en-US" dirty="0"/>
              <a:t> An optimal scenario will allow for the algorithm to correctly determine the class labels for unseen instances.  (ref: Wikipedia).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1B666-5F01-4C72-ADE2-6E781F030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77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5519"/>
          </a:xfrm>
        </p:spPr>
        <p:txBody>
          <a:bodyPr>
            <a:normAutofit/>
          </a:bodyPr>
          <a:lstStyle/>
          <a:p>
            <a:r>
              <a:rPr lang="en-US" dirty="0"/>
              <a:t>Training a Perceptron</a:t>
            </a:r>
          </a:p>
        </p:txBody>
      </p:sp>
      <p:graphicFrame>
        <p:nvGraphicFramePr>
          <p:cNvPr id="70" name="Object 69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61548"/>
              </p:ext>
            </p:extLst>
          </p:nvPr>
        </p:nvGraphicFramePr>
        <p:xfrm>
          <a:off x="466235" y="4365949"/>
          <a:ext cx="2906390" cy="1776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1117440" progId="Equation.DSMT4">
                  <p:embed/>
                </p:oleObj>
              </mc:Choice>
              <mc:Fallback>
                <p:oleObj name="Equation" r:id="rId3" imgW="182880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235" y="4365949"/>
                        <a:ext cx="2906390" cy="1776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 descr="Image depicting the training of a perceptron.">
            <a:extLst>
              <a:ext uri="{FF2B5EF4-FFF2-40B4-BE49-F238E27FC236}">
                <a16:creationId xmlns:a16="http://schemas.microsoft.com/office/drawing/2014/main" id="{094AC153-2595-8FCB-F2A8-6EE546EAA57A}"/>
              </a:ext>
            </a:extLst>
          </p:cNvPr>
          <p:cNvGrpSpPr/>
          <p:nvPr/>
        </p:nvGrpSpPr>
        <p:grpSpPr>
          <a:xfrm>
            <a:off x="2377877" y="1617260"/>
            <a:ext cx="5833766" cy="3863190"/>
            <a:chOff x="2377877" y="1617260"/>
            <a:chExt cx="5833766" cy="3863190"/>
          </a:xfrm>
        </p:grpSpPr>
        <p:cxnSp>
          <p:nvCxnSpPr>
            <p:cNvPr id="76" name="Straight Arrow Connector 75"/>
            <p:cNvCxnSpPr/>
            <p:nvPr/>
          </p:nvCxnSpPr>
          <p:spPr>
            <a:xfrm>
              <a:off x="5064152" y="3340442"/>
              <a:ext cx="1" cy="632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5058324" y="2885159"/>
              <a:ext cx="1" cy="6329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36" idx="4"/>
            </p:cNvCxnSpPr>
            <p:nvPr/>
          </p:nvCxnSpPr>
          <p:spPr>
            <a:xfrm>
              <a:off x="5070889" y="3794671"/>
              <a:ext cx="1649" cy="29654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4568509" y="1617260"/>
              <a:ext cx="2756030" cy="316935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617492" y="3476404"/>
              <a:ext cx="1259781" cy="10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ontent Placeholder 4"/>
            <p:cNvSpPr txBox="1">
              <a:spLocks/>
            </p:cNvSpPr>
            <p:nvPr/>
          </p:nvSpPr>
          <p:spPr>
            <a:xfrm>
              <a:off x="2377877" y="3164359"/>
              <a:ext cx="1021328" cy="409659"/>
            </a:xfrm>
            <a:prstGeom prst="rect">
              <a:avLst/>
            </a:prstGeom>
          </p:spPr>
          <p:txBody>
            <a:bodyPr vert="horz" lIns="68580" tIns="34290" rIns="68580" bIns="34290" rtlCol="0" anchor="ctr" anchorCtr="1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63679" y="294083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432768"/>
                </p:ext>
              </p:extLst>
            </p:nvPr>
          </p:nvGraphicFramePr>
          <p:xfrm>
            <a:off x="3548209" y="2940672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48209" y="2940672"/>
                          <a:ext cx="2667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8276474"/>
                </p:ext>
              </p:extLst>
            </p:nvPr>
          </p:nvGraphicFramePr>
          <p:xfrm>
            <a:off x="3514873" y="4048274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14873" y="4048274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7324786"/>
                </p:ext>
              </p:extLst>
            </p:nvPr>
          </p:nvGraphicFramePr>
          <p:xfrm>
            <a:off x="3536898" y="3361201"/>
            <a:ext cx="28932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36898" y="3361201"/>
                          <a:ext cx="28932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18"/>
            <p:cNvSpPr/>
            <p:nvPr/>
          </p:nvSpPr>
          <p:spPr>
            <a:xfrm>
              <a:off x="3463678" y="40956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3463679" y="339478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3597002" y="3692426"/>
              <a:ext cx="30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…</a:t>
              </a:r>
            </a:p>
          </p:txBody>
        </p:sp>
        <p:cxnSp>
          <p:nvCxnSpPr>
            <p:cNvPr id="22" name="Straight Arrow Connector 21"/>
            <p:cNvCxnSpPr>
              <a:stCxn id="10" idx="6"/>
              <a:endCxn id="31" idx="2"/>
            </p:cNvCxnSpPr>
            <p:nvPr/>
          </p:nvCxnSpPr>
          <p:spPr>
            <a:xfrm>
              <a:off x="3899440" y="3140778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4853007" y="2940834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8144651"/>
                </p:ext>
              </p:extLst>
            </p:nvPr>
          </p:nvGraphicFramePr>
          <p:xfrm>
            <a:off x="4916120" y="2940672"/>
            <a:ext cx="31075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480" imgH="228600" progId="Equation.DSMT4">
                    <p:embed/>
                  </p:oleObj>
                </mc:Choice>
                <mc:Fallback>
                  <p:oleObj name="Equation" r:id="rId11" imgW="177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16120" y="2940672"/>
                          <a:ext cx="31075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094338"/>
                </p:ext>
              </p:extLst>
            </p:nvPr>
          </p:nvGraphicFramePr>
          <p:xfrm>
            <a:off x="4882781" y="4047953"/>
            <a:ext cx="37742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82781" y="4047953"/>
                          <a:ext cx="37742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2720800"/>
                </p:ext>
              </p:extLst>
            </p:nvPr>
          </p:nvGraphicFramePr>
          <p:xfrm>
            <a:off x="4904212" y="3360963"/>
            <a:ext cx="3333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04212" y="3360963"/>
                          <a:ext cx="3333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34"/>
            <p:cNvSpPr/>
            <p:nvPr/>
          </p:nvSpPr>
          <p:spPr>
            <a:xfrm>
              <a:off x="4853006" y="4095689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4853007" y="3394783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510764" y="3276460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899440" y="3589012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3899440" y="4295633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37" idx="0"/>
            </p:cNvCxnSpPr>
            <p:nvPr/>
          </p:nvCxnSpPr>
          <p:spPr>
            <a:xfrm>
              <a:off x="5273467" y="2694938"/>
              <a:ext cx="455179" cy="5815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35" idx="7"/>
            </p:cNvCxnSpPr>
            <p:nvPr/>
          </p:nvCxnSpPr>
          <p:spPr>
            <a:xfrm flipH="1">
              <a:off x="5224953" y="3633643"/>
              <a:ext cx="392066" cy="520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1" idx="6"/>
              <a:endCxn id="37" idx="1"/>
            </p:cNvCxnSpPr>
            <p:nvPr/>
          </p:nvCxnSpPr>
          <p:spPr>
            <a:xfrm>
              <a:off x="5288770" y="3140778"/>
              <a:ext cx="285810" cy="1942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6256795"/>
                </p:ext>
              </p:extLst>
            </p:nvPr>
          </p:nvGraphicFramePr>
          <p:xfrm>
            <a:off x="5624473" y="3346043"/>
            <a:ext cx="267653" cy="23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91960" imgH="253800" progId="Equation.DSMT4">
                    <p:embed/>
                  </p:oleObj>
                </mc:Choice>
                <mc:Fallback>
                  <p:oleObj name="Equation" r:id="rId17" imgW="291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24473" y="3346043"/>
                          <a:ext cx="267653" cy="23274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9"/>
            <p:cNvSpPr/>
            <p:nvPr/>
          </p:nvSpPr>
          <p:spPr>
            <a:xfrm>
              <a:off x="6181729" y="3281345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52" name="Straight Arrow Connector 51"/>
            <p:cNvCxnSpPr>
              <a:endCxn id="50" idx="2"/>
            </p:cNvCxnSpPr>
            <p:nvPr/>
          </p:nvCxnSpPr>
          <p:spPr>
            <a:xfrm>
              <a:off x="5946527" y="3481289"/>
              <a:ext cx="2352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9973298"/>
                </p:ext>
              </p:extLst>
            </p:nvPr>
          </p:nvGraphicFramePr>
          <p:xfrm>
            <a:off x="6284844" y="3311603"/>
            <a:ext cx="212109" cy="339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203040" progId="Equation.DSMT4">
                    <p:embed/>
                  </p:oleObj>
                </mc:Choice>
                <mc:Fallback>
                  <p:oleObj name="Equation" r:id="rId19" imgW="1267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284844" y="3311603"/>
                          <a:ext cx="212109" cy="339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42"/>
            <p:cNvSpPr/>
            <p:nvPr/>
          </p:nvSpPr>
          <p:spPr>
            <a:xfrm>
              <a:off x="3449688" y="24858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7760643"/>
                </p:ext>
              </p:extLst>
            </p:nvPr>
          </p:nvGraphicFramePr>
          <p:xfrm>
            <a:off x="3589886" y="2541001"/>
            <a:ext cx="155575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88560" imgH="164880" progId="Equation.DSMT4">
                    <p:embed/>
                  </p:oleObj>
                </mc:Choice>
                <mc:Fallback>
                  <p:oleObj name="Equation" r:id="rId21" imgW="88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589886" y="2541001"/>
                          <a:ext cx="155575" cy="288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" name="Straight Arrow Connector 45"/>
            <p:cNvCxnSpPr>
              <a:stCxn id="43" idx="6"/>
              <a:endCxn id="47" idx="2"/>
            </p:cNvCxnSpPr>
            <p:nvPr/>
          </p:nvCxnSpPr>
          <p:spPr>
            <a:xfrm>
              <a:off x="3885449" y="2685815"/>
              <a:ext cx="953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4839016" y="2485871"/>
              <a:ext cx="435763" cy="399888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2263717"/>
                </p:ext>
              </p:extLst>
            </p:nvPr>
          </p:nvGraphicFramePr>
          <p:xfrm>
            <a:off x="4893224" y="2485439"/>
            <a:ext cx="33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893224" y="2485439"/>
                          <a:ext cx="3302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1" name="Straight Arrow Connector 50"/>
            <p:cNvCxnSpPr>
              <a:endCxn id="37" idx="2"/>
            </p:cNvCxnSpPr>
            <p:nvPr/>
          </p:nvCxnSpPr>
          <p:spPr>
            <a:xfrm flipV="1">
              <a:off x="5291644" y="3476404"/>
              <a:ext cx="219120" cy="1102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6869798" y="2132673"/>
              <a:ext cx="3231" cy="13697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6617492" y="2132673"/>
              <a:ext cx="25553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995040" y="1908665"/>
              <a:ext cx="622453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>
                  <a:solidFill>
                    <a:srgbClr val="FF0000"/>
                  </a:solidFill>
                </a:rPr>
                <a:t>Δ</a:t>
              </a:r>
              <a:r>
                <a:rPr lang="en-US" sz="2400" b="1" i="1" dirty="0">
                  <a:solidFill>
                    <a:srgbClr val="FF0000"/>
                  </a:solidFill>
                </a:rPr>
                <a:t>w</a:t>
              </a:r>
            </a:p>
          </p:txBody>
        </p:sp>
        <p:cxnSp>
          <p:nvCxnSpPr>
            <p:cNvPr id="57" name="Straight Arrow Connector 56"/>
            <p:cNvCxnSpPr>
              <a:endCxn id="23" idx="1"/>
            </p:cNvCxnSpPr>
            <p:nvPr/>
          </p:nvCxnSpPr>
          <p:spPr>
            <a:xfrm>
              <a:off x="5070887" y="2132673"/>
              <a:ext cx="924153" cy="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47" idx="0"/>
            </p:cNvCxnSpPr>
            <p:nvPr/>
          </p:nvCxnSpPr>
          <p:spPr>
            <a:xfrm flipH="1">
              <a:off x="5056898" y="2114654"/>
              <a:ext cx="880" cy="37121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5288769" y="5018785"/>
              <a:ext cx="637877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b="1" dirty="0">
                  <a:solidFill>
                    <a:srgbClr val="FF0000"/>
                  </a:solidFill>
                </a:rPr>
                <a:t>Δ</a:t>
              </a:r>
              <a:r>
                <a:rPr lang="en-US" sz="2400" b="1" i="1" dirty="0">
                  <a:solidFill>
                    <a:srgbClr val="FF0000"/>
                  </a:solidFill>
                </a:rPr>
                <a:t>w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936421" y="5074324"/>
              <a:ext cx="2275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= </a:t>
              </a:r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adjustments</a:t>
              </a:r>
              <a:r>
                <a:rPr lang="en-US" b="1" dirty="0">
                  <a:solidFill>
                    <a:srgbClr val="FF0000"/>
                  </a:solidFill>
                </a:rPr>
                <a:t> to </a:t>
              </a:r>
              <a:r>
                <a:rPr lang="en-US" i="1" dirty="0">
                  <a:solidFill>
                    <a:srgbClr val="FF0000"/>
                  </a:solidFill>
                </a:rPr>
                <a:t>w</a:t>
              </a:r>
            </a:p>
          </p:txBody>
        </p:sp>
      </p:grpSp>
      <p:graphicFrame>
        <p:nvGraphicFramePr>
          <p:cNvPr id="75" name="Object 74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246262"/>
              </p:ext>
            </p:extLst>
          </p:nvPr>
        </p:nvGraphicFramePr>
        <p:xfrm>
          <a:off x="8014601" y="3283284"/>
          <a:ext cx="273900" cy="39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680" imgH="203040" progId="Equation.DSMT4">
                  <p:embed/>
                </p:oleObj>
              </mc:Choice>
              <mc:Fallback>
                <p:oleObj name="Equation" r:id="rId25" imgW="139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014601" y="3283284"/>
                        <a:ext cx="273900" cy="39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22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77093"/>
          </a:xfrm>
        </p:spPr>
        <p:txBody>
          <a:bodyPr/>
          <a:lstStyle/>
          <a:p>
            <a:r>
              <a:rPr lang="en-US" dirty="0"/>
              <a:t>Perceptron training data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32249"/>
              </p:ext>
            </p:extLst>
          </p:nvPr>
        </p:nvGraphicFramePr>
        <p:xfrm>
          <a:off x="628650" y="1591774"/>
          <a:ext cx="7318375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00320" imgH="825480" progId="Equation.DSMT4">
                  <p:embed/>
                </p:oleObj>
              </mc:Choice>
              <mc:Fallback>
                <p:oleObj name="Equation" r:id="rId3" imgW="4000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591774"/>
                        <a:ext cx="7318375" cy="150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3B86-0B3A-44B5-829B-0A9FFA15B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44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92575"/>
          </a:xfrm>
        </p:spPr>
        <p:txBody>
          <a:bodyPr>
            <a:normAutofit/>
          </a:bodyPr>
          <a:lstStyle/>
          <a:p>
            <a:r>
              <a:rPr lang="en-US" dirty="0"/>
              <a:t>Rosenblatt Perceptron training algorithm </a:t>
            </a:r>
            <a:r>
              <a:rPr lang="en-US" sz="2200" dirty="0"/>
              <a:t>(1)</a:t>
            </a:r>
          </a:p>
        </p:txBody>
      </p:sp>
      <p:graphicFrame>
        <p:nvGraphicFramePr>
          <p:cNvPr id="4" name="Object 3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988497"/>
              </p:ext>
            </p:extLst>
          </p:nvPr>
        </p:nvGraphicFramePr>
        <p:xfrm>
          <a:off x="628651" y="1308712"/>
          <a:ext cx="8163658" cy="393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09800" imgH="2222280" progId="Equation.DSMT4">
                  <p:embed/>
                </p:oleObj>
              </mc:Choice>
              <mc:Fallback>
                <p:oleObj name="Equation" r:id="rId3" imgW="4609800" imgH="222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1" y="1308712"/>
                        <a:ext cx="8163658" cy="393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29E2C-01AD-4744-83B0-6B92E3EAF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12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4009"/>
          </a:xfrm>
        </p:spPr>
        <p:txBody>
          <a:bodyPr>
            <a:normAutofit/>
          </a:bodyPr>
          <a:lstStyle/>
          <a:p>
            <a:r>
              <a:rPr lang="en-US" dirty="0"/>
              <a:t>Rosenblatt Perceptron training algorithm </a:t>
            </a:r>
            <a:r>
              <a:rPr lang="en-US" sz="2200" dirty="0"/>
              <a:t>(2)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C863495-84B7-47D2-AE74-C2EF35F7F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12" name="Object 11" descr="MATHML object">
            <a:extLst>
              <a:ext uri="{FF2B5EF4-FFF2-40B4-BE49-F238E27FC236}">
                <a16:creationId xmlns:a16="http://schemas.microsoft.com/office/drawing/2014/main" id="{B0736F74-D7B9-5114-56ED-A1C4B18275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188583"/>
              </p:ext>
            </p:extLst>
          </p:nvPr>
        </p:nvGraphicFramePr>
        <p:xfrm>
          <a:off x="628650" y="1370574"/>
          <a:ext cx="7653704" cy="4572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6000" imgH="2603160" progId="Equation.DSMT4">
                  <p:embed/>
                </p:oleObj>
              </mc:Choice>
              <mc:Fallback>
                <p:oleObj name="Equation" r:id="rId3" imgW="4356000" imgH="260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370574"/>
                        <a:ext cx="7653704" cy="4572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410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4009"/>
          </a:xfrm>
        </p:spPr>
        <p:txBody>
          <a:bodyPr/>
          <a:lstStyle/>
          <a:p>
            <a:r>
              <a:rPr lang="en-US" dirty="0"/>
              <a:t>Implicit cost function (aka loss function)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4F5ED-E52E-444E-AC12-DEB3E3ACA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13" name="Object 12" descr="MATHML object">
            <a:extLst>
              <a:ext uri="{FF2B5EF4-FFF2-40B4-BE49-F238E27FC236}">
                <a16:creationId xmlns:a16="http://schemas.microsoft.com/office/drawing/2014/main" id="{F06F9FFE-ACA5-911A-8EB0-A63886AC8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326807"/>
              </p:ext>
            </p:extLst>
          </p:nvPr>
        </p:nvGraphicFramePr>
        <p:xfrm>
          <a:off x="628651" y="1346200"/>
          <a:ext cx="7284426" cy="3813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2108160" progId="Equation.DSMT4">
                  <p:embed/>
                </p:oleObj>
              </mc:Choice>
              <mc:Fallback>
                <p:oleObj name="Equation" r:id="rId3" imgW="4025880" imgH="2108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1" y="1346200"/>
                        <a:ext cx="7284426" cy="3813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580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80980" cy="721996"/>
          </a:xfrm>
        </p:spPr>
        <p:txBody>
          <a:bodyPr/>
          <a:lstStyle/>
          <a:p>
            <a:r>
              <a:rPr lang="en-US" dirty="0"/>
              <a:t>Application of a Perceptron to logical NAND</a:t>
            </a:r>
          </a:p>
        </p:txBody>
      </p:sp>
      <p:graphicFrame>
        <p:nvGraphicFramePr>
          <p:cNvPr id="7" name="Table 6" descr="Truth table for the logical NAND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754696"/>
              </p:ext>
            </p:extLst>
          </p:nvPr>
        </p:nvGraphicFramePr>
        <p:xfrm>
          <a:off x="1903877" y="3429000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 descr="Symbol for the logical NAND function">
            <a:extLst>
              <a:ext uri="{FF2B5EF4-FFF2-40B4-BE49-F238E27FC236}">
                <a16:creationId xmlns:a16="http://schemas.microsoft.com/office/drawing/2014/main" id="{5502D435-F3C2-740D-4949-B51B485ABA84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166" y="1807862"/>
              <a:ext cx="1231566" cy="61578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</p:grpSp>
      <p:grpSp>
        <p:nvGrpSpPr>
          <p:cNvPr id="6" name="Group 5" descr="Image of the logical NAND function">
            <a:extLst>
              <a:ext uri="{FF2B5EF4-FFF2-40B4-BE49-F238E27FC236}">
                <a16:creationId xmlns:a16="http://schemas.microsoft.com/office/drawing/2014/main" id="{F988CA08-55A5-E52A-FEE8-5AF208D0CE2F}"/>
              </a:ext>
            </a:extLst>
          </p:cNvPr>
          <p:cNvGrpSpPr/>
          <p:nvPr/>
        </p:nvGrpSpPr>
        <p:grpSpPr>
          <a:xfrm>
            <a:off x="5366290" y="3429000"/>
            <a:ext cx="2153626" cy="1815171"/>
            <a:chOff x="5366290" y="3429000"/>
            <a:chExt cx="2153626" cy="181517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271014" y="3535218"/>
              <a:ext cx="5675" cy="1138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endCxn id="16" idx="0"/>
            </p:cNvCxnSpPr>
            <p:nvPr/>
          </p:nvCxnSpPr>
          <p:spPr>
            <a:xfrm>
              <a:off x="7131226" y="3429000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985400" y="4435525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985400" y="3708361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516282" y="487483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44348" y="467376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94778" y="468334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6290" y="388218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74229" y="353521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83608" y="422915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7007630" y="3581073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153093" y="4322817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144348" y="3590526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7007630" y="4311929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29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6422"/>
          </a:xfrm>
        </p:spPr>
        <p:txBody>
          <a:bodyPr/>
          <a:lstStyle/>
          <a:p>
            <a:r>
              <a:rPr lang="en-US" dirty="0"/>
              <a:t>Training the model for NAND (</a:t>
            </a:r>
            <a:r>
              <a:rPr lang="el-GR" dirty="0"/>
              <a:t>η</a:t>
            </a:r>
            <a:r>
              <a:rPr lang="en-US" dirty="0"/>
              <a:t>=0.2) </a:t>
            </a:r>
            <a:r>
              <a:rPr lang="en-US" sz="2000" dirty="0"/>
              <a:t>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115C5-29D8-4AF3-9286-3B190D15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 descr="Plot of the number of misclassifications by epoch.">
            <a:extLst>
              <a:ext uri="{FF2B5EF4-FFF2-40B4-BE49-F238E27FC236}">
                <a16:creationId xmlns:a16="http://schemas.microsoft.com/office/drawing/2014/main" id="{9A9534A0-3288-4B3B-939F-B151FA509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8" y="1598214"/>
            <a:ext cx="6714823" cy="467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75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2516"/>
          </a:xfrm>
        </p:spPr>
        <p:txBody>
          <a:bodyPr/>
          <a:lstStyle/>
          <a:p>
            <a:r>
              <a:rPr lang="en-US" dirty="0"/>
              <a:t>Training the model for NAND (</a:t>
            </a:r>
            <a:r>
              <a:rPr lang="el-GR" dirty="0"/>
              <a:t>η</a:t>
            </a:r>
            <a:r>
              <a:rPr lang="en-US" dirty="0"/>
              <a:t>=0.2) </a:t>
            </a:r>
            <a:r>
              <a:rPr lang="en-US" sz="2000" dirty="0"/>
              <a:t>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115C5-29D8-4AF3-9286-3B190D15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52</a:t>
            </a:fld>
            <a:endParaRPr lang="en-US"/>
          </a:p>
        </p:txBody>
      </p:sp>
      <p:pic>
        <p:nvPicPr>
          <p:cNvPr id="4" name="NAND" descr="Animation of the training of the perceptron for logical NAND.">
            <a:hlinkClick r:id="" action="ppaction://media"/>
            <a:extLst>
              <a:ext uri="{FF2B5EF4-FFF2-40B4-BE49-F238E27FC236}">
                <a16:creationId xmlns:a16="http://schemas.microsoft.com/office/drawing/2014/main" id="{88C16E4A-F541-45CC-A010-3144875311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2208" y="1549073"/>
            <a:ext cx="6488265" cy="43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9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180980" cy="727670"/>
          </a:xfrm>
        </p:spPr>
        <p:txBody>
          <a:bodyPr/>
          <a:lstStyle/>
          <a:p>
            <a:r>
              <a:rPr lang="en-US" dirty="0"/>
              <a:t>Application of a Perceptron to logical XOR</a:t>
            </a:r>
          </a:p>
        </p:txBody>
      </p:sp>
      <p:graphicFrame>
        <p:nvGraphicFramePr>
          <p:cNvPr id="7" name="Table 6" descr="Truth table for the logical XOR func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9808"/>
              </p:ext>
            </p:extLst>
          </p:nvPr>
        </p:nvGraphicFramePr>
        <p:xfrm>
          <a:off x="1903877" y="3429000"/>
          <a:ext cx="1573248" cy="18640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899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2" descr="Symbol for the logical XOR function">
            <a:extLst>
              <a:ext uri="{FF2B5EF4-FFF2-40B4-BE49-F238E27FC236}">
                <a16:creationId xmlns:a16="http://schemas.microsoft.com/office/drawing/2014/main" id="{CB33768E-2D87-7064-E5A4-72392A6FC101}"/>
              </a:ext>
            </a:extLst>
          </p:cNvPr>
          <p:cNvGrpSpPr/>
          <p:nvPr/>
        </p:nvGrpSpPr>
        <p:grpSpPr>
          <a:xfrm>
            <a:off x="3691365" y="1690689"/>
            <a:ext cx="2300002" cy="787505"/>
            <a:chOff x="3691365" y="1690689"/>
            <a:chExt cx="2300002" cy="787505"/>
          </a:xfrm>
        </p:grpSpPr>
        <p:sp>
          <p:nvSpPr>
            <p:cNvPr id="8" name="TextBox 7"/>
            <p:cNvSpPr txBox="1"/>
            <p:nvPr/>
          </p:nvSpPr>
          <p:spPr>
            <a:xfrm>
              <a:off x="3691365" y="169068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91365" y="2016529"/>
              <a:ext cx="3289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47564" y="1876012"/>
              <a:ext cx="7438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out</a:t>
              </a: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970" y="1806593"/>
              <a:ext cx="1255594" cy="627797"/>
            </a:xfrm>
            <a:prstGeom prst="rect">
              <a:avLst/>
            </a:prstGeom>
          </p:spPr>
        </p:pic>
      </p:grpSp>
      <p:grpSp>
        <p:nvGrpSpPr>
          <p:cNvPr id="5" name="Group 4" descr="Image of the logical XOR function">
            <a:extLst>
              <a:ext uri="{FF2B5EF4-FFF2-40B4-BE49-F238E27FC236}">
                <a16:creationId xmlns:a16="http://schemas.microsoft.com/office/drawing/2014/main" id="{4FC1863F-6F39-24BB-48F2-DA44452F5FD5}"/>
              </a:ext>
            </a:extLst>
          </p:cNvPr>
          <p:cNvGrpSpPr/>
          <p:nvPr/>
        </p:nvGrpSpPr>
        <p:grpSpPr>
          <a:xfrm>
            <a:off x="5366290" y="3429000"/>
            <a:ext cx="2153626" cy="1815171"/>
            <a:chOff x="5366290" y="3429000"/>
            <a:chExt cx="2153626" cy="181517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6290830" y="3429000"/>
              <a:ext cx="9455" cy="124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endCxn id="16" idx="0"/>
            </p:cNvCxnSpPr>
            <p:nvPr/>
          </p:nvCxnSpPr>
          <p:spPr>
            <a:xfrm>
              <a:off x="7131226" y="3429000"/>
              <a:ext cx="13593" cy="1254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953945" y="4411927"/>
              <a:ext cx="153451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985400" y="3708361"/>
              <a:ext cx="1534516" cy="11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516282" y="4874839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44348" y="467376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994778" y="4683347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66290" y="3882187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74229" y="353521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83608" y="422915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176689" y="4288331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992931" y="4295727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013236" y="3583464"/>
              <a:ext cx="247192" cy="247192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167234" y="3566842"/>
              <a:ext cx="247192" cy="2471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60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5584"/>
          </a:xfrm>
        </p:spPr>
        <p:txBody>
          <a:bodyPr/>
          <a:lstStyle/>
          <a:p>
            <a:r>
              <a:rPr lang="en-US" dirty="0"/>
              <a:t>Training the model for XOR (</a:t>
            </a:r>
            <a:r>
              <a:rPr lang="el-GR" dirty="0"/>
              <a:t>η</a:t>
            </a:r>
            <a:r>
              <a:rPr lang="en-US" dirty="0"/>
              <a:t>=0.2) </a:t>
            </a:r>
            <a:r>
              <a:rPr lang="en-US" sz="2000" dirty="0"/>
              <a:t>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115C5-29D8-4AF3-9286-3B190D15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 descr="Plot of the number of misclassifications by epoch.">
            <a:extLst>
              <a:ext uri="{FF2B5EF4-FFF2-40B4-BE49-F238E27FC236}">
                <a16:creationId xmlns:a16="http://schemas.microsoft.com/office/drawing/2014/main" id="{53958022-735A-4CC9-8F7D-FE69527ED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15" y="1950216"/>
            <a:ext cx="5857370" cy="418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84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0824"/>
          </a:xfrm>
        </p:spPr>
        <p:txBody>
          <a:bodyPr/>
          <a:lstStyle/>
          <a:p>
            <a:r>
              <a:rPr lang="en-US" dirty="0"/>
              <a:t>Training the model for XOR (</a:t>
            </a:r>
            <a:r>
              <a:rPr lang="el-GR" dirty="0"/>
              <a:t>η</a:t>
            </a:r>
            <a:r>
              <a:rPr lang="en-US" dirty="0"/>
              <a:t>=0.2) </a:t>
            </a:r>
            <a:r>
              <a:rPr lang="en-US" sz="2000" dirty="0"/>
              <a:t>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115C5-29D8-4AF3-9286-3B190D15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55</a:t>
            </a:fld>
            <a:endParaRPr lang="en-US"/>
          </a:p>
        </p:txBody>
      </p:sp>
      <p:pic>
        <p:nvPicPr>
          <p:cNvPr id="4" name="XOR" descr="Animation of the training of the perceptron for logical XOR.">
            <a:hlinkClick r:id="" action="ppaction://media"/>
            <a:extLst>
              <a:ext uri="{FF2B5EF4-FFF2-40B4-BE49-F238E27FC236}">
                <a16:creationId xmlns:a16="http://schemas.microsoft.com/office/drawing/2014/main" id="{4494D3F5-9DAE-47D0-913F-57571DFAAA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7280" y="1414670"/>
            <a:ext cx="6949440" cy="463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7932"/>
          </a:xfrm>
        </p:spPr>
        <p:txBody>
          <a:bodyPr/>
          <a:lstStyle/>
          <a:p>
            <a:r>
              <a:rPr lang="en-US" dirty="0"/>
              <a:t>Perceptron hardware</a:t>
            </a:r>
          </a:p>
        </p:txBody>
      </p:sp>
      <p:pic>
        <p:nvPicPr>
          <p:cNvPr id="15" name="Picture 14" descr="Photograph of Frank Rosenblatt standing in front of his Perceptron hardware.">
            <a:extLst>
              <a:ext uri="{FF2B5EF4-FFF2-40B4-BE49-F238E27FC236}">
                <a16:creationId xmlns:a16="http://schemas.microsoft.com/office/drawing/2014/main" id="{CBB913EF-6866-49B1-A32F-7FB899D1A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00" y="1518486"/>
            <a:ext cx="8167600" cy="472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546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7597"/>
          </a:xfrm>
        </p:spPr>
        <p:txBody>
          <a:bodyPr/>
          <a:lstStyle/>
          <a:p>
            <a:r>
              <a:rPr lang="en-US" dirty="0"/>
              <a:t>Minsky vs Rosenblatt</a:t>
            </a:r>
          </a:p>
        </p:txBody>
      </p:sp>
      <p:pic>
        <p:nvPicPr>
          <p:cNvPr id="10" name="Picture 9" descr="Image of the cove of the book Percptrons by Marvin Minsky and Seymour Paper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330" y="1430990"/>
            <a:ext cx="3138985" cy="47050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115C5-29D8-4AF3-9286-3B190D15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00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1596"/>
          </a:xfrm>
        </p:spPr>
        <p:txBody>
          <a:bodyPr/>
          <a:lstStyle/>
          <a:p>
            <a:r>
              <a:rPr lang="en-US" dirty="0"/>
              <a:t>Anderson’s Iris dataset </a:t>
            </a:r>
            <a:r>
              <a:rPr lang="en-US" sz="2000" dirty="0"/>
              <a:t>(1)</a:t>
            </a:r>
          </a:p>
        </p:txBody>
      </p:sp>
      <p:pic>
        <p:nvPicPr>
          <p:cNvPr id="11" name="Picture 10" descr="Image depicting Anderson's Iris dataset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58" y="1273061"/>
            <a:ext cx="6437996" cy="48269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D69EAD-D054-4192-9E08-9D85B6F03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14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8268"/>
          </a:xfrm>
        </p:spPr>
        <p:txBody>
          <a:bodyPr/>
          <a:lstStyle/>
          <a:p>
            <a:r>
              <a:rPr lang="en-US" dirty="0"/>
              <a:t>One of my Iris beds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D69EAD-D054-4192-9E08-9D85B6F03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 descr="Photograph of one of Erik Grimmelmann's beds of Iris">
            <a:extLst>
              <a:ext uri="{FF2B5EF4-FFF2-40B4-BE49-F238E27FC236}">
                <a16:creationId xmlns:a16="http://schemas.microsoft.com/office/drawing/2014/main" id="{9749E1CC-5BEE-9FC2-9338-015293BA7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006" y="1158119"/>
            <a:ext cx="4689988" cy="501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72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6926"/>
          </a:xfrm>
        </p:spPr>
        <p:txBody>
          <a:bodyPr/>
          <a:lstStyle/>
          <a:p>
            <a:r>
              <a:rPr lang="en-US" dirty="0"/>
              <a:t>Anderson’s Iris dataset </a:t>
            </a:r>
            <a:r>
              <a:rPr lang="en-US" sz="2000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43888"/>
            <a:ext cx="7886700" cy="47864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From Fischer (1936)</a:t>
            </a:r>
          </a:p>
          <a:p>
            <a:r>
              <a:rPr lang="en-US" dirty="0"/>
              <a:t>150 instances (50 from each class)</a:t>
            </a:r>
          </a:p>
          <a:p>
            <a:r>
              <a:rPr lang="en-US" dirty="0"/>
              <a:t>Four features</a:t>
            </a:r>
          </a:p>
          <a:p>
            <a:pPr lvl="1"/>
            <a:r>
              <a:rPr lang="en-US" dirty="0"/>
              <a:t>sepal length in cm </a:t>
            </a:r>
          </a:p>
          <a:p>
            <a:pPr lvl="1"/>
            <a:r>
              <a:rPr lang="en-US" dirty="0"/>
              <a:t>sepal width in cm</a:t>
            </a:r>
          </a:p>
          <a:p>
            <a:pPr lvl="1"/>
            <a:r>
              <a:rPr lang="en-US" dirty="0"/>
              <a:t>petal length in cm</a:t>
            </a:r>
          </a:p>
          <a:p>
            <a:pPr lvl="1"/>
            <a:r>
              <a:rPr lang="en-US" dirty="0"/>
              <a:t>petal width in cm</a:t>
            </a:r>
          </a:p>
          <a:p>
            <a:r>
              <a:rPr lang="en-US" dirty="0"/>
              <a:t>Three classes</a:t>
            </a:r>
          </a:p>
          <a:p>
            <a:pPr lvl="1"/>
            <a:r>
              <a:rPr lang="en-US" dirty="0"/>
              <a:t>Iris </a:t>
            </a:r>
            <a:r>
              <a:rPr lang="en-US" dirty="0" err="1"/>
              <a:t>Setosa</a:t>
            </a:r>
            <a:endParaRPr lang="en-US" dirty="0"/>
          </a:p>
          <a:p>
            <a:pPr lvl="1"/>
            <a:r>
              <a:rPr lang="en-US" dirty="0"/>
              <a:t>Iris </a:t>
            </a:r>
            <a:r>
              <a:rPr lang="en-US" dirty="0" err="1"/>
              <a:t>Versicolour</a:t>
            </a:r>
            <a:endParaRPr lang="en-US" dirty="0"/>
          </a:p>
          <a:p>
            <a:pPr lvl="1"/>
            <a:r>
              <a:rPr lang="en-US" dirty="0"/>
              <a:t>Iris </a:t>
            </a:r>
            <a:r>
              <a:rPr lang="en-US" dirty="0" err="1"/>
              <a:t>Virginica</a:t>
            </a:r>
            <a:endParaRPr lang="en-US" dirty="0"/>
          </a:p>
          <a:p>
            <a:r>
              <a:rPr lang="en-US" dirty="0"/>
              <a:t>https://archive.ics.uci.edu/ml/datasets/Iris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265C4-D0F0-41E3-9DED-E74D39508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713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74958"/>
            <a:ext cx="7886700" cy="598435"/>
          </a:xfrm>
        </p:spPr>
        <p:txBody>
          <a:bodyPr/>
          <a:lstStyle/>
          <a:p>
            <a:r>
              <a:rPr lang="en-US" dirty="0"/>
              <a:t>Anderson’s Iris Dataset plot 1</a:t>
            </a:r>
          </a:p>
        </p:txBody>
      </p:sp>
      <p:pic>
        <p:nvPicPr>
          <p:cNvPr id="5" name="Picture 4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3BFE0E8A-0042-4508-99A7-4510009BF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644" y="1560889"/>
            <a:ext cx="6539288" cy="457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255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8435"/>
          </a:xfrm>
        </p:spPr>
        <p:txBody>
          <a:bodyPr/>
          <a:lstStyle/>
          <a:p>
            <a:r>
              <a:rPr lang="en-US" dirty="0"/>
              <a:t>Anderson’s Iris Dataset plot 2</a:t>
            </a:r>
          </a:p>
        </p:txBody>
      </p:sp>
      <p:pic>
        <p:nvPicPr>
          <p:cNvPr id="4" name="Picture 3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A1501E8D-2C1A-407C-B5AC-B695C4034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816" y="1581887"/>
            <a:ext cx="6473687" cy="453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68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7764"/>
          </a:xfrm>
        </p:spPr>
        <p:txBody>
          <a:bodyPr/>
          <a:lstStyle/>
          <a:p>
            <a:r>
              <a:rPr lang="en-US" dirty="0"/>
              <a:t>Anderson’s Iris Dataset plot 3</a:t>
            </a:r>
          </a:p>
        </p:txBody>
      </p:sp>
      <p:pic>
        <p:nvPicPr>
          <p:cNvPr id="5" name="Picture 4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5ADBE842-2E93-44AB-AD3B-15C84BA9C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685" y="1609995"/>
            <a:ext cx="6375003" cy="44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431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7932"/>
          </a:xfrm>
        </p:spPr>
        <p:txBody>
          <a:bodyPr/>
          <a:lstStyle/>
          <a:p>
            <a:r>
              <a:rPr lang="en-US" dirty="0"/>
              <a:t>Anderson’s Iris Dataset plot 4</a:t>
            </a:r>
          </a:p>
        </p:txBody>
      </p:sp>
      <p:pic>
        <p:nvPicPr>
          <p:cNvPr id="4" name="Picture 3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595F9F2F-103E-4659-8E49-928678B29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078" y="1754755"/>
            <a:ext cx="6053164" cy="423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32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44866"/>
          </a:xfrm>
        </p:spPr>
        <p:txBody>
          <a:bodyPr/>
          <a:lstStyle/>
          <a:p>
            <a:r>
              <a:rPr lang="en-US" dirty="0"/>
              <a:t>Anderson’s Iris Dataset plot 5</a:t>
            </a:r>
          </a:p>
        </p:txBody>
      </p:sp>
      <p:pic>
        <p:nvPicPr>
          <p:cNvPr id="5" name="Picture 4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333FF479-20B9-4AB4-98A8-3939A5433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01" y="1756566"/>
            <a:ext cx="5844917" cy="40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515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7597"/>
          </a:xfrm>
        </p:spPr>
        <p:txBody>
          <a:bodyPr/>
          <a:lstStyle/>
          <a:p>
            <a:r>
              <a:rPr lang="en-US" dirty="0"/>
              <a:t>Anderson’s Iris Dataset plot 6</a:t>
            </a:r>
          </a:p>
        </p:txBody>
      </p:sp>
      <p:pic>
        <p:nvPicPr>
          <p:cNvPr id="4" name="Picture 3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443C2287-B21A-46CE-AFBC-824ACC0A2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71" y="1867817"/>
            <a:ext cx="5466283" cy="382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95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</a:t>
            </a:r>
            <a:r>
              <a:rPr lang="en-US" dirty="0" err="1"/>
              <a:t>setosa</a:t>
            </a:r>
            <a:r>
              <a:rPr lang="en-US" dirty="0"/>
              <a:t> and versicolor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(1)</a:t>
            </a:r>
          </a:p>
        </p:txBody>
      </p:sp>
      <p:pic>
        <p:nvPicPr>
          <p:cNvPr id="5" name="Picture 4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81C1AB36-D8A9-40E9-8E8F-EE3EACF0C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151" y="2111209"/>
            <a:ext cx="5308687" cy="371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781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</a:t>
            </a:r>
            <a:r>
              <a:rPr lang="en-US" dirty="0" err="1"/>
              <a:t>setosa</a:t>
            </a:r>
            <a:r>
              <a:rPr lang="en-US" dirty="0"/>
              <a:t> and versicolor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(2)</a:t>
            </a:r>
          </a:p>
        </p:txBody>
      </p:sp>
      <p:pic>
        <p:nvPicPr>
          <p:cNvPr id="7" name="Picture 6" descr="Plot of the number of updates by epoch.">
            <a:extLst>
              <a:ext uri="{FF2B5EF4-FFF2-40B4-BE49-F238E27FC236}">
                <a16:creationId xmlns:a16="http://schemas.microsoft.com/office/drawing/2014/main" id="{54D7A425-6C1F-4198-93FD-74F4C7287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040" y="1772912"/>
            <a:ext cx="6517920" cy="444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389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</a:t>
            </a:r>
            <a:r>
              <a:rPr lang="en-US" dirty="0" err="1"/>
              <a:t>setosa</a:t>
            </a:r>
            <a:r>
              <a:rPr lang="en-US" dirty="0"/>
              <a:t> and versicolor,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(3)</a:t>
            </a:r>
          </a:p>
        </p:txBody>
      </p:sp>
      <p:pic>
        <p:nvPicPr>
          <p:cNvPr id="8" name="IrisSep" descr="Animation of applying the Perceptron to portion of Anderson's Iris dataset.">
            <a:hlinkClick r:id="" action="ppaction://media"/>
            <a:extLst>
              <a:ext uri="{FF2B5EF4-FFF2-40B4-BE49-F238E27FC236}">
                <a16:creationId xmlns:a16="http://schemas.microsoft.com/office/drawing/2014/main" id="{319048FB-D80B-4F44-B7EA-DFB2077EC9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06610" y="1700521"/>
            <a:ext cx="6730780" cy="448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4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versicolor and virginica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(1)</a:t>
            </a:r>
          </a:p>
        </p:txBody>
      </p:sp>
      <p:pic>
        <p:nvPicPr>
          <p:cNvPr id="4" name="Picture 3" descr="Plot of the data from Anderson's Iris dataset as a function of two features.">
            <a:extLst>
              <a:ext uri="{FF2B5EF4-FFF2-40B4-BE49-F238E27FC236}">
                <a16:creationId xmlns:a16="http://schemas.microsoft.com/office/drawing/2014/main" id="{3ECF032A-7A6C-4769-A276-BBBBF2F7C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392" y="2063076"/>
            <a:ext cx="5756577" cy="393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381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versicolor and virginica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(2)</a:t>
            </a:r>
          </a:p>
        </p:txBody>
      </p:sp>
      <p:pic>
        <p:nvPicPr>
          <p:cNvPr id="7" name="Picture 6" descr="Plot of the number of updates by epoch.">
            <a:extLst>
              <a:ext uri="{FF2B5EF4-FFF2-40B4-BE49-F238E27FC236}">
                <a16:creationId xmlns:a16="http://schemas.microsoft.com/office/drawing/2014/main" id="{1EADF7AD-82B6-418B-87E1-C293D6797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818" y="1575273"/>
            <a:ext cx="6324364" cy="45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391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data set -- versicolor and virginica</a:t>
            </a:r>
            <a:br>
              <a:rPr lang="en-US" dirty="0"/>
            </a:br>
            <a:r>
              <a:rPr lang="en-US" dirty="0"/>
              <a:t>petal length and sepal length </a:t>
            </a:r>
            <a:r>
              <a:rPr lang="en-US" sz="2200" dirty="0"/>
              <a:t>(3)</a:t>
            </a:r>
          </a:p>
        </p:txBody>
      </p:sp>
      <p:pic>
        <p:nvPicPr>
          <p:cNvPr id="5" name="IrisInSep" descr="Animation of applying the Perceptron to portion of Anderson's Iris dataset.">
            <a:hlinkClick r:id="" action="ppaction://media"/>
            <a:extLst>
              <a:ext uri="{FF2B5EF4-FFF2-40B4-BE49-F238E27FC236}">
                <a16:creationId xmlns:a16="http://schemas.microsoft.com/office/drawing/2014/main" id="{08BD1659-8BF2-4351-876B-1EA004CD5A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6184" y="1700521"/>
            <a:ext cx="6591631" cy="439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L 4.pptx" id="{64B2721A-5DC7-49C9-80C0-1FCBF9A53174}" vid="{30ECEC55-8025-4063-B582-643B68783D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</TotalTime>
  <Words>2009</Words>
  <Application>Microsoft Office PowerPoint</Application>
  <PresentationFormat>On-screen Show (4:3)</PresentationFormat>
  <Paragraphs>1094</Paragraphs>
  <Slides>72</Slides>
  <Notes>72</Notes>
  <HiddenSlides>0</HiddenSlides>
  <MMClips>4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Times New Roman</vt:lpstr>
      <vt:lpstr>Office Theme</vt:lpstr>
      <vt:lpstr>Equation</vt:lpstr>
      <vt:lpstr>The Perceptron</vt:lpstr>
      <vt:lpstr>Typical neuron</vt:lpstr>
      <vt:lpstr>MCP neuron</vt:lpstr>
      <vt:lpstr>Perceptron (1)</vt:lpstr>
      <vt:lpstr>Perceptron (2)</vt:lpstr>
      <vt:lpstr>Inside the Perceptron black box</vt:lpstr>
      <vt:lpstr>Perceptron activation function</vt:lpstr>
      <vt:lpstr>Slightly improved Perceptron black box</vt:lpstr>
      <vt:lpstr>Perceptron activation functions</vt:lpstr>
      <vt:lpstr>Revised Perceptron activation function</vt:lpstr>
      <vt:lpstr>Alternate Perceptron activation function </vt:lpstr>
      <vt:lpstr>Perceptron (3)</vt:lpstr>
      <vt:lpstr>Application of Perceptrons to logic gates</vt:lpstr>
      <vt:lpstr>Application of a Perceptron to logical NOT (1)</vt:lpstr>
      <vt:lpstr>Application of a Perceptron to logical NOT (2)</vt:lpstr>
      <vt:lpstr>Application of a Perceptron to logical NOT (3)</vt:lpstr>
      <vt:lpstr>Application of a Perceptron to logical NOT (4)</vt:lpstr>
      <vt:lpstr>Application of a Perceptron to logical NOT (5)</vt:lpstr>
      <vt:lpstr>Application of a Perceptron to logical NOT (6)</vt:lpstr>
      <vt:lpstr>Application of a Perceptron to logical NOT (7)</vt:lpstr>
      <vt:lpstr>Application of a Perceptron to logical NAND (1)</vt:lpstr>
      <vt:lpstr>Application of a Perceptron to logical NAND (2)</vt:lpstr>
      <vt:lpstr>Application of a Perceptron to logical NAND (3)</vt:lpstr>
      <vt:lpstr>Application of a Perceptron to logical NAND (4)</vt:lpstr>
      <vt:lpstr>Application of a Perceptron to logical NAND (5)</vt:lpstr>
      <vt:lpstr>Application of a Perceptron to logical NAND (6)</vt:lpstr>
      <vt:lpstr>Application of a Perceptron to logical NAND (7)</vt:lpstr>
      <vt:lpstr>Application of a Perceptron to logical XOR (1)</vt:lpstr>
      <vt:lpstr>Application of a Perceptron to logical XOR (2)</vt:lpstr>
      <vt:lpstr>Application of a Perceptron to logical XOR (3)</vt:lpstr>
      <vt:lpstr>Application of a Perceptron to logical XOR (4)</vt:lpstr>
      <vt:lpstr>Application of a Perceptron to logical XOR (5)</vt:lpstr>
      <vt:lpstr>Application of a Perceptron to logical XOR (6)</vt:lpstr>
      <vt:lpstr>Application of a Perceptron to Logical XOR (7)</vt:lpstr>
      <vt:lpstr>Limits to application of a perceptron (1)</vt:lpstr>
      <vt:lpstr>Limits to application of a perceptron (2)</vt:lpstr>
      <vt:lpstr>Linear separability (1)</vt:lpstr>
      <vt:lpstr>Back to NAND</vt:lpstr>
      <vt:lpstr>NAND decision boundary</vt:lpstr>
      <vt:lpstr>NAND classification regions</vt:lpstr>
      <vt:lpstr>NAND classifications</vt:lpstr>
      <vt:lpstr>Linear separability (2)</vt:lpstr>
      <vt:lpstr>Perceptron (4)</vt:lpstr>
      <vt:lpstr>Training a supervised learning model</vt:lpstr>
      <vt:lpstr>Training a Perceptron</vt:lpstr>
      <vt:lpstr>Perceptron training data</vt:lpstr>
      <vt:lpstr>Rosenblatt Perceptron training algorithm (1)</vt:lpstr>
      <vt:lpstr>Rosenblatt Perceptron training algorithm (2)</vt:lpstr>
      <vt:lpstr>Implicit cost function (aka loss function)</vt:lpstr>
      <vt:lpstr>Application of a Perceptron to logical NAND</vt:lpstr>
      <vt:lpstr>Training the model for NAND (η=0.2) (1)</vt:lpstr>
      <vt:lpstr>Training the model for NAND (η=0.2) (2)</vt:lpstr>
      <vt:lpstr>Application of a Perceptron to logical XOR</vt:lpstr>
      <vt:lpstr>Training the model for XOR (η=0.2) (1)</vt:lpstr>
      <vt:lpstr>Training the model for XOR (η=0.2) (2)</vt:lpstr>
      <vt:lpstr>Perceptron hardware</vt:lpstr>
      <vt:lpstr>Minsky vs Rosenblatt</vt:lpstr>
      <vt:lpstr>Anderson’s Iris dataset (1)</vt:lpstr>
      <vt:lpstr>One of my Iris beds</vt:lpstr>
      <vt:lpstr>Anderson’s Iris dataset (2)</vt:lpstr>
      <vt:lpstr>Anderson’s Iris Dataset plot 1</vt:lpstr>
      <vt:lpstr>Anderson’s Iris Dataset plot 2</vt:lpstr>
      <vt:lpstr>Anderson’s Iris Dataset plot 3</vt:lpstr>
      <vt:lpstr>Anderson’s Iris Dataset plot 4</vt:lpstr>
      <vt:lpstr>Anderson’s Iris Dataset plot 5</vt:lpstr>
      <vt:lpstr>Anderson’s Iris Dataset plot 6</vt:lpstr>
      <vt:lpstr>Partial data set -- setosa and versicolor petal length and sepal length (1)</vt:lpstr>
      <vt:lpstr>Partial data set -- setosa and versicolor petal length and sepal length (2)</vt:lpstr>
      <vt:lpstr>Partial data set -- setosa and versicolor, petal length and sepal length (3)</vt:lpstr>
      <vt:lpstr>Partial data set -- versicolor and virginica petal length and sepal length (1)</vt:lpstr>
      <vt:lpstr>Partial data set -- versicolor and virginica petal length and sepal length (2)</vt:lpstr>
      <vt:lpstr>Partial data set -- versicolor and virginica petal length and sepal length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Grimmelmann</dc:creator>
  <cp:lastModifiedBy>Erik Grimmelmann</cp:lastModifiedBy>
  <cp:revision>235</cp:revision>
  <cp:lastPrinted>2017-09-27T02:01:09Z</cp:lastPrinted>
  <dcterms:created xsi:type="dcterms:W3CDTF">2017-02-25T17:52:53Z</dcterms:created>
  <dcterms:modified xsi:type="dcterms:W3CDTF">2026-07-21T18:03:47Z</dcterms:modified>
</cp:coreProperties>
</file>